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103120"/>
            <a:ext cx="1219169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60A5FA"/>
                </a:solidFill>
                <a:latin typeface="微软雅黑"/>
              </a:rPr>
              <a:t>PIE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121916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微软雅黑"/>
              </a:rPr>
              <a:t>PIE 作业分析程序 使用指南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8495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3C5FD"/>
                </a:solidFill>
                <a:latin typeface="微软雅黑"/>
              </a:rPr>
              <a:t>无需联网即可运行。仅凭本文档即可完成从安装到分析的全过程。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微软雅黑"/>
              </a:rPr>
              <a:t>PIE — Powernet Industrial Engineering · 咨询: lovekhl83@gmail.com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🎯  1. 这是什么程序?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💾  2. 安装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▶️  3. 首次运行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🗺️  4. 界面概览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🔧  5. 首先要做的 — 登记部品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📹  6. 作业分析 — 用视频测量时间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26279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⏱  7. 评比系数与宽放率 — 标准工时的基准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07492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📊  8. 图表 — 各循环有何变化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62356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📈  9. 分析结果 — 以数字整理查看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23444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🎬  10. 视频对比 — 熟练者与非熟练者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📊  11. 产线分析 — 测量各作业者的时间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3172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⚖  12. 作业分配 — 找出瓶颈并均衡分配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🔀  13. 布局模拟 — 按调整后的方案运行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2900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📈  14. 产线预测 — 提前计算新机种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977639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💾  15. 保存与续做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526279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🩺  16. 出现问题时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074920"/>
            <a:ext cx="5486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111827"/>
                </a:solidFill>
                <a:latin typeface="微软雅黑"/>
              </a:rPr>
              <a:t>📖  17. 术语表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🎯  1. 这是什么程序?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一边看作业视频，一边测量"每个动作用了几秒"，并用这些时间来设计产线的工具。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微软雅黑"/>
              </a:rPr>
              <a:t>不必拿着秒表站在现场。把视频拍回来，在电脑上慢慢地、准确地测量即可。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709928"/>
          <a:ext cx="108813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5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能做什么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测量部品标准工时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测量插入一个部品需要几秒并保存。多台电脑可以共同累积。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左手·右手分析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查看双手是否均衡作业，是否有一只手在空闲。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熟练者与非熟练者对比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并排播放两段视频，找出差异所在。可作为培训资料。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产线平衡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测量各作业者的时间，找出瓶颈，通过调整部品使其均衡。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新机种预测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用已累积的部品标准工时，预先计算新机种的节拍时间与人数。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3712464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12464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ℹ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重要的顺序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— ① 登记部品 → ② 用视频测量时间 → ③ 保存标准工时 → ④ 自动用于产线设计与预测。只要遵守这个顺序即可。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💾  2. 安装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没有复杂的安装程序。复制文件夹并创建快捷方式就是全部。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2/17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/>
              </a:rPr>
              <a:t>准备事项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626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电脑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Windows 10 或 11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浏览器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Chrome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 或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Edge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（不支持 Internet Explorer）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网络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不需要。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 在中国等无法上网的环境同样可以运行。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626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许可证密钥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首次运行时输入一次。请向负责人索取。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310128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/>
              </a:rPr>
              <a:t>方法 A — 使用安装文件（推荐）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79476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67328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从 U 盘或网络驱动器整体复制 PIE 文件夹。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12394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1239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96512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微软雅黑"/>
              </a:rPr>
              <a:t>双击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文件夹中的 </a:t>
            </a:r>
            <a:r>
              <a:rPr sz="1300" b="1">
                <a:solidFill>
                  <a:srgbClr val="2563EB"/>
                </a:solidFill>
                <a:latin typeface="微软雅黑"/>
              </a:rPr>
              <a:t>PIE_설치.bat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45312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5312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25696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出现黑色窗口并自动安装。桌面和开始菜单会生成快捷方式。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78231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7823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之后用桌面的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PIE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图标启动即可。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221224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/>
              </a:rPr>
              <a:t>方法 B — 仅复制文件夹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💾  2. 安装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2/17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将整个 PIE 文件夹复制到需要的位置（例如 </a:t>
            </a:r>
            <a:r>
              <a:rPr sz="1300" b="1">
                <a:solidFill>
                  <a:srgbClr val="2563EB"/>
                </a:solidFill>
                <a:latin typeface="微软雅黑"/>
              </a:rPr>
              <a:t>D:\PIE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）。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双击文件夹中的 </a:t>
            </a:r>
            <a:r>
              <a:rPr sz="1300" b="1">
                <a:solidFill>
                  <a:srgbClr val="2563EB"/>
                </a:solidFill>
                <a:latin typeface="微软雅黑"/>
              </a:rPr>
              <a:t>PIE 실행.bat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即可运行。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212847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77439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微软雅黑"/>
              </a:rPr>
              <a:t>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260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微软雅黑"/>
              </a:rPr>
              <a:t>复制 PIE 文件夹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71576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</a:rPr>
              <a:t>▶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47872" y="2212847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377439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微软雅黑"/>
              </a:rPr>
              <a:t>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9260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微软雅黑"/>
              </a:rPr>
              <a:t>双击 PIE 실행.bat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271576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</a:rPr>
              <a:t>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9944" y="2212847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2377439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微软雅黑"/>
              </a:rPr>
              <a:t>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29260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微软雅黑"/>
              </a:rPr>
              <a:t>出现黑色窗口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544" y="2715768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0">
                <a:solidFill>
                  <a:srgbClr val="2563EB"/>
                </a:solidFill>
                <a:latin typeface="微软雅黑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2212847"/>
            <a:ext cx="2468880" cy="13716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2377439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微软雅黑"/>
              </a:rPr>
              <a:t>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2926079"/>
            <a:ext cx="21945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11827"/>
                </a:solidFill>
                <a:latin typeface="微软雅黑"/>
              </a:rPr>
              <a:t>浏览器自动打开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767327"/>
            <a:ext cx="107899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DC2626"/>
                </a:solidFill>
                <a:latin typeface="微软雅黑"/>
              </a:rPr>
              <a:t>⚠ 关闭黑色窗口程序就会结束 — 请保持打开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224527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从安装到首次运行的流程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681727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E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681727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⚠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请勿遗漏文件夹中的文件。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缺少 </a:t>
            </a:r>
            <a:r>
              <a:rPr sz="1250" b="1">
                <a:solidFill>
                  <a:srgbClr val="2563EB"/>
                </a:solidFill>
                <a:latin typeface="微软雅黑"/>
              </a:rPr>
              <a:t>mediapipe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文件夹时，姿势(Pose)对比功能将无法运行。必须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整个文件夹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一起复制。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▶️  3. 首次运行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会出现黑色窗口，随后浏览器自动打开。请不要关闭黑色窗口。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3/17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双击桌面的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PIE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图标（或 </a:t>
            </a:r>
            <a:r>
              <a:rPr sz="1300" b="1">
                <a:solidFill>
                  <a:srgbClr val="2563EB"/>
                </a:solidFill>
                <a:latin typeface="微软雅黑"/>
              </a:rPr>
              <a:t>PIE 실행.bat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）。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出现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黑色命令窗口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。它是程序的心脏，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关闭它程序就会结束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。请保持打开。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稍后浏览器自动打开，地址为 </a:t>
            </a:r>
            <a:r>
              <a:rPr sz="1300" b="1">
                <a:solidFill>
                  <a:srgbClr val="2563EB"/>
                </a:solidFill>
                <a:latin typeface="微软雅黑"/>
              </a:rPr>
              <a:t>http://127.0.0.1:8791/PIE.html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仅首次需要输入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许可证密钥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并点击[激活]。（格式：</a:t>
            </a:r>
            <a:r>
              <a:rPr sz="1300" b="1">
                <a:solidFill>
                  <a:srgbClr val="2563EB"/>
                </a:solidFill>
                <a:latin typeface="微软雅黑"/>
              </a:rPr>
              <a:t>PIE-XXXX-XXXX-XXXX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）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出现起始画面即表示准备完成。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▶️  3. 首次运行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3/17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36576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824" y="1472184"/>
            <a:ext cx="1691640" cy="35478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77824" y="1545336"/>
            <a:ext cx="1691640" cy="274320"/>
          </a:xfrm>
          <a:prstGeom prst="rect">
            <a:avLst/>
          </a:prstGeom>
          <a:solidFill>
            <a:srgbClr val="12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" y="1545336"/>
            <a:ext cx="457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56362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主页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84708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作业分析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13055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图表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14015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分析结果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269748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视频对比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98094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产线分析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326440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作业分配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54787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布局模拟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831335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部品管理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11480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产线预测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33472" y="1874519"/>
            <a:ext cx="8503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60A5FA"/>
                </a:solidFill>
                <a:latin typeface="微软雅黑"/>
              </a:rPr>
              <a:t>PIE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33472" y="2423160"/>
            <a:ext cx="8503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微软雅黑"/>
              </a:rPr>
              <a:t>Powernet Industrial Engineering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2971800"/>
            <a:ext cx="4937760" cy="6858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16552" y="2971800"/>
            <a:ext cx="49377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</a:rPr>
              <a:t>📹 加载视频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16552" y="388620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64748B"/>
                </a:solidFill>
                <a:latin typeface="微软雅黑"/>
              </a:rPr>
              <a:t>没有已保存的会话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184648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微软雅黑"/>
              </a:rPr>
              <a:t>① 左侧是菜单    ② 在这里加载视频    ③ 评比系数·宽放率(点击可设置)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44068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起始画面 — 左侧是菜单，中间可新建或加载已保存的作业。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▶️  3. 首次运行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3/17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E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⚠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数据按"地址"分别保存。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必须始终以 </a:t>
            </a:r>
            <a:r>
              <a:rPr sz="1250" b="1">
                <a:solidFill>
                  <a:srgbClr val="2563EB"/>
                </a:solidFill>
                <a:latin typeface="微软雅黑"/>
              </a:rPr>
              <a:t>127.0.0.1:8791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打开，之前保存的部品与标准工时才会显示。若以其他地址打开，画面顶部会出现红色警告条和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[用标准地址打开]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按钮，请点击它。（数据并未被删除。）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56232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💡 结束程序时，请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关闭浏览器标签页，并一并关闭黑色窗口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。若保留黑色窗口再次启动，地址可能会偏移。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🗺️  4. 界面概览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左侧竖列是菜单。按从上到下的顺序使用即可。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4/17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44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菜单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何时使用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一句话说明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🔧 部品管理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最先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创建部品清单，并累积各部品的标准工时。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📹 作业分析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每次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边看视频边标记每个动作的开始与结束以测量时间。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📊 图表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分析后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以图形查看各循环时间的变化。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📊 分析结果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分析后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以数字整理平均值、标准工时、双手评价等。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🎬 视频对比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培训用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并排对比熟练者与非熟练者的视频。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📊 产线分析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查看产线时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测量多名作业者各部品的时间。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⚖ 作业分配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查看产线时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查看谁忙谁闲，通过移动部品实现均衡。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443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🔀 布局模拟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查看产线时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按调整后的分配运行，确认是否还有瓶颈。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444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📈 产线预测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新机种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用累积的标准工时预测新机种的节拍与人数。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315968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15968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ℹ 点击右上角的 </a:t>
            </a:r>
            <a:r>
              <a:rPr sz="1250" b="1">
                <a:solidFill>
                  <a:srgbClr val="2563EB"/>
                </a:solidFill>
                <a:latin typeface="微软雅黑"/>
              </a:rPr>
              <a:t>评比系数 100% · 宽放率 15%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标签即可打开设置。这两个值决定标准工时（参见第 7 项）。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🔧  5. 首先要做的 — 登记部品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逐个手动输入部品会因人而异写法不同，导致数据分裂。请从 BOM 表一次性导入。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5/17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在左侧菜单点击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🔧 部品管理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点击上方的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[📋 导入 BOM]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选择机种的 BOM 表文件。（文件名示例：</a:t>
            </a:r>
            <a:r>
              <a:rPr sz="1300" b="1">
                <a:solidFill>
                  <a:srgbClr val="2563EB"/>
                </a:solidFill>
                <a:latin typeface="微软雅黑"/>
              </a:rPr>
              <a:t>机种名_BOM.xlsx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）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出现预览窗口，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仅筛选 MI 部品（层级 ....4）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显示。确认后点击[导入]。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部品以 </a:t>
            </a:r>
            <a:r>
              <a:rPr sz="1300" b="1">
                <a:solidFill>
                  <a:srgbClr val="2563EB"/>
                </a:solidFill>
                <a:latin typeface="微软雅黑"/>
              </a:rPr>
              <a:t>品号(品名)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的形式加入清单。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🔧  5. 首先要做的 — 登记部品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5/17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15600" cy="356616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77824" y="1472184"/>
            <a:ext cx="1691640" cy="345643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6362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主页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84708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作业分析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13055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图表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414015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分析结果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69748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视频对比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980944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产线分析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3264408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作业分配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3547872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布局模拟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" y="3813048"/>
            <a:ext cx="1691640" cy="274320"/>
          </a:xfrm>
          <a:prstGeom prst="rect">
            <a:avLst/>
          </a:prstGeom>
          <a:solidFill>
            <a:srgbClr val="12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77824" y="3813048"/>
            <a:ext cx="4572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831335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部品管理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4114800"/>
            <a:ext cx="146304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微软雅黑"/>
              </a:rPr>
              <a:t>产线预测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4912" y="1545336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24912" y="1545336"/>
            <a:ext cx="2148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📋 导入 BOM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912" y="1545336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545336"/>
            <a:ext cx="2148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🧹 清理无品名部品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6912" y="1545336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6912" y="1545336"/>
            <a:ext cx="2148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</a:rPr>
              <a:t>🗑 全部重置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24912" y="1984248"/>
            <a:ext cx="2651760" cy="2852928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816352" y="2093976"/>
            <a:ext cx="2468880" cy="566928"/>
          </a:xfrm>
          <a:prstGeom prst="roundRect">
            <a:avLst>
              <a:gd name="adj" fmla="val 8000"/>
            </a:avLst>
          </a:prstGeom>
          <a:solidFill>
            <a:srgbClr val="12233F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79" y="2121408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微软雅黑"/>
              </a:rPr>
              <a:t>A-1001(CAP-ELEC)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79" y="2368296"/>
            <a:ext cx="22860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</a:rPr>
              <a:t>400V,10uF,105C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16352" y="2752344"/>
            <a:ext cx="2468880" cy="56692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79" y="2779775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4A3B8"/>
                </a:solidFill>
                <a:latin typeface="微软雅黑"/>
              </a:rPr>
              <a:t>A-1002(CAP-ELEC)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79" y="3026663"/>
            <a:ext cx="22860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</a:rPr>
              <a:t>400V,10uF,105C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816352" y="3410712"/>
            <a:ext cx="2468880" cy="56692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26079" y="3438144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4A3B8"/>
                </a:solidFill>
                <a:latin typeface="微软雅黑"/>
              </a:rPr>
              <a:t>A-1003(CAP-ELEC)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79" y="3685032"/>
            <a:ext cx="22860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</a:rPr>
              <a:t>400V,10uF,105C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16352" y="4069080"/>
            <a:ext cx="2468880" cy="566928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26079" y="4096512"/>
            <a:ext cx="2286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94A3B8"/>
                </a:solidFill>
                <a:latin typeface="微软雅黑"/>
              </a:rPr>
              <a:t>A-1004(CAP-ELEC)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79" y="4343400"/>
            <a:ext cx="22860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微软雅黑"/>
              </a:rPr>
              <a:t>400V,10uF,105C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13831" y="1984248"/>
            <a:ext cx="5687568" cy="2852928"/>
          </a:xfrm>
          <a:prstGeom prst="rect">
            <a:avLst/>
          </a:prstGeom>
          <a:solidFill>
            <a:srgbClr val="0B1220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50992" y="2103120"/>
            <a:ext cx="3657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微软雅黑"/>
              </a:rPr>
              <a:t>A-1001(CAP-ELEC)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23559" y="2459736"/>
            <a:ext cx="5458968" cy="457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42431" y="2459736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微软雅黑"/>
              </a:rPr>
              <a:t>品号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799" y="245973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A-1001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45551" y="2459736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微软雅黑"/>
              </a:rPr>
              <a:t>品名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19" y="245973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CAP-ELEC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48672" y="2459736"/>
            <a:ext cx="7315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>
                <a:solidFill>
                  <a:srgbClr val="64748B"/>
                </a:solidFill>
                <a:latin typeface="微软雅黑"/>
              </a:rPr>
              <a:t>规格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07040" y="2459736"/>
            <a:ext cx="1463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微软雅黑"/>
              </a:rPr>
              <a:t>400V,10uF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093208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微软雅黑"/>
              </a:rPr>
              <a:t>① 导入 BOM    ② 部品清单    ③ BOM 信息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34924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部品管理画面 — 左侧为部品清单，右侧为所选部品的详情。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🔧  5. 首先要做的 — 登记部品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5/17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💡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其他机种的 BOM 也可以直接导入。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已存在的品号会自动跳过，若原本缺少规格·厂商信息则会补全。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微软雅黑"/>
              </a:rPr>
              <a:t>点击部品可查看该部品的 </a:t>
            </a:r>
            <a:r>
              <a:rPr sz="1350" b="1">
                <a:solidFill>
                  <a:srgbClr val="111827"/>
                </a:solidFill>
                <a:latin typeface="微软雅黑"/>
              </a:rPr>
              <a:t>BOM 信息</a:t>
            </a:r>
            <a:r>
              <a:rPr sz="1350" b="0">
                <a:solidFill>
                  <a:srgbClr val="111827"/>
                </a:solidFill>
                <a:latin typeface="微软雅黑"/>
              </a:rPr>
              <a:t>（品号·品名·规格·单位数量·厂商·客户料号）、</a:t>
            </a:r>
            <a:r>
              <a:rPr sz="1350" b="1">
                <a:solidFill>
                  <a:srgbClr val="111827"/>
                </a:solidFill>
                <a:latin typeface="微软雅黑"/>
              </a:rPr>
              <a:t>视频分析履历</a:t>
            </a:r>
            <a:r>
              <a:rPr sz="1350" b="0">
                <a:solidFill>
                  <a:srgbClr val="111827"/>
                </a:solidFill>
                <a:latin typeface="微软雅黑"/>
              </a:rPr>
              <a:t>与</a:t>
            </a:r>
            <a:r>
              <a:rPr sz="1350" b="1">
                <a:solidFill>
                  <a:srgbClr val="111827"/>
                </a:solidFill>
                <a:latin typeface="微软雅黑"/>
              </a:rPr>
              <a:t>标准时间 DB</a:t>
            </a:r>
            <a:r>
              <a:rPr sz="135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423160"/>
          <a:ext cx="10881360" cy="1481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6265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按钮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作用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📋 导入 BOM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从 BOM 表提取 MI 部品加入清单（自动排除重复）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🧹 清理无品名部品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仅删除以前错误登记而无品名的部品。有测量数据的部品会保留。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6265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🗑 全部重置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全部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清除部品清单与标准工时。无法撤销。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626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⬆ 导出到文件 / ⬇ 导入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将部品 DB 整体迁移到其他电脑时使用。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📹  6. 作业分析 — 用视频测量时间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这是本程序的核心。看视频时，动作开始点一次、结束再点一次即可。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6/17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点击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📹 作业分析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菜单，用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[加载视频]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打开作业视频。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在右上方选择正在测量的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部品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选择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手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— 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🤚 LH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(左手) / 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✋ RH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(右手) / 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🖐 单手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(仅用一只手的作业)。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播放视频，在动作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开始的瞬间点击视频画面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。（开始标记）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在动作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结束的瞬间再次点击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。表格中会增加一行。（结束标记）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2816351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163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788919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填写作业名称，选择分类（净作业/辅助/浪费）。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3145535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14553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118103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一个循环结束后点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[下一循环]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，以同样方式重复 3~5 次。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347471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47471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44728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完成后点击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[💾 保存部品 ST]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，将标准工时保存到部品管理。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📹  6. 作业分析 — 用视频测量时间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6/17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17320"/>
            <a:ext cx="5120640" cy="27432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0">
                <a:solidFill>
                  <a:srgbClr val="1E3A5F"/>
                </a:solidFill>
                <a:latin typeface="微软雅黑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54680"/>
            <a:ext cx="4572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微软雅黑"/>
              </a:rPr>
              <a:t>这里显示作业视频</a:t>
            </a:r>
          </a:p>
        </p:txBody>
      </p:sp>
      <p:sp>
        <p:nvSpPr>
          <p:cNvPr id="8" name="Oval 7"/>
          <p:cNvSpPr/>
          <p:nvPr/>
        </p:nvSpPr>
        <p:spPr>
          <a:xfrm>
            <a:off x="2011680" y="2286000"/>
            <a:ext cx="310896" cy="310896"/>
          </a:xfrm>
          <a:prstGeom prst="ellipse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28600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901952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59E4E"/>
                </a:solidFill>
                <a:latin typeface="微软雅黑"/>
              </a:rPr>
              <a:t>① 开始时点击</a:t>
            </a:r>
          </a:p>
        </p:txBody>
      </p:sp>
      <p:sp>
        <p:nvSpPr>
          <p:cNvPr id="11" name="Oval 10"/>
          <p:cNvSpPr/>
          <p:nvPr/>
        </p:nvSpPr>
        <p:spPr>
          <a:xfrm>
            <a:off x="4206240" y="3291839"/>
            <a:ext cx="310896" cy="310896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3291839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39" y="2907791"/>
            <a:ext cx="21945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DC2626"/>
                </a:solidFill>
                <a:latin typeface="微软雅黑"/>
              </a:rPr>
              <a:t>② 结束时点击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548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</a:rPr>
              <a:t>手: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4270248"/>
            <a:ext cx="1481328" cy="329184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4270248"/>
            <a:ext cx="1481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🤚 LH 左手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15768" y="4270248"/>
            <a:ext cx="1481328" cy="329184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4270248"/>
            <a:ext cx="1481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59E4E"/>
                </a:solidFill>
                <a:latin typeface="微软雅黑"/>
              </a:rPr>
              <a:t>✋ RH 右手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88536" y="4270248"/>
            <a:ext cx="1481328" cy="329184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88536" y="4270248"/>
            <a:ext cx="14813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B45309"/>
                </a:solidFill>
                <a:latin typeface="微软雅黑"/>
              </a:rPr>
              <a:t>🖐 单手作业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1417320"/>
            <a:ext cx="5669280" cy="32461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80759" y="1508760"/>
            <a:ext cx="5486400" cy="292608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15087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微软雅黑"/>
              </a:rPr>
              <a:t>作业名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15087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微软雅黑"/>
              </a:rPr>
              <a:t>部品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15087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微软雅黑"/>
              </a:rPr>
              <a:t>分类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69880" y="1508760"/>
            <a:ext cx="16459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1">
                <a:solidFill>
                  <a:srgbClr val="93C5FD"/>
                </a:solidFill>
                <a:latin typeface="微软雅黑"/>
              </a:rPr>
              <a:t>开始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874519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取部品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1874519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微软雅黑"/>
              </a:rPr>
              <a:t>A-1001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1874519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DE80"/>
                </a:solidFill>
                <a:latin typeface="微软雅黑"/>
              </a:rPr>
              <a:t>净作业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1874519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微软雅黑"/>
              </a:rPr>
              <a:t>00:01.2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2221991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手部移动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221991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微软雅黑"/>
              </a:rPr>
              <a:t>A-1002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221991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DE80"/>
                </a:solidFill>
                <a:latin typeface="微软雅黑"/>
              </a:rPr>
              <a:t>净作业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69880" y="2221991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微软雅黑"/>
              </a:rPr>
              <a:t>00:02.2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2569463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微软雅黑"/>
              </a:rPr>
              <a:t>插入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2569463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微软雅黑"/>
              </a:rPr>
              <a:t>A-1003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569463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4ADE80"/>
                </a:solidFill>
                <a:latin typeface="微软雅黑"/>
              </a:rPr>
              <a:t>净作业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69880" y="2569463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微软雅黑"/>
              </a:rPr>
              <a:t>00:03.2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62472" y="2990088"/>
            <a:ext cx="5522976" cy="27432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3035808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微软雅黑"/>
              </a:rPr>
              <a:t>✋ RH 右手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3035808"/>
            <a:ext cx="3749039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微软雅黑"/>
              </a:rPr>
              <a:t>其他手的记录(仅供参考 — 不会被删除)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62472" y="3355848"/>
            <a:ext cx="5522976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3374136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取部品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3374136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3F6B52"/>
                </a:solidFill>
                <a:latin typeface="微软雅黑"/>
              </a:rPr>
              <a:t>A-1004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62472" y="3703320"/>
            <a:ext cx="5522976" cy="329184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21608"/>
            <a:ext cx="16459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微软雅黑"/>
              </a:rPr>
              <a:t>紧固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09560" y="3721608"/>
            <a:ext cx="1371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3F6B52"/>
                </a:solidFill>
                <a:latin typeface="微软雅黑"/>
              </a:rPr>
              <a:t>A-1005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89204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作业分析画面 — 左侧看视频标记，右侧表格中累积记录。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/>
              </a:rPr>
              <a:t>如何分别测量左手与右手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微软雅黑"/>
              </a:rPr>
              <a:t>切换手的按钮后，</a:t>
            </a:r>
            <a:r>
              <a:rPr sz="1350" b="1">
                <a:solidFill>
                  <a:srgbClr val="111827"/>
                </a:solidFill>
                <a:latin typeface="微软雅黑"/>
              </a:rPr>
              <a:t>视频会回到开头</a:t>
            </a:r>
            <a:r>
              <a:rPr sz="1350" b="0">
                <a:solidFill>
                  <a:srgbClr val="111827"/>
                </a:solidFill>
                <a:latin typeface="微软雅黑"/>
              </a:rPr>
              <a:t>，并只继续记录该手。表格上方是当前测量的手，分隔线以下是</a:t>
            </a:r>
            <a:r>
              <a:rPr sz="1350" b="1">
                <a:solidFill>
                  <a:srgbClr val="111827"/>
                </a:solidFill>
                <a:latin typeface="微软雅黑"/>
              </a:rPr>
              <a:t>其他手的记录</a:t>
            </a:r>
            <a:r>
              <a:rPr sz="1350" b="0">
                <a:solidFill>
                  <a:srgbClr val="111827"/>
                </a:solidFill>
                <a:latin typeface="微软雅黑"/>
              </a:rPr>
              <a:t>，以浅色作为参考保留。不会被删除，请放心。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📹  6. 作业分析 — 用视频测量时间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6/17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💡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为什么要分手测量?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双手均衡作业才是好的作业。若只有一只手忙，那只手就是瓶颈，另一只手在空闲。这个差异用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双手平衡度(HBR)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表示。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/>
              </a:rPr>
              <a:t>分类这样选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313432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71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分类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示例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2C55E"/>
                          </a:solidFill>
                          <a:latin typeface="微软雅黑"/>
                        </a:rPr>
                        <a:t>净作业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创造产品价值的必要作业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插入部品、拧螺丝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F59E0B"/>
                          </a:solidFill>
                          <a:latin typeface="微软雅黑"/>
                        </a:rPr>
                        <a:t>辅助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目前必要但最好能消除的作业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取部品、手部移动、去取材料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EF4444"/>
                          </a:solidFill>
                          <a:latin typeface="微软雅黑"/>
                        </a:rPr>
                        <a:t>浪费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应当消除的作业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等待、寻找、返工、无谓移动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3730752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E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30752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⚠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相同动作请填写完全相同的名称。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"取部品"与"取 部品"会被统计为不同作业。各循环名称一致才能对比。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43984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443984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💡 点击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[⚡ 自动分离循环]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，程序会以出现最频繁的作业名称为基准自动划分循环。会按手分别划分，请放心。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⏱  7. 评比系数与宽放率 — 标准工时的基准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视频中测得的是"那个人、那一天"所用的时间。这两个值把它换算成对所有人通用的基准。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7/17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ℹ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标准时间 = 实测时间 × 评比系数 × (1 + 宽放率)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856232"/>
          <a:ext cx="1088136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870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一般取值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评比系数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所拍作业者的速度相当于普通人的百分之多少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一般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100%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 · 快的人 110~120% · 慢的人 80~90%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870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宽放率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为疲劳·如厕·补料等追加的比例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坐姿轻作业一般为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10~15%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980944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微软雅黑"/>
              </a:rPr>
              <a:t>例）实测 5.0 秒、评比系数 100%、宽放率 15% → 标准时间 </a:t>
            </a:r>
            <a:r>
              <a:rPr sz="1350" b="1">
                <a:solidFill>
                  <a:srgbClr val="111827"/>
                </a:solidFill>
                <a:latin typeface="微软雅黑"/>
              </a:rPr>
              <a:t>5.75 秒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7530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57530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547872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点击画面右上角的 </a:t>
            </a:r>
            <a:r>
              <a:rPr sz="1300" b="1">
                <a:solidFill>
                  <a:srgbClr val="2563EB"/>
                </a:solidFill>
                <a:latin typeface="微软雅黑"/>
              </a:rPr>
              <a:t>评比系数 100% · 宽放率 15%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标签。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90448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0448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877056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在设置窗口顶部的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⏱ 标准时间计算基准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中修改数值。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23367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336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修改后的值以点击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[确定保存标准时间]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的时点为准生效。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⏱  7. 评比系数与宽放率 — 标准工时的基准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7/17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08960" y="1417320"/>
            <a:ext cx="5943600" cy="233172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554480"/>
            <a:ext cx="45720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/>
              </a:rPr>
              <a:t>⚙️ 设置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965960"/>
            <a:ext cx="5486400" cy="1417320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057400"/>
            <a:ext cx="51206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微软雅黑"/>
              </a:rPr>
              <a:t>⏱ 标准时间计算基准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377440"/>
            <a:ext cx="5120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实测时间 × 评比系数 × (1 + 宽放率) = 标准时间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2743200"/>
            <a:ext cx="9144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/>
              </a:rPr>
              <a:t>评比系数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2743200"/>
            <a:ext cx="777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微软雅黑"/>
              </a:rPr>
              <a:t>100 %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2743200"/>
            <a:ext cx="10058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微软雅黑"/>
              </a:rPr>
              <a:t>宽放率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2743200"/>
            <a:ext cx="777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743200"/>
            <a:ext cx="7772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微软雅黑"/>
              </a:rPr>
              <a:t>15 %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108960"/>
            <a:ext cx="51206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微软雅黑"/>
              </a:rPr>
              <a:t>例：实测 5.0 秒 → 标准时间 5.75 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886200"/>
            <a:ext cx="5943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B45309"/>
                </a:solidFill>
                <a:latin typeface="微软雅黑"/>
              </a:rPr>
              <a:t>① 公式与建议值    ② 在这里修改数值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5196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设置画面 — 顶部为评比系数·宽放率，下方为语言与共享存储设置。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📊  8. 图表 — 各循环有何变化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同样的作业若各循环时间参差不齐，说明该作业不稳定。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8/17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微软雅黑"/>
              </a:rPr>
              <a:t>一根柱子代表一个循环，一个色块代表一项作业。</a:t>
            </a:r>
            <a:r>
              <a:rPr sz="1350" b="1">
                <a:solidFill>
                  <a:srgbClr val="111827"/>
                </a:solidFill>
                <a:latin typeface="微软雅黑"/>
              </a:rPr>
              <a:t>相同作业在各循环之间以色带相连</a:t>
            </a:r>
            <a:r>
              <a:rPr sz="1350" b="0">
                <a:solidFill>
                  <a:srgbClr val="111827"/>
                </a:solidFill>
                <a:latin typeface="微软雅黑"/>
              </a:rPr>
              <a:t>，色带越来越粗表示该作业正逐渐变慢。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4160520"/>
            <a:ext cx="1554480" cy="4480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4160520"/>
            <a:ext cx="15544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取部品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3886200"/>
            <a:ext cx="1554480" cy="246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0" y="3099816"/>
            <a:ext cx="1554480" cy="758952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3099816"/>
            <a:ext cx="155448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插入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709160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微软雅黑"/>
              </a:rPr>
              <a:t>C1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779776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微软雅黑"/>
              </a:rPr>
              <a:t>31.6s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4103461"/>
            <a:ext cx="1554480" cy="50511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4103461"/>
            <a:ext cx="1554480" cy="53254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取部品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3796223"/>
            <a:ext cx="1554480" cy="27980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2915472"/>
            <a:ext cx="1554480" cy="853318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915472"/>
            <a:ext cx="1554480" cy="880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插入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709160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159E4E"/>
                </a:solidFill>
                <a:latin typeface="微软雅黑"/>
              </a:rPr>
              <a:t>C2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95432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微软雅黑"/>
              </a:rPr>
              <a:t>33.0s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046402"/>
            <a:ext cx="1554480" cy="562173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046402"/>
            <a:ext cx="1554480" cy="58960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取部品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3706246"/>
            <a:ext cx="1554480" cy="31272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0" y="3706246"/>
            <a:ext cx="1554480" cy="3401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手部移动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0" y="2731129"/>
            <a:ext cx="1554480" cy="94768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731129"/>
            <a:ext cx="1554480" cy="9751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/>
              </a:rPr>
              <a:t>插入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4709160"/>
            <a:ext cx="15544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微软雅黑"/>
              </a:rPr>
              <a:t>C3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411089"/>
            <a:ext cx="1554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微软雅黑"/>
              </a:rPr>
              <a:t>34.4s</a:t>
            </a:r>
          </a:p>
        </p:txBody>
      </p:sp>
      <p:sp>
        <p:nvSpPr>
          <p:cNvPr id="29" name="Freeform 28"/>
          <p:cNvSpPr/>
          <p:nvPr/>
        </p:nvSpPr>
        <p:spPr>
          <a:xfrm>
            <a:off x="3383280" y="4103461"/>
            <a:ext cx="1463040" cy="532547"/>
          </a:xfrm>
          <a:custGeom>
            <a:avLst/>
            <a:gdLst/>
            <a:ahLst/>
            <a:cxnLst/>
            <a:rect l="l" t="t" r="r" b="b"/>
            <a:pathLst>
              <a:path w="1463040" h="532547">
                <a:moveTo>
                  <a:pt x="0" y="57059"/>
                </a:moveTo>
                <a:lnTo>
                  <a:pt x="1463040" y="0"/>
                </a:lnTo>
                <a:lnTo>
                  <a:pt x="1463040" y="532547"/>
                </a:lnTo>
                <a:lnTo>
                  <a:pt x="0" y="532547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Freeform 29"/>
          <p:cNvSpPr/>
          <p:nvPr/>
        </p:nvSpPr>
        <p:spPr>
          <a:xfrm>
            <a:off x="3383280" y="3796223"/>
            <a:ext cx="1463040" cy="364297"/>
          </a:xfrm>
          <a:custGeom>
            <a:avLst/>
            <a:gdLst/>
            <a:ahLst/>
            <a:cxnLst/>
            <a:rect l="l" t="t" r="r" b="b"/>
            <a:pathLst>
              <a:path w="1463040" h="364297">
                <a:moveTo>
                  <a:pt x="0" y="89977"/>
                </a:moveTo>
                <a:lnTo>
                  <a:pt x="1463040" y="0"/>
                </a:lnTo>
                <a:lnTo>
                  <a:pt x="1463040" y="307238"/>
                </a:lnTo>
                <a:lnTo>
                  <a:pt x="0" y="364297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Freeform 30"/>
          <p:cNvSpPr/>
          <p:nvPr/>
        </p:nvSpPr>
        <p:spPr>
          <a:xfrm>
            <a:off x="3383280" y="2915472"/>
            <a:ext cx="1463040" cy="970728"/>
          </a:xfrm>
          <a:custGeom>
            <a:avLst/>
            <a:gdLst/>
            <a:ahLst/>
            <a:cxnLst/>
            <a:rect l="l" t="t" r="r" b="b"/>
            <a:pathLst>
              <a:path w="1463040" h="970728">
                <a:moveTo>
                  <a:pt x="0" y="184344"/>
                </a:moveTo>
                <a:lnTo>
                  <a:pt x="1463040" y="0"/>
                </a:lnTo>
                <a:lnTo>
                  <a:pt x="1463040" y="880751"/>
                </a:lnTo>
                <a:lnTo>
                  <a:pt x="0" y="970728"/>
                </a:lnTo>
                <a:close/>
              </a:path>
            </a:pathLst>
          </a:cu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Freeform 31"/>
          <p:cNvSpPr/>
          <p:nvPr/>
        </p:nvSpPr>
        <p:spPr>
          <a:xfrm>
            <a:off x="6400800" y="4046402"/>
            <a:ext cx="1463040" cy="589606"/>
          </a:xfrm>
          <a:custGeom>
            <a:avLst/>
            <a:gdLst/>
            <a:ahLst/>
            <a:cxnLst/>
            <a:rect l="l" t="t" r="r" b="b"/>
            <a:pathLst>
              <a:path w="1463040" h="589606">
                <a:moveTo>
                  <a:pt x="0" y="57059"/>
                </a:moveTo>
                <a:lnTo>
                  <a:pt x="1463040" y="0"/>
                </a:lnTo>
                <a:lnTo>
                  <a:pt x="1463040" y="589606"/>
                </a:lnTo>
                <a:lnTo>
                  <a:pt x="0" y="589606"/>
                </a:lnTo>
                <a:close/>
              </a:path>
            </a:pathLst>
          </a:cu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reeform 32"/>
          <p:cNvSpPr/>
          <p:nvPr/>
        </p:nvSpPr>
        <p:spPr>
          <a:xfrm>
            <a:off x="6400800" y="3706246"/>
            <a:ext cx="1463040" cy="397215"/>
          </a:xfrm>
          <a:custGeom>
            <a:avLst/>
            <a:gdLst/>
            <a:ahLst/>
            <a:cxnLst/>
            <a:rect l="l" t="t" r="r" b="b"/>
            <a:pathLst>
              <a:path w="1463040" h="397215">
                <a:moveTo>
                  <a:pt x="0" y="89977"/>
                </a:moveTo>
                <a:lnTo>
                  <a:pt x="1463040" y="0"/>
                </a:lnTo>
                <a:lnTo>
                  <a:pt x="1463040" y="340156"/>
                </a:lnTo>
                <a:lnTo>
                  <a:pt x="0" y="397215"/>
                </a:lnTo>
                <a:close/>
              </a:path>
            </a:pathLst>
          </a:cu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Freeform 33"/>
          <p:cNvSpPr/>
          <p:nvPr/>
        </p:nvSpPr>
        <p:spPr>
          <a:xfrm>
            <a:off x="6400800" y="2731129"/>
            <a:ext cx="1463040" cy="1065094"/>
          </a:xfrm>
          <a:custGeom>
            <a:avLst/>
            <a:gdLst/>
            <a:ahLst/>
            <a:cxnLst/>
            <a:rect l="l" t="t" r="r" b="b"/>
            <a:pathLst>
              <a:path w="1463040" h="1065094">
                <a:moveTo>
                  <a:pt x="0" y="184343"/>
                </a:moveTo>
                <a:lnTo>
                  <a:pt x="1463040" y="0"/>
                </a:lnTo>
                <a:lnTo>
                  <a:pt x="1463040" y="975117"/>
                </a:lnTo>
                <a:lnTo>
                  <a:pt x="0" y="1065094"/>
                </a:lnTo>
                <a:close/>
              </a:path>
            </a:pathLst>
          </a:cu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93208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微软雅黑"/>
              </a:rPr>
              <a:t>① 色带向上变宽表示该作业每个循环都在变长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276088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图表画面 — 上方是双手平衡度，下方是各循环累积柱与连接带。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📊  8. 图表 — 各循环有何变化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8/17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71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操作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效果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将鼠标移到色块上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相同作业会在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所有循环中高亮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，其余变暗。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[相同作业连接带] 按钮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开关连接作业的色带。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[纵向放大] 1x/1.5x/2x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区块过密看不清时纵向拉伸。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📈  9. 分析结果 — 以数字整理查看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把平均值、偏差、标准工时、所需人数以及双手评价汇总在一个画面。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9/17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/>
              </a:rPr>
              <a:t>⚖ 双手作业评价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960120"/>
            <a:ext cx="1828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</a:rPr>
              <a:t>平衡度(HBR)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914400"/>
            <a:ext cx="10972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5309"/>
                </a:solidFill>
                <a:latin typeface="微软雅黑"/>
              </a:rPr>
              <a:t>74%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960120"/>
            <a:ext cx="5120640" cy="347472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960120"/>
            <a:ext cx="48463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DC2626"/>
                </a:solidFill>
                <a:latin typeface="微软雅黑"/>
              </a:rPr>
              <a:t>⚠ RH 右手在空闲 → 建议重新分配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</a:rPr>
              <a:t>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</a:rPr>
              <a:t>总时间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</a:rPr>
              <a:t>占比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</a:rPr>
              <a:t>净作业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</a:rPr>
              <a:t>辅助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417320"/>
            <a:ext cx="1463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微软雅黑"/>
              </a:rPr>
              <a:t>浪费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801368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微软雅黑"/>
              </a:rPr>
              <a:t>🤚 LH 左手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/>
              </a:rPr>
              <a:t>3.4s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</a:rPr>
              <a:t>34%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9E4E"/>
                </a:solidFill>
                <a:latin typeface="微软雅黑"/>
              </a:rPr>
              <a:t>3.4s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微软雅黑"/>
              </a:rPr>
              <a:t>0.0s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18013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微软雅黑"/>
              </a:rPr>
              <a:t>0.0s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1874519"/>
            <a:ext cx="4572000" cy="1828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0" y="1874519"/>
            <a:ext cx="3791414" cy="18288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2258568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59E4E"/>
                </a:solidFill>
                <a:latin typeface="微软雅黑"/>
              </a:rPr>
              <a:t>✋ RH 右手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/>
              </a:rPr>
              <a:t>2.5s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</a:rPr>
              <a:t>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9E4E"/>
                </a:solidFill>
                <a:latin typeface="微软雅黑"/>
              </a:rPr>
              <a:t>2.5s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微软雅黑"/>
              </a:rPr>
              <a:t>0.0s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22585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微软雅黑"/>
              </a:rPr>
              <a:t>0.0s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0" y="2331720"/>
            <a:ext cx="4572000" cy="1828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49440" y="2331720"/>
            <a:ext cx="2787804" cy="182880"/>
          </a:xfrm>
          <a:prstGeom prst="roundRect">
            <a:avLst>
              <a:gd name="adj" fmla="val 8000"/>
            </a:avLst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2715768"/>
            <a:ext cx="17373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微软雅黑"/>
              </a:rPr>
              <a:t>🖐 单手作业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微软雅黑"/>
              </a:rPr>
              <a:t>4.1s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</a:rPr>
              <a:t>41%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159E4E"/>
                </a:solidFill>
                <a:latin typeface="微软雅黑"/>
              </a:rPr>
              <a:t>4.1s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B45309"/>
                </a:solidFill>
                <a:latin typeface="微软雅黑"/>
              </a:rPr>
              <a:t>0.0s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715768"/>
            <a:ext cx="9144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微软雅黑"/>
              </a:rPr>
              <a:t>0.0s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2788920"/>
            <a:ext cx="4572000" cy="182880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49440" y="2788920"/>
            <a:ext cx="4572000" cy="18288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310127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微软雅黑"/>
              </a:rPr>
              <a:t>① 左手·右手·单手的时间构成与平衡度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977639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分析结果画面 — 上方卡片是核心数字，下方是双手评价与各循环表格。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📈  9. 分析结果 — 以数字整理查看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9/17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881360" cy="2066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52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解读方法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平均实测时间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各循环的平均值。σ(西格玛)大表示波动大。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CV(变异系数)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10% 以下为稳定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，超过 20% 说明作业不稳定，需要标准化。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标准时间(代表值)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应用评比系数·宽放率后的值。用于产线设计。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所需作业者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标准时间 ÷ 节拍时间。需要几个人。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22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观测充分性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提示还需要再测几次才具备统计可信度。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223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⚖ 双手作业评价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左手·右手·单手的时间构成与平衡度(HBR)。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3438144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438144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ℹ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双手平衡度(HBR)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— 越接近 100% 表示双手作业越均衡。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低于 80% 时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说明一只手在相应地空闲，建议考虑重新分配作业。（单手作业不计入。）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🎬  10. 视频对比 — 熟练者与非熟练者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并排播放两段视频，用眼睛看出"差距在哪里产生"。很适合作为培训资料。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10/17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打开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🎬 视频对比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菜单。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左侧加载熟练者视频，右侧加载非熟练者视频。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播放时两段视频会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同步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移动。用 0.5 倍慢放更容易看出差异。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连接已分析的会话后，可从作业列表直接跳转到想看的动作。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596895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596895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💡 只挑差距最大的 3 个动作进行培训效果最好。不要试图全部纠正。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📊  11. 产线分析 — 测量各作业者的时间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如果说作业分析测的是"单个部品的标准工时"，产线分析测的就是"这条线上这个人实际用了几秒"。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11/17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在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📊 产线分析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中用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[+ 添加作业者]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创建作业者。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加载该作业者的视频。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微软雅黑"/>
              </a:rPr>
              <a:t>[⏺ 开始标记]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→ 动作结束时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[⏹ 结束标记]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。表格中生成一行。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在表格中为该行选择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部品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点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[下一循环 +]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继续重复。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从第 2 循环起部品会自动沿用。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2816351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81635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788919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切换作业者，测量整条产线。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📊  11. 产线分析 — 测量各作业者的时间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11/17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4937760" cy="228600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49377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0">
                <a:solidFill>
                  <a:srgbClr val="111827"/>
                </a:solidFill>
                <a:latin typeface="微软雅黑"/>
              </a:rPr>
              <a:t>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49377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微软雅黑"/>
              </a:rPr>
              <a:t>请选择该作业者的视频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572768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15727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59E4E"/>
                </a:solidFill>
                <a:latin typeface="微软雅黑"/>
              </a:rPr>
              <a:t>开始标记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840480"/>
            <a:ext cx="1572768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1720" y="3840480"/>
            <a:ext cx="15727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微软雅黑"/>
              </a:rPr>
              <a:t>结束标记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840480"/>
            <a:ext cx="1572768" cy="365760"/>
          </a:xfrm>
          <a:prstGeom prst="roundRect">
            <a:avLst>
              <a:gd name="adj" fmla="val 8000"/>
            </a:avLst>
          </a:prstGeom>
          <a:noFill/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3840480"/>
            <a:ext cx="157276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微软雅黑"/>
              </a:rPr>
              <a:t>下一循环 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417320"/>
            <a:ext cx="5715000" cy="2788920"/>
          </a:xfrm>
          <a:prstGeom prst="roundRect">
            <a:avLst>
              <a:gd name="adj" fmla="val 8000"/>
            </a:avLst>
          </a:prstGeom>
          <a:solidFill>
            <a:srgbClr val="0F172A"/>
          </a:solidFill>
          <a:ln w="12700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508760"/>
            <a:ext cx="36576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60A5FA"/>
                </a:solidFill>
                <a:latin typeface="微软雅黑"/>
              </a:rPr>
              <a:t>标记列表  🤚 LH 左手 (4)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1920240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微软雅黑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920240"/>
            <a:ext cx="2743200" cy="310896"/>
          </a:xfrm>
          <a:prstGeom prst="rect">
            <a:avLst/>
          </a:prstGeom>
          <a:solidFill>
            <a:srgbClr val="0B1220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920240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微软雅黑"/>
              </a:rPr>
              <a:t>A-1001(CAP-ELEC) 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92024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0A5FA"/>
                </a:solidFill>
                <a:latin typeface="微软雅黑"/>
              </a:rPr>
              <a:t>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1920240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微软雅黑"/>
              </a:rPr>
              <a:t>LH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304288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微软雅黑"/>
              </a:rPr>
              <a:t>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2304288"/>
            <a:ext cx="2743200" cy="310896"/>
          </a:xfrm>
          <a:prstGeom prst="rect">
            <a:avLst/>
          </a:prstGeom>
          <a:solidFill>
            <a:srgbClr val="0B1220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304288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微软雅黑"/>
              </a:rPr>
              <a:t>A-1002(CAP-ELEC) 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304288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0A5FA"/>
                </a:solidFill>
                <a:latin typeface="微软雅黑"/>
              </a:rPr>
              <a:t>C1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304288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微软雅黑"/>
              </a:rPr>
              <a:t>LH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688336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微软雅黑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2688336"/>
            <a:ext cx="2743200" cy="310896"/>
          </a:xfrm>
          <a:prstGeom prst="rect">
            <a:avLst/>
          </a:prstGeom>
          <a:solidFill>
            <a:srgbClr val="0B1220"/>
          </a:solidFill>
          <a:ln w="12700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2688336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86EFAC"/>
                </a:solidFill>
                <a:latin typeface="微软雅黑"/>
              </a:rPr>
              <a:t>A-1003(CAP-ELEC) 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688336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1">
                <a:solidFill>
                  <a:srgbClr val="60A5FA"/>
                </a:solidFill>
                <a:latin typeface="微软雅黑"/>
              </a:rPr>
              <a:t>C1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2688336"/>
            <a:ext cx="54864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60A5FA"/>
                </a:solidFill>
                <a:latin typeface="微软雅黑"/>
              </a:rPr>
              <a:t>LH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61888" y="3154680"/>
            <a:ext cx="5486400" cy="27432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3209544"/>
            <a:ext cx="146304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ADE80"/>
                </a:solidFill>
                <a:latin typeface="微软雅黑"/>
              </a:rPr>
              <a:t>✋ RH 右手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209544"/>
            <a:ext cx="3840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微软雅黑"/>
              </a:rPr>
              <a:t>其他手的记录(仅供参考 — 不会被删除)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61888" y="3538728"/>
            <a:ext cx="5486400" cy="3474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46520" y="3557016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3F6B52"/>
                </a:solidFill>
                <a:latin typeface="微软雅黑"/>
              </a:rPr>
              <a:t>A-1004(FUSE) 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61888" y="3904488"/>
            <a:ext cx="5486400" cy="347472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22776"/>
            <a:ext cx="26517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3F6B52"/>
                </a:solidFill>
                <a:latin typeface="微软雅黑"/>
              </a:rPr>
              <a:t>A-1005(FUSE) 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389120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微软雅黑"/>
              </a:rPr>
              <a:t>① 在表格中选择部品    ② 从第 2 循环起部品自动沿用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89204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产线分析画面 — 左侧标记，右侧表格按部品累积。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534924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34924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ℹ 这里同样可以分别测量 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🤚 LH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/ 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✋ RH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 / 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🖐 单手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。切换手后视频回到开头，其他手的记录在下方作为参考保留。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⚖  12. 作业分配 — 找出瓶颈并均衡分配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一眼看出谁忙谁闲，拖动部品来调整平衡。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12/17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111827"/>
                </a:solidFill>
                <a:latin typeface="微软雅黑"/>
              </a:rPr>
              <a:t>📏 节距图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</a:rPr>
              <a:t>作业者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1472184"/>
            <a:ext cx="7498079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11680" y="1472184"/>
            <a:ext cx="4686299" cy="29260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97979" y="1472184"/>
            <a:ext cx="2811779" cy="292608"/>
          </a:xfrm>
          <a:prstGeom prst="roundRect">
            <a:avLst>
              <a:gd name="adj" fmla="val 8000"/>
            </a:avLst>
          </a:prstGeom>
          <a:solidFill>
            <a:srgbClr val="991B1B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19" y="1472184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微软雅黑"/>
              </a:rPr>
              <a:t>160%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75688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</a:rPr>
              <a:t>作业者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011680" y="2130552"/>
            <a:ext cx="7498079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011680" y="2130552"/>
            <a:ext cx="4686299" cy="29260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697979" y="2130552"/>
            <a:ext cx="1124712" cy="292608"/>
          </a:xfrm>
          <a:prstGeom prst="roundRect">
            <a:avLst>
              <a:gd name="adj" fmla="val 8000"/>
            </a:avLst>
          </a:prstGeom>
          <a:solidFill>
            <a:srgbClr val="991B1B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19" y="2130552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微软雅黑"/>
              </a:rPr>
              <a:t>124%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34056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</a:rPr>
              <a:t>作业者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2788920"/>
            <a:ext cx="7498079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011680" y="2788920"/>
            <a:ext cx="4686299" cy="29260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97979" y="2788920"/>
            <a:ext cx="843534" cy="292608"/>
          </a:xfrm>
          <a:prstGeom prst="roundRect">
            <a:avLst>
              <a:gd name="adj" fmla="val 8000"/>
            </a:avLst>
          </a:prstGeom>
          <a:solidFill>
            <a:srgbClr val="991B1B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46919" y="2788920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微软雅黑"/>
              </a:rPr>
              <a:t>118%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92424"/>
            <a:ext cx="1371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微软雅黑"/>
              </a:rPr>
              <a:t>作业者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447288"/>
            <a:ext cx="7498079" cy="292608"/>
          </a:xfrm>
          <a:prstGeom prst="roundRect">
            <a:avLst>
              <a:gd name="adj" fmla="val 8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11680" y="3447288"/>
            <a:ext cx="4686299" cy="292608"/>
          </a:xfrm>
          <a:prstGeom prst="roundRect">
            <a:avLst>
              <a:gd name="adj" fmla="val 8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97979" y="3447288"/>
            <a:ext cx="187452" cy="292608"/>
          </a:xfrm>
          <a:prstGeom prst="roundRect">
            <a:avLst>
              <a:gd name="adj" fmla="val 8000"/>
            </a:avLst>
          </a:prstGeom>
          <a:solidFill>
            <a:srgbClr val="991B1B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3447288"/>
            <a:ext cx="8229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DC2626"/>
                </a:solidFill>
                <a:latin typeface="微软雅黑"/>
              </a:rPr>
              <a:t>104%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97979" y="1371600"/>
            <a:ext cx="13716" cy="2679191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79" y="1033272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11827"/>
                </a:solidFill>
                <a:latin typeface="微软雅黑"/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187952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微软雅黑"/>
              </a:rPr>
              <a:t>① 红色虚线 = 节拍时间    ② 超过 100% 的斜纹 = 超出节拍(瓶颈)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作业分配画面 — 山积图柱状与节距图。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/>
              </a:rPr>
              <a:t>节距图(Pitch Diagram)的读法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4406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11827"/>
                </a:solidFill>
                <a:latin typeface="微软雅黑"/>
              </a:rPr>
              <a:t>一根柱子代表一名作业者，数值为</a:t>
            </a:r>
            <a:r>
              <a:rPr sz="1350" b="1">
                <a:solidFill>
                  <a:srgbClr val="111827"/>
                </a:solidFill>
                <a:latin typeface="微软雅黑"/>
              </a:rPr>
              <a:t>该人的标准工时 ÷ 节拍时间</a:t>
            </a:r>
            <a:r>
              <a:rPr sz="1350" b="0">
                <a:solidFill>
                  <a:srgbClr val="111827"/>
                </a:solidFill>
                <a:latin typeface="微软雅黑"/>
              </a:rPr>
              <a:t>。中间的白色竖线是 </a:t>
            </a:r>
            <a:r>
              <a:rPr sz="1350" b="1">
                <a:solidFill>
                  <a:srgbClr val="111827"/>
                </a:solidFill>
                <a:latin typeface="微软雅黑"/>
              </a:rPr>
              <a:t>100%(节拍)</a:t>
            </a:r>
            <a:r>
              <a:rPr sz="135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⚖  12. 作业分配 — 找出瓶颈并均衡分配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12/17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88136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71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状态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应对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22C55E"/>
                          </a:solidFill>
                          <a:latin typeface="微软雅黑"/>
                        </a:rPr>
                        <a:t>低于 100%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时间有富余（空闲）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可以从他人处接受工作。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F59E0B"/>
                          </a:solidFill>
                          <a:latin typeface="微软雅黑"/>
                        </a:rPr>
                        <a:t>90~100%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几乎已满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再增加会有风险。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EF4444"/>
                          </a:solidFill>
                          <a:latin typeface="微软雅黑"/>
                        </a:rPr>
                        <a:t>超过 100%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无法在节拍内完成 = 瓶颈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斜纹部分为超出量。请减轻其工作。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256032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💡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目标是让所有柱子都均匀地略低于节拍线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。这样编成效率（平衡率）才会提高。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73552"/>
            <a:ext cx="10881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微软雅黑"/>
              </a:rPr>
              <a:t>移动部品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758184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581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730752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用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鼠标拖动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繁忙作业者的部品块，放到有余力的作业者上。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087368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59936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111827"/>
                </a:solidFill>
                <a:latin typeface="微软雅黑"/>
              </a:rPr>
              <a:t>放到空白处会新增一名作业者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。想尝试增加人数时使用。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441655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165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38912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满意后用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[📥 导出编成方案]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 导出为 Excel。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🔀  13. 布局模拟 — 按调整后的方案运行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用作业分配中调整后的编成运行产线，确认是否真的没有瓶颈。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13/17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49047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节拍周期(CT)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176479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DC2626"/>
                </a:solidFill>
                <a:latin typeface="微软雅黑"/>
              </a:rPr>
              <a:t>16.7s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1732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49047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瓶颈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5309"/>
                </a:solidFill>
                <a:latin typeface="微软雅黑"/>
              </a:rPr>
              <a:t>作业者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9047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平衡率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76479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微软雅黑"/>
              </a:rPr>
              <a:t>79%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17320"/>
            <a:ext cx="2651760" cy="7772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490472"/>
            <a:ext cx="22860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每小时产量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764792"/>
            <a:ext cx="2286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59E4E"/>
                </a:solidFill>
                <a:latin typeface="微软雅黑"/>
              </a:rPr>
              <a:t>215个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0" y="3017520"/>
            <a:ext cx="1737360" cy="1417320"/>
          </a:xfrm>
          <a:prstGeom prst="rect">
            <a:avLst/>
          </a:prstGeom>
          <a:solidFill>
            <a:srgbClr val="DC2626"/>
          </a:solidFill>
          <a:ln w="25400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2670048"/>
            <a:ext cx="22860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DC2626"/>
                </a:solidFill>
                <a:latin typeface="微软雅黑"/>
              </a:rPr>
              <a:t>⚠ 瓶颈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0799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475569"/>
                </a:solidFill>
                <a:latin typeface="微软雅黑"/>
              </a:rPr>
              <a:t>作业者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017520"/>
            <a:ext cx="1737360" cy="50292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301752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微软雅黑"/>
              </a:rPr>
              <a:t>空闲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0" y="3520439"/>
            <a:ext cx="1737360" cy="914400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450799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475569"/>
                </a:solidFill>
                <a:latin typeface="微软雅黑"/>
              </a:rPr>
              <a:t>作业者 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1737360" cy="54864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017520"/>
            <a:ext cx="1737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微软雅黑"/>
              </a:rPr>
              <a:t>空闲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566159"/>
            <a:ext cx="1737360" cy="868680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450799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475569"/>
                </a:solidFill>
                <a:latin typeface="微软雅黑"/>
              </a:rPr>
              <a:t>作业者 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017520"/>
            <a:ext cx="1737360" cy="66751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0" y="3017520"/>
            <a:ext cx="173736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微软雅黑"/>
              </a:rPr>
              <a:t>空闲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3685031"/>
            <a:ext cx="1737360" cy="749808"/>
          </a:xfrm>
          <a:prstGeom prst="rect">
            <a:avLst/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4507992"/>
            <a:ext cx="1737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475569"/>
                </a:solidFill>
                <a:latin typeface="微软雅黑"/>
              </a:rPr>
              <a:t>作业者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937759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微软雅黑"/>
              </a:rPr>
              <a:t>※ 灰色为空闲 — 减轻瓶颈(红色)的工作，整体就会加快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074920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布局模拟画面 — 显示瓶颈作业者与空闲时间。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🔀  13. 布局模拟 — 按调整后的方案运行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13/17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143000"/>
          <a:ext cx="108813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5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显示内容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含义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节拍周期(CT)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产线产出一个产品所需时间。由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最慢的人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决定。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瓶颈标示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决定 CT 的人。必须缩短此处产线才会加快。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空闲时间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各人等待时间的合计。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平衡率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总作业量 ÷ (CT × 人数)。越高表示分配越均匀。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每小时产量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3600 ÷ CT。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📈  14. 产线预测 — 提前计算新机种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AI·SMT 可由部品数推出节拍，而 MI 不行。因此要用累积的标准工时来计算。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14/17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117043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17043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143000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打开 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📈 产线预测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499616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9961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472184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输入新机种的部品与数量。（从部品清单中选择并输入数量）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1828799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82879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801367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输入可动时间与日产量目标后，会反算出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目标节拍时间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2157983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130551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结果会给出</a:t>
            </a:r>
            <a:r>
              <a:rPr sz="1300" b="1">
                <a:solidFill>
                  <a:srgbClr val="111827"/>
                </a:solidFill>
                <a:latin typeface="微软雅黑"/>
              </a:rPr>
              <a:t>预计节拍周期 · 所需人数 · 平衡率 · 各工序作业顺序</a:t>
            </a:r>
            <a:r>
              <a:rPr sz="1300" b="0">
                <a:solidFill>
                  <a:srgbClr val="111827"/>
                </a:solidFill>
                <a:latin typeface="微软雅黑"/>
              </a:rPr>
              <a:t>。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2487167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48716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459735"/>
            <a:ext cx="104241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>
                <a:solidFill>
                  <a:srgbClr val="111827"/>
                </a:solidFill>
                <a:latin typeface="微软雅黑"/>
              </a:rPr>
              <a:t>保存构成后下次可再次加载，也可导出为 Excel。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200399"/>
            <a:ext cx="3931920" cy="2651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10127"/>
            <a:ext cx="347472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微软雅黑"/>
              </a:rPr>
              <a:t>部品构成 (BOM) 输入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3703319"/>
            <a:ext cx="3474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703319"/>
            <a:ext cx="32918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微软雅黑"/>
              </a:rPr>
              <a:t>选择部品... 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160519"/>
            <a:ext cx="8229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475569"/>
                </a:solidFill>
                <a:latin typeface="微软雅黑"/>
              </a:rPr>
              <a:t>数量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0" y="4160519"/>
            <a:ext cx="6400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45920" y="4160519"/>
            <a:ext cx="640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11827"/>
                </a:solidFill>
                <a:latin typeface="微软雅黑"/>
              </a:rPr>
              <a:t>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4160519"/>
            <a:ext cx="914400" cy="32004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4160519"/>
            <a:ext cx="9144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+ 添加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663440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663440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/>
              </a:rPr>
              <a:t>A-1001(CAP-ELEC)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663440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×1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4663440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微软雅黑"/>
              </a:rPr>
              <a:t>4.2s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8680" y="5047488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5047488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/>
              </a:rPr>
              <a:t>A-1002(CAP-ELEC)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047488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×2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5047488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微软雅黑"/>
              </a:rPr>
              <a:t>5.2s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68680" y="5431536"/>
            <a:ext cx="34747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5431536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111827"/>
                </a:solidFill>
                <a:latin typeface="微软雅黑"/>
              </a:rPr>
              <a:t>A-1003(CAP-ELEC)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5431536"/>
            <a:ext cx="45720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×3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431536"/>
            <a:ext cx="6400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微软雅黑"/>
              </a:rPr>
              <a:t>6.2s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92040" y="320039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56631" y="3291839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预计节拍周期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56631" y="3584447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2563EB"/>
                </a:solidFill>
                <a:latin typeface="微软雅黑"/>
              </a:rPr>
              <a:t>22.4s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178040" y="320039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42631" y="3291839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所需人数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42631" y="3584447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B45309"/>
                </a:solidFill>
                <a:latin typeface="微软雅黑"/>
              </a:rPr>
              <a:t>5人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64040" y="3200399"/>
            <a:ext cx="2103120" cy="8686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28632" y="3291839"/>
            <a:ext cx="1828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微软雅黑"/>
              </a:rPr>
              <a:t>平衡率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28632" y="3584447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>
                <a:solidFill>
                  <a:srgbClr val="159E4E"/>
                </a:solidFill>
                <a:latin typeface="微软雅黑"/>
              </a:rPr>
              <a:t>86%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92040" y="4251959"/>
            <a:ext cx="45720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563EB"/>
                </a:solidFill>
                <a:latin typeface="微软雅黑"/>
              </a:rPr>
              <a:t>预计工序编成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92040" y="4617719"/>
            <a:ext cx="6675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0" y="4617719"/>
            <a:ext cx="1188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微软雅黑"/>
              </a:rPr>
              <a:t>工序 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63640" y="4663439"/>
            <a:ext cx="1828800" cy="256032"/>
          </a:xfrm>
          <a:prstGeom prst="roundRect">
            <a:avLst>
              <a:gd name="adj" fmla="val 8000"/>
            </a:avLst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617719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A-1001 → A-1002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92040" y="5029199"/>
            <a:ext cx="6675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0" y="5029199"/>
            <a:ext cx="1188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微软雅黑"/>
              </a:rPr>
              <a:t>工序 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5074919"/>
            <a:ext cx="2377440" cy="256032"/>
          </a:xfrm>
          <a:prstGeom prst="roundRect">
            <a:avLst>
              <a:gd name="adj" fmla="val 8000"/>
            </a:avLst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0" y="5029199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A-1002 → A-1003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892040" y="5440679"/>
            <a:ext cx="6675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029200" y="5440679"/>
            <a:ext cx="11887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  <a:latin typeface="微软雅黑"/>
              </a:rPr>
              <a:t>工序 3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263640" y="5486399"/>
            <a:ext cx="2926080" cy="256032"/>
          </a:xfrm>
          <a:prstGeom prst="roundRect">
            <a:avLst>
              <a:gd name="adj" fmla="val 8000"/>
            </a:avLst>
          </a:prstGeom>
          <a:solidFill>
            <a:srgbClr val="159E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00800" y="5440679"/>
            <a:ext cx="32004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A-1003 → A-1004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8640" y="6126479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产线预测画面 — 输入部品构成后得出节拍、人数与工序编成。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📈  14. 产线预测 — 提前计算新机种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14/17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43000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FEE9E9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143000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⚠ 仅计算已保存标准工时的部品。缺失的部品会另行显示，请先用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作业分析测量并保存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该部品。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💾  15. 保存与续做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作业途中保存，之后可以原样继续。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15/17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5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方式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保存位置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何时使用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💾 保存分析内容（会话）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本机浏览器内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在同一台电脑上继续时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↑ 导出文件 (.wvas)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所选文件夹中的文件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迁移到其他电脑或备份时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保存部品 ST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部品管理 DB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累积各部品标准工时时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设置 &gt; 共享存储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网络文件夹或公司服务器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在同一工厂内共同累积时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设置 &gt; 共享存储 &gt; 📊 谷歌表格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谷歌电子表格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不同地区之间共享时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(需要互联网)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145536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8EE"/>
          </a:solidFill>
          <a:ln w="12700">
            <a:solidFill>
              <a:srgbClr val="159E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145536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💡 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多人分工测量时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，请在设置中登记共享文件夹（或服务器）。每次启动程序都会自动合并彼此的数据。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🩺  16. 出现问题时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几乎所有问题都属于下面四种之一。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16/17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1773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29565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现象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原因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解决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部品·标准工时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全部消失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地址(端口)偏移了。数据并未被删除。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关闭全部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黑色窗口与 PIE 窗口后重新启动。也可点击红色警告条的 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[用标准地址打开]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启动了但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画面不出现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浏览器窗口被挡在后面。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在浏览器中直接打开 </a:t>
                      </a:r>
                      <a:r>
                        <a:rPr sz="1100" b="1">
                          <a:solidFill>
                            <a:srgbClr val="2563EB"/>
                          </a:solidFill>
                          <a:latin typeface="微软雅黑"/>
                        </a:rPr>
                        <a:t>http://127.0.0.1:8791/PIE.html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姿势(Pose)对比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无法使用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缺少 </a:t>
                      </a:r>
                      <a:r>
                        <a:rPr sz="1100" b="1">
                          <a:solidFill>
                            <a:srgbClr val="2563EB"/>
                          </a:solidFill>
                          <a:latin typeface="微软雅黑"/>
                        </a:rPr>
                        <a:t>mediapipe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 文件夹，或直接双击文件打开。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务必用 </a:t>
                      </a:r>
                      <a:r>
                        <a:rPr sz="1100" b="1">
                          <a:solidFill>
                            <a:srgbClr val="2563EB"/>
                          </a:solidFill>
                          <a:latin typeface="微软雅黑"/>
                        </a:rPr>
                        <a:t>PIE 실행.bat</a:t>
                      </a: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 启动，并确认整个文件夹已复制。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视频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打不开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浏览器不支持该编码。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请转换为 MP4(H.264) 格式。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5656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看不到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保存·加载按钮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不是 Chrome/Edge。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请用 Chrome 或 Edge 打开。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419856"/>
            <a:ext cx="10881360" cy="1005840"/>
          </a:xfrm>
          <a:prstGeom prst="roundRect">
            <a:avLst>
              <a:gd name="adj" fmla="val 8000"/>
            </a:avLst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511296"/>
            <a:ext cx="457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FEE2E2"/>
                </a:solidFill>
                <a:latin typeface="微软雅黑"/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29584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FEE2E2"/>
                </a:solidFill>
                <a:latin typeface="微软雅黑"/>
              </a:rPr>
              <a:t>以与平时不同的地址打开 — 已保存的部品·标准工时不会显示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950208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FECACA"/>
                </a:solidFill>
                <a:latin typeface="微软雅黑"/>
              </a:rPr>
              <a:t>浏览器按地址分别保存数据。(数据并未被删除)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3694176"/>
            <a:ext cx="1920240" cy="4572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3694176"/>
            <a:ext cx="1920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微软雅黑"/>
              </a:rPr>
              <a:t>用标准地址打开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54296"/>
            <a:ext cx="110642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微软雅黑"/>
              </a:rPr>
              <a:t>※ 看到此条时请点击按钮，或关闭所有窗口后重新启动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248656"/>
            <a:ext cx="110642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0">
                <a:solidFill>
                  <a:srgbClr val="94A3B8"/>
                </a:solidFill>
                <a:latin typeface="微软雅黑"/>
              </a:rPr>
              <a:t>地址偏移时画面顶部出现的警告条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705856"/>
            <a:ext cx="10881360" cy="566928"/>
          </a:xfrm>
          <a:prstGeom prst="roundRect">
            <a:avLst>
              <a:gd name="adj" fmla="val 8000"/>
            </a:avLst>
          </a:prstGeom>
          <a:solidFill>
            <a:srgbClr val="E8F1FE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705856"/>
            <a:ext cx="105156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11827"/>
                </a:solidFill>
                <a:latin typeface="微软雅黑"/>
              </a:rPr>
              <a:t>ℹ 若仍无法解决，请将</a:t>
            </a:r>
            <a:r>
              <a:rPr sz="1250" b="1">
                <a:solidFill>
                  <a:srgbClr val="111827"/>
                </a:solidFill>
                <a:latin typeface="微软雅黑"/>
              </a:rPr>
              <a:t>现象 + 画面照片</a:t>
            </a:r>
            <a:r>
              <a:rPr sz="1250" b="0">
                <a:solidFill>
                  <a:srgbClr val="111827"/>
                </a:solidFill>
                <a:latin typeface="微软雅黑"/>
              </a:rPr>
              <a:t>发给负责人。lovekhl83@gmail.com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📖  17. 术语表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02920"/>
            <a:ext cx="10515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 b="0">
                <a:solidFill>
                  <a:srgbClr val="93C5FD"/>
                </a:solidFill>
                <a:latin typeface="微软雅黑"/>
              </a:rPr>
              <a:t>仅收录现场常用的说法。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256032"/>
            <a:ext cx="10058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93C5FD"/>
                </a:solidFill>
                <a:latin typeface="微软雅黑"/>
              </a:rPr>
              <a:t>17/17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40680"/>
                <a:gridCol w="5440680"/>
              </a:tblGrid>
              <a:tr h="29391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术语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</a:rPr>
                        <a:t>通俗说明</a:t>
                      </a:r>
                    </a:p>
                  </a:txBody>
                  <a:tcPr marL="54864" marR="54864">
                    <a:solidFill>
                      <a:srgbClr val="1E3A5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节拍时间(T/T)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每隔几秒必须产出一个产品。</a:t>
                      </a:r>
                      <a:r>
                        <a:rPr sz="1100" b="1">
                          <a:solidFill>
                            <a:srgbClr val="111827"/>
                          </a:solidFill>
                          <a:latin typeface="微软雅黑"/>
                        </a:rPr>
                        <a:t>可动时间 ÷ 产量目标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节拍周期(CT)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实际产出一个所需时间。由最慢的人决定。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标准时间(ST)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规定任何人做大约都需要这么久的时间。实测时间 × 评比系数 × (1+宽放率)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评比系数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所拍人员的速度相当于普通水平的百分之多少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宽放率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为疲劳·如厕等追加的比例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净作业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创造产品价值的必要作业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辅助作业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目前必要但最好能消除的作业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浪费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应当消除的作业（等待·寻找·返工）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平衡率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作业分配得有多均匀。越高越好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瓶颈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耗时最长、决定产线速度的环节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HBR(双手平衡度)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左手与右手作业的均衡程度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MI 工序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由人工手动插件的工序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293918"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BOM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95000"/>
                        </a:lnSpc>
                      </a:pPr>
                      <a:r>
                        <a:rPr sz="1100" b="0">
                          <a:solidFill>
                            <a:srgbClr val="111827"/>
                          </a:solidFill>
                          <a:latin typeface="微软雅黑"/>
                        </a:rPr>
                        <a:t>该机种所用部品的清单表</a:t>
                      </a:r>
                    </a:p>
                  </a:txBody>
                  <a:tcPr marL="54864" marR="54864" marT="18288" marB="18288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