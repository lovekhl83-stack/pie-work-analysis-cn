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103120"/>
            <a:ext cx="12191695" cy="822960"/>
          </a:xfrm>
          <a:prstGeom prst="rect">
            <a:avLst/>
          </a:prstGeom>
          <a:noFill/>
        </p:spPr>
        <p:txBody>
          <a:bodyPr wrap="square" anchor="ctr" lIns="0" rIns="0" tIns="0" bIns="0">
            <a:spAutoFit/>
          </a:bodyPr>
          <a:lstStyle/>
          <a:p>
            <a:pPr algn="ctr"/>
            <a:r>
              <a:rPr sz="6400" b="1">
                <a:solidFill>
                  <a:srgbClr val="60A5FA"/>
                </a:solidFill>
                <a:latin typeface="Segoe UI"/>
              </a:rPr>
              <a:t>PIE</a:t>
            </a:r>
          </a:p>
        </p:txBody>
      </p:sp>
      <p:sp>
        <p:nvSpPr>
          <p:cNvPr id="4" name="TextBox 3"/>
          <p:cNvSpPr txBox="1"/>
          <p:nvPr/>
        </p:nvSpPr>
        <p:spPr>
          <a:xfrm>
            <a:off x="0" y="2971800"/>
            <a:ext cx="12191695" cy="548640"/>
          </a:xfrm>
          <a:prstGeom prst="rect">
            <a:avLst/>
          </a:prstGeom>
          <a:noFill/>
        </p:spPr>
        <p:txBody>
          <a:bodyPr wrap="square" anchor="ctr" lIns="0" rIns="0" tIns="0" bIns="0">
            <a:spAutoFit/>
          </a:bodyPr>
          <a:lstStyle/>
          <a:p>
            <a:pPr algn="ctr"/>
            <a:r>
              <a:rPr sz="2600" b="1">
                <a:solidFill>
                  <a:srgbClr val="FFFFFF"/>
                </a:solidFill>
                <a:latin typeface="Segoe UI"/>
              </a:rPr>
              <a:t>Hướng dẫn sử dụng chương trình phân tích thao tác PIE</a:t>
            </a:r>
          </a:p>
        </p:txBody>
      </p:sp>
      <p:sp>
        <p:nvSpPr>
          <p:cNvPr id="5" name="TextBox 4"/>
          <p:cNvSpPr txBox="1"/>
          <p:nvPr/>
        </p:nvSpPr>
        <p:spPr>
          <a:xfrm>
            <a:off x="1371600" y="3657600"/>
            <a:ext cx="9448495" cy="548640"/>
          </a:xfrm>
          <a:prstGeom prst="rect">
            <a:avLst/>
          </a:prstGeom>
          <a:noFill/>
        </p:spPr>
        <p:txBody>
          <a:bodyPr wrap="square" anchor="ctr" lIns="0" rIns="0" tIns="0" bIns="0">
            <a:spAutoFit/>
          </a:bodyPr>
          <a:lstStyle/>
          <a:p>
            <a:pPr algn="ctr"/>
            <a:r>
              <a:rPr sz="1400" b="0">
                <a:solidFill>
                  <a:srgbClr val="93C5FD"/>
                </a:solidFill>
                <a:latin typeface="Segoe UI"/>
              </a:rPr>
              <a:t>Hoạt động không cần Internet. Chỉ với tài liệu này bạn có thể làm theo từ cài đặt đến phân tích.</a:t>
            </a:r>
          </a:p>
        </p:txBody>
      </p:sp>
      <p:sp>
        <p:nvSpPr>
          <p:cNvPr id="6" name="TextBox 5"/>
          <p:cNvSpPr txBox="1"/>
          <p:nvPr/>
        </p:nvSpPr>
        <p:spPr>
          <a:xfrm>
            <a:off x="0" y="6035040"/>
            <a:ext cx="12191695" cy="365760"/>
          </a:xfrm>
          <a:prstGeom prst="rect">
            <a:avLst/>
          </a:prstGeom>
          <a:noFill/>
        </p:spPr>
        <p:txBody>
          <a:bodyPr wrap="square" anchor="ctr" lIns="0" rIns="0" tIns="0" bIns="0">
            <a:spAutoFit/>
          </a:bodyPr>
          <a:lstStyle/>
          <a:p>
            <a:pPr algn="ctr"/>
            <a:r>
              <a:rPr sz="1100" b="0">
                <a:solidFill>
                  <a:srgbClr val="64748B"/>
                </a:solidFill>
                <a:latin typeface="Segoe UI"/>
              </a:rPr>
              <a:t>PIE — Powernet Industrial Engineering · Liên hệ: lovekhl83@gmail.com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Mục lục</a:t>
            </a:r>
          </a:p>
        </p:txBody>
      </p:sp>
      <p:sp>
        <p:nvSpPr>
          <p:cNvPr id="4" name="TextBox 3"/>
          <p:cNvSpPr txBox="1"/>
          <p:nvPr/>
        </p:nvSpPr>
        <p:spPr>
          <a:xfrm>
            <a:off x="731520" y="1234440"/>
            <a:ext cx="5486400" cy="411480"/>
          </a:xfrm>
          <a:prstGeom prst="rect">
            <a:avLst/>
          </a:prstGeom>
          <a:noFill/>
        </p:spPr>
        <p:txBody>
          <a:bodyPr wrap="square" anchor="ctr" lIns="0" rIns="0" tIns="0" bIns="0">
            <a:spAutoFit/>
          </a:bodyPr>
          <a:lstStyle/>
          <a:p>
            <a:pPr algn="l"/>
            <a:r>
              <a:rPr sz="1400" b="0">
                <a:solidFill>
                  <a:srgbClr val="111827"/>
                </a:solidFill>
                <a:latin typeface="Segoe UI"/>
              </a:rPr>
              <a:t>🎯  1. Chương trình này là gì?</a:t>
            </a:r>
          </a:p>
        </p:txBody>
      </p:sp>
      <p:sp>
        <p:nvSpPr>
          <p:cNvPr id="5" name="TextBox 4"/>
          <p:cNvSpPr txBox="1"/>
          <p:nvPr/>
        </p:nvSpPr>
        <p:spPr>
          <a:xfrm>
            <a:off x="731520" y="1783080"/>
            <a:ext cx="5486400" cy="411480"/>
          </a:xfrm>
          <a:prstGeom prst="rect">
            <a:avLst/>
          </a:prstGeom>
          <a:noFill/>
        </p:spPr>
        <p:txBody>
          <a:bodyPr wrap="square" anchor="ctr" lIns="0" rIns="0" tIns="0" bIns="0">
            <a:spAutoFit/>
          </a:bodyPr>
          <a:lstStyle/>
          <a:p>
            <a:pPr algn="l"/>
            <a:r>
              <a:rPr sz="1400" b="0">
                <a:solidFill>
                  <a:srgbClr val="111827"/>
                </a:solidFill>
                <a:latin typeface="Segoe UI"/>
              </a:rPr>
              <a:t>💾  2. Cài đặt</a:t>
            </a:r>
          </a:p>
        </p:txBody>
      </p:sp>
      <p:sp>
        <p:nvSpPr>
          <p:cNvPr id="6" name="TextBox 5"/>
          <p:cNvSpPr txBox="1"/>
          <p:nvPr/>
        </p:nvSpPr>
        <p:spPr>
          <a:xfrm>
            <a:off x="731520" y="2331720"/>
            <a:ext cx="5486400" cy="411480"/>
          </a:xfrm>
          <a:prstGeom prst="rect">
            <a:avLst/>
          </a:prstGeom>
          <a:noFill/>
        </p:spPr>
        <p:txBody>
          <a:bodyPr wrap="square" anchor="ctr" lIns="0" rIns="0" tIns="0" bIns="0">
            <a:spAutoFit/>
          </a:bodyPr>
          <a:lstStyle/>
          <a:p>
            <a:pPr algn="l"/>
            <a:r>
              <a:rPr sz="1400" b="0">
                <a:solidFill>
                  <a:srgbClr val="111827"/>
                </a:solidFill>
                <a:latin typeface="Segoe UI"/>
              </a:rPr>
              <a:t>▶️  3. Chạy lần đầu</a:t>
            </a:r>
          </a:p>
        </p:txBody>
      </p:sp>
      <p:sp>
        <p:nvSpPr>
          <p:cNvPr id="7" name="TextBox 6"/>
          <p:cNvSpPr txBox="1"/>
          <p:nvPr/>
        </p:nvSpPr>
        <p:spPr>
          <a:xfrm>
            <a:off x="731520" y="2880360"/>
            <a:ext cx="5486400" cy="411480"/>
          </a:xfrm>
          <a:prstGeom prst="rect">
            <a:avLst/>
          </a:prstGeom>
          <a:noFill/>
        </p:spPr>
        <p:txBody>
          <a:bodyPr wrap="square" anchor="ctr" lIns="0" rIns="0" tIns="0" bIns="0">
            <a:spAutoFit/>
          </a:bodyPr>
          <a:lstStyle/>
          <a:p>
            <a:pPr algn="l"/>
            <a:r>
              <a:rPr sz="1400" b="0">
                <a:solidFill>
                  <a:srgbClr val="111827"/>
                </a:solidFill>
                <a:latin typeface="Segoe UI"/>
              </a:rPr>
              <a:t>🗺️  4. Tổng quan màn hình</a:t>
            </a:r>
          </a:p>
        </p:txBody>
      </p:sp>
      <p:sp>
        <p:nvSpPr>
          <p:cNvPr id="8" name="TextBox 7"/>
          <p:cNvSpPr txBox="1"/>
          <p:nvPr/>
        </p:nvSpPr>
        <p:spPr>
          <a:xfrm>
            <a:off x="731520" y="3429000"/>
            <a:ext cx="5486400" cy="411480"/>
          </a:xfrm>
          <a:prstGeom prst="rect">
            <a:avLst/>
          </a:prstGeom>
          <a:noFill/>
        </p:spPr>
        <p:txBody>
          <a:bodyPr wrap="square" anchor="ctr" lIns="0" rIns="0" tIns="0" bIns="0">
            <a:spAutoFit/>
          </a:bodyPr>
          <a:lstStyle/>
          <a:p>
            <a:pPr algn="l"/>
            <a:r>
              <a:rPr sz="1400" b="0">
                <a:solidFill>
                  <a:srgbClr val="111827"/>
                </a:solidFill>
                <a:latin typeface="Segoe UI"/>
              </a:rPr>
              <a:t>🔧  5. Việc đầu tiên — Đăng ký linh kiện</a:t>
            </a:r>
          </a:p>
        </p:txBody>
      </p:sp>
      <p:sp>
        <p:nvSpPr>
          <p:cNvPr id="9" name="TextBox 8"/>
          <p:cNvSpPr txBox="1"/>
          <p:nvPr/>
        </p:nvSpPr>
        <p:spPr>
          <a:xfrm>
            <a:off x="731520" y="3977639"/>
            <a:ext cx="5486400" cy="411480"/>
          </a:xfrm>
          <a:prstGeom prst="rect">
            <a:avLst/>
          </a:prstGeom>
          <a:noFill/>
        </p:spPr>
        <p:txBody>
          <a:bodyPr wrap="square" anchor="ctr" lIns="0" rIns="0" tIns="0" bIns="0">
            <a:spAutoFit/>
          </a:bodyPr>
          <a:lstStyle/>
          <a:p>
            <a:pPr algn="l"/>
            <a:r>
              <a:rPr sz="1400" b="0">
                <a:solidFill>
                  <a:srgbClr val="111827"/>
                </a:solidFill>
                <a:latin typeface="Segoe UI"/>
              </a:rPr>
              <a:t>📹  6. Phân tích thao tác — Đo thời gian bằng video</a:t>
            </a:r>
          </a:p>
        </p:txBody>
      </p:sp>
      <p:sp>
        <p:nvSpPr>
          <p:cNvPr id="10" name="TextBox 9"/>
          <p:cNvSpPr txBox="1"/>
          <p:nvPr/>
        </p:nvSpPr>
        <p:spPr>
          <a:xfrm>
            <a:off x="731520" y="4526279"/>
            <a:ext cx="5486400" cy="411480"/>
          </a:xfrm>
          <a:prstGeom prst="rect">
            <a:avLst/>
          </a:prstGeom>
          <a:noFill/>
        </p:spPr>
        <p:txBody>
          <a:bodyPr wrap="square" anchor="ctr" lIns="0" rIns="0" tIns="0" bIns="0">
            <a:spAutoFit/>
          </a:bodyPr>
          <a:lstStyle/>
          <a:p>
            <a:pPr algn="l"/>
            <a:r>
              <a:rPr sz="1400" b="0">
                <a:solidFill>
                  <a:srgbClr val="111827"/>
                </a:solidFill>
                <a:latin typeface="Segoe UI"/>
              </a:rPr>
              <a:t>⏱  7. Rating và dung sai — Cơ sở của thời gian chuẩn</a:t>
            </a:r>
          </a:p>
        </p:txBody>
      </p:sp>
      <p:sp>
        <p:nvSpPr>
          <p:cNvPr id="11" name="TextBox 10"/>
          <p:cNvSpPr txBox="1"/>
          <p:nvPr/>
        </p:nvSpPr>
        <p:spPr>
          <a:xfrm>
            <a:off x="731520" y="5074920"/>
            <a:ext cx="5486400" cy="411480"/>
          </a:xfrm>
          <a:prstGeom prst="rect">
            <a:avLst/>
          </a:prstGeom>
          <a:noFill/>
        </p:spPr>
        <p:txBody>
          <a:bodyPr wrap="square" anchor="ctr" lIns="0" rIns="0" tIns="0" bIns="0">
            <a:spAutoFit/>
          </a:bodyPr>
          <a:lstStyle/>
          <a:p>
            <a:pPr algn="l"/>
            <a:r>
              <a:rPr sz="1400" b="0">
                <a:solidFill>
                  <a:srgbClr val="111827"/>
                </a:solidFill>
                <a:latin typeface="Segoe UI"/>
              </a:rPr>
              <a:t>📊  8. Biểu đồ — Từng chu kỳ thay đổi ra sao</a:t>
            </a:r>
          </a:p>
        </p:txBody>
      </p:sp>
      <p:sp>
        <p:nvSpPr>
          <p:cNvPr id="12" name="TextBox 11"/>
          <p:cNvSpPr txBox="1"/>
          <p:nvPr/>
        </p:nvSpPr>
        <p:spPr>
          <a:xfrm>
            <a:off x="731520" y="5623560"/>
            <a:ext cx="5486400" cy="411480"/>
          </a:xfrm>
          <a:prstGeom prst="rect">
            <a:avLst/>
          </a:prstGeom>
          <a:noFill/>
        </p:spPr>
        <p:txBody>
          <a:bodyPr wrap="square" anchor="ctr" lIns="0" rIns="0" tIns="0" bIns="0">
            <a:spAutoFit/>
          </a:bodyPr>
          <a:lstStyle/>
          <a:p>
            <a:pPr algn="l"/>
            <a:r>
              <a:rPr sz="1400" b="0">
                <a:solidFill>
                  <a:srgbClr val="111827"/>
                </a:solidFill>
                <a:latin typeface="Segoe UI"/>
              </a:rPr>
              <a:t>📈  9. Kết quả phân tích — Tổng hợp bằng số</a:t>
            </a:r>
          </a:p>
        </p:txBody>
      </p:sp>
      <p:sp>
        <p:nvSpPr>
          <p:cNvPr id="13" name="TextBox 12"/>
          <p:cNvSpPr txBox="1"/>
          <p:nvPr/>
        </p:nvSpPr>
        <p:spPr>
          <a:xfrm>
            <a:off x="6583680" y="1234440"/>
            <a:ext cx="5486400" cy="411480"/>
          </a:xfrm>
          <a:prstGeom prst="rect">
            <a:avLst/>
          </a:prstGeom>
          <a:noFill/>
        </p:spPr>
        <p:txBody>
          <a:bodyPr wrap="square" anchor="ctr" lIns="0" rIns="0" tIns="0" bIns="0">
            <a:spAutoFit/>
          </a:bodyPr>
          <a:lstStyle/>
          <a:p>
            <a:pPr algn="l"/>
            <a:r>
              <a:rPr sz="1400" b="0">
                <a:solidFill>
                  <a:srgbClr val="111827"/>
                </a:solidFill>
                <a:latin typeface="Segoe UI"/>
              </a:rPr>
              <a:t>🎬  10. So sánh video — Người lành nghề và người mới</a:t>
            </a:r>
          </a:p>
        </p:txBody>
      </p:sp>
      <p:sp>
        <p:nvSpPr>
          <p:cNvPr id="14" name="TextBox 13"/>
          <p:cNvSpPr txBox="1"/>
          <p:nvPr/>
        </p:nvSpPr>
        <p:spPr>
          <a:xfrm>
            <a:off x="6583680" y="1783080"/>
            <a:ext cx="5486400" cy="411480"/>
          </a:xfrm>
          <a:prstGeom prst="rect">
            <a:avLst/>
          </a:prstGeom>
          <a:noFill/>
        </p:spPr>
        <p:txBody>
          <a:bodyPr wrap="square" anchor="ctr" lIns="0" rIns="0" tIns="0" bIns="0">
            <a:spAutoFit/>
          </a:bodyPr>
          <a:lstStyle/>
          <a:p>
            <a:pPr algn="l"/>
            <a:r>
              <a:rPr sz="1400" b="0">
                <a:solidFill>
                  <a:srgbClr val="111827"/>
                </a:solidFill>
                <a:latin typeface="Segoe UI"/>
              </a:rPr>
              <a:t>📊  11. Phân tích chuyền — Đo thời gian từng công nhân</a:t>
            </a:r>
          </a:p>
        </p:txBody>
      </p:sp>
      <p:sp>
        <p:nvSpPr>
          <p:cNvPr id="15" name="TextBox 14"/>
          <p:cNvSpPr txBox="1"/>
          <p:nvPr/>
        </p:nvSpPr>
        <p:spPr>
          <a:xfrm>
            <a:off x="6583680" y="2331720"/>
            <a:ext cx="5486400" cy="411480"/>
          </a:xfrm>
          <a:prstGeom prst="rect">
            <a:avLst/>
          </a:prstGeom>
          <a:noFill/>
        </p:spPr>
        <p:txBody>
          <a:bodyPr wrap="square" anchor="ctr" lIns="0" rIns="0" tIns="0" bIns="0">
            <a:spAutoFit/>
          </a:bodyPr>
          <a:lstStyle/>
          <a:p>
            <a:pPr algn="l"/>
            <a:r>
              <a:rPr sz="1400" b="0">
                <a:solidFill>
                  <a:srgbClr val="111827"/>
                </a:solidFill>
                <a:latin typeface="Segoe UI"/>
              </a:rPr>
              <a:t>⚖  12. Phân bổ công việc — Tìm nút thắt và chia đều</a:t>
            </a:r>
          </a:p>
        </p:txBody>
      </p:sp>
      <p:sp>
        <p:nvSpPr>
          <p:cNvPr id="16" name="TextBox 15"/>
          <p:cNvSpPr txBox="1"/>
          <p:nvPr/>
        </p:nvSpPr>
        <p:spPr>
          <a:xfrm>
            <a:off x="6583680" y="2880360"/>
            <a:ext cx="5486400" cy="411480"/>
          </a:xfrm>
          <a:prstGeom prst="rect">
            <a:avLst/>
          </a:prstGeom>
          <a:noFill/>
        </p:spPr>
        <p:txBody>
          <a:bodyPr wrap="square" anchor="ctr" lIns="0" rIns="0" tIns="0" bIns="0">
            <a:spAutoFit/>
          </a:bodyPr>
          <a:lstStyle/>
          <a:p>
            <a:pPr algn="l"/>
            <a:r>
              <a:rPr sz="1400" b="0">
                <a:solidFill>
                  <a:srgbClr val="111827"/>
                </a:solidFill>
                <a:latin typeface="Segoe UI"/>
              </a:rPr>
              <a:t>🔀  13. Mô phỏng bố trí — Chạy thử theo phương án đã đổi</a:t>
            </a:r>
          </a:p>
        </p:txBody>
      </p:sp>
      <p:sp>
        <p:nvSpPr>
          <p:cNvPr id="17" name="TextBox 16"/>
          <p:cNvSpPr txBox="1"/>
          <p:nvPr/>
        </p:nvSpPr>
        <p:spPr>
          <a:xfrm>
            <a:off x="6583680" y="3429000"/>
            <a:ext cx="5486400" cy="411480"/>
          </a:xfrm>
          <a:prstGeom prst="rect">
            <a:avLst/>
          </a:prstGeom>
          <a:noFill/>
        </p:spPr>
        <p:txBody>
          <a:bodyPr wrap="square" anchor="ctr" lIns="0" rIns="0" tIns="0" bIns="0">
            <a:spAutoFit/>
          </a:bodyPr>
          <a:lstStyle/>
          <a:p>
            <a:pPr algn="l"/>
            <a:r>
              <a:rPr sz="1400" b="0">
                <a:solidFill>
                  <a:srgbClr val="111827"/>
                </a:solidFill>
                <a:latin typeface="Segoe UI"/>
              </a:rPr>
              <a:t>📈  14. Dự đoán chuyền — Tính trước cho model mới</a:t>
            </a:r>
          </a:p>
        </p:txBody>
      </p:sp>
      <p:sp>
        <p:nvSpPr>
          <p:cNvPr id="18" name="TextBox 17"/>
          <p:cNvSpPr txBox="1"/>
          <p:nvPr/>
        </p:nvSpPr>
        <p:spPr>
          <a:xfrm>
            <a:off x="6583680" y="3977639"/>
            <a:ext cx="5486400" cy="411480"/>
          </a:xfrm>
          <a:prstGeom prst="rect">
            <a:avLst/>
          </a:prstGeom>
          <a:noFill/>
        </p:spPr>
        <p:txBody>
          <a:bodyPr wrap="square" anchor="ctr" lIns="0" rIns="0" tIns="0" bIns="0">
            <a:spAutoFit/>
          </a:bodyPr>
          <a:lstStyle/>
          <a:p>
            <a:pPr algn="l"/>
            <a:r>
              <a:rPr sz="1400" b="0">
                <a:solidFill>
                  <a:srgbClr val="111827"/>
                </a:solidFill>
                <a:latin typeface="Segoe UI"/>
              </a:rPr>
              <a:t>💾  15. Lưu và làm tiếp</a:t>
            </a:r>
          </a:p>
        </p:txBody>
      </p:sp>
      <p:sp>
        <p:nvSpPr>
          <p:cNvPr id="19" name="TextBox 18"/>
          <p:cNvSpPr txBox="1"/>
          <p:nvPr/>
        </p:nvSpPr>
        <p:spPr>
          <a:xfrm>
            <a:off x="6583680" y="4526279"/>
            <a:ext cx="5486400" cy="411480"/>
          </a:xfrm>
          <a:prstGeom prst="rect">
            <a:avLst/>
          </a:prstGeom>
          <a:noFill/>
        </p:spPr>
        <p:txBody>
          <a:bodyPr wrap="square" anchor="ctr" lIns="0" rIns="0" tIns="0" bIns="0">
            <a:spAutoFit/>
          </a:bodyPr>
          <a:lstStyle/>
          <a:p>
            <a:pPr algn="l"/>
            <a:r>
              <a:rPr sz="1400" b="0">
                <a:solidFill>
                  <a:srgbClr val="111827"/>
                </a:solidFill>
                <a:latin typeface="Segoe UI"/>
              </a:rPr>
              <a:t>🩺  16. Khi gặp sự cố</a:t>
            </a:r>
          </a:p>
        </p:txBody>
      </p:sp>
      <p:sp>
        <p:nvSpPr>
          <p:cNvPr id="20" name="TextBox 19"/>
          <p:cNvSpPr txBox="1"/>
          <p:nvPr/>
        </p:nvSpPr>
        <p:spPr>
          <a:xfrm>
            <a:off x="6583680" y="5074920"/>
            <a:ext cx="5486400" cy="411480"/>
          </a:xfrm>
          <a:prstGeom prst="rect">
            <a:avLst/>
          </a:prstGeom>
          <a:noFill/>
        </p:spPr>
        <p:txBody>
          <a:bodyPr wrap="square" anchor="ctr" lIns="0" rIns="0" tIns="0" bIns="0">
            <a:spAutoFit/>
          </a:bodyPr>
          <a:lstStyle/>
          <a:p>
            <a:pPr algn="l"/>
            <a:r>
              <a:rPr sz="1400" b="0">
                <a:solidFill>
                  <a:srgbClr val="111827"/>
                </a:solidFill>
                <a:latin typeface="Segoe UI"/>
              </a:rPr>
              <a:t>📖  17. Bảng thuật ngữ</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 Chương trình này là gì?</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Công cụ vừa xem video thao tác vừa đo "mỗi động tác mất bao nhiêu giây", rồi dùng thời gian đó để thiết kế chuyền.</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1/17</a:t>
            </a:r>
          </a:p>
        </p:txBody>
      </p:sp>
      <p:sp>
        <p:nvSpPr>
          <p:cNvPr id="6" name="TextBox 5"/>
          <p:cNvSpPr txBox="1"/>
          <p:nvPr/>
        </p:nvSpPr>
        <p:spPr>
          <a:xfrm>
            <a:off x="640080" y="1143000"/>
            <a:ext cx="10881360" cy="457200"/>
          </a:xfrm>
          <a:prstGeom prst="rect">
            <a:avLst/>
          </a:prstGeom>
          <a:noFill/>
        </p:spPr>
        <p:txBody>
          <a:bodyPr wrap="square" anchor="t" lIns="0" rIns="0" tIns="0" bIns="0">
            <a:spAutoFit/>
          </a:bodyPr>
          <a:lstStyle/>
          <a:p>
            <a:pPr algn="l"/>
            <a:r>
              <a:rPr sz="1350" b="0">
                <a:solidFill>
                  <a:srgbClr val="111827"/>
                </a:solidFill>
                <a:latin typeface="Segoe UI"/>
              </a:rPr>
              <a:t>Không cần cầm đồng hồ bấm giờ đứng tại hiện trường. Chỉ cần quay video rồi đo từ từ và chính xác trên máy tính.</a:t>
            </a:r>
          </a:p>
        </p:txBody>
      </p:sp>
      <p:graphicFrame>
        <p:nvGraphicFramePr>
          <p:cNvPr id="7" name="Table 6"/>
          <p:cNvGraphicFramePr>
            <a:graphicFrameLocks noGrp="1"/>
          </p:cNvGraphicFramePr>
          <p:nvPr/>
        </p:nvGraphicFramePr>
        <p:xfrm>
          <a:off x="640080" y="1709928"/>
          <a:ext cx="10881360" cy="1773936"/>
        </p:xfrm>
        <a:graphic>
          <a:graphicData uri="http://schemas.openxmlformats.org/drawingml/2006/table">
            <a:tbl>
              <a:tblPr firstRow="1" bandRow="1">
                <a:tableStyleId>{5C22544A-7EE6-4342-B048-85BDC9FD1C3A}</a:tableStyleId>
              </a:tblPr>
              <a:tblGrid>
                <a:gridCol w="5440680"/>
                <a:gridCol w="5440680"/>
              </a:tblGrid>
              <a:tr h="295656">
                <a:tc>
                  <a:txBody>
                    <a:bodyPr/>
                    <a:lstStyle/>
                    <a:p>
                      <a:r>
                        <a:rPr sz="1100" b="1">
                          <a:solidFill>
                            <a:srgbClr val="FFFFFF"/>
                          </a:solidFill>
                          <a:latin typeface="Segoe UI"/>
                        </a:rPr>
                        <a:t>Có thể làm gì</a:t>
                      </a:r>
                    </a:p>
                  </a:txBody>
                  <a:tcPr marL="54864" marR="54864">
                    <a:solidFill>
                      <a:srgbClr val="1E3A5F"/>
                    </a:solidFill>
                  </a:tcPr>
                </a:tc>
                <a:tc>
                  <a:txBody>
                    <a:bodyPr/>
                    <a:lstStyle/>
                    <a:p>
                      <a:r>
                        <a:rPr sz="1100" b="1">
                          <a:solidFill>
                            <a:srgbClr val="FFFFFF"/>
                          </a:solidFill>
                          <a:latin typeface="Segoe UI"/>
                        </a:rPr>
                        <a:t>Giải thích</a:t>
                      </a:r>
                    </a:p>
                  </a:txBody>
                  <a:tcPr marL="54864" marR="54864">
                    <a:solidFill>
                      <a:srgbClr val="1E3A5F"/>
                    </a:solidFill>
                  </a:tcPr>
                </a:tc>
              </a:tr>
              <a:tr h="295656">
                <a:tc>
                  <a:txBody>
                    <a:bodyPr/>
                    <a:lstStyle/>
                    <a:p>
                      <a:pPr>
                        <a:lnSpc>
                          <a:spcPct val="95000"/>
                        </a:lnSpc>
                      </a:pPr>
                      <a:r>
                        <a:rPr sz="1100" b="0">
                          <a:solidFill>
                            <a:srgbClr val="111827"/>
                          </a:solidFill>
                          <a:latin typeface="Segoe UI"/>
                        </a:rPr>
                        <a:t>Đo thời gian chuẩn theo linh kiện</a:t>
                      </a:r>
                    </a:p>
                  </a:txBody>
                  <a:tcPr marL="54864" marR="54864" marT="18288" marB="18288">
                    <a:solidFill>
                      <a:srgbClr val="F1F5F9"/>
                    </a:solidFill>
                  </a:tcPr>
                </a:tc>
                <a:tc>
                  <a:txBody>
                    <a:bodyPr/>
                    <a:lstStyle/>
                    <a:p>
                      <a:pPr>
                        <a:lnSpc>
                          <a:spcPct val="95000"/>
                        </a:lnSpc>
                      </a:pPr>
                      <a:r>
                        <a:rPr sz="1100" b="0">
                          <a:solidFill>
                            <a:srgbClr val="111827"/>
                          </a:solidFill>
                          <a:latin typeface="Segoe UI"/>
                        </a:rPr>
                        <a:t>Đo và lưu số giây để lắp một linh kiện. Nhiều máy tính có thể cùng tích lũy.</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Phân tích tay trái · tay phải</a:t>
                      </a:r>
                    </a:p>
                  </a:txBody>
                  <a:tcPr marL="54864" marR="54864" marT="18288" marB="18288">
                    <a:solidFill>
                      <a:srgbClr val="FFFFFF"/>
                    </a:solidFill>
                  </a:tcPr>
                </a:tc>
                <a:tc>
                  <a:txBody>
                    <a:bodyPr/>
                    <a:lstStyle/>
                    <a:p>
                      <a:pPr>
                        <a:lnSpc>
                          <a:spcPct val="95000"/>
                        </a:lnSpc>
                      </a:pPr>
                      <a:r>
                        <a:rPr sz="1100" b="0">
                          <a:solidFill>
                            <a:srgbClr val="111827"/>
                          </a:solidFill>
                          <a:latin typeface="Segoe UI"/>
                        </a:rPr>
                        <a:t>Xem hai tay có làm việc đều không, có tay nào đang rảnh không.</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So sánh người lành nghề và người mới</a:t>
                      </a:r>
                    </a:p>
                  </a:txBody>
                  <a:tcPr marL="54864" marR="54864" marT="18288" marB="18288">
                    <a:solidFill>
                      <a:srgbClr val="F1F5F9"/>
                    </a:solidFill>
                  </a:tcPr>
                </a:tc>
                <a:tc>
                  <a:txBody>
                    <a:bodyPr/>
                    <a:lstStyle/>
                    <a:p>
                      <a:pPr>
                        <a:lnSpc>
                          <a:spcPct val="95000"/>
                        </a:lnSpc>
                      </a:pPr>
                      <a:r>
                        <a:rPr sz="1100" b="0">
                          <a:solidFill>
                            <a:srgbClr val="111827"/>
                          </a:solidFill>
                          <a:latin typeface="Segoe UI"/>
                        </a:rPr>
                        <a:t>Chạy song song hai video để tìm ra chỗ khác biệt. Dùng làm tài liệu đào tạo.</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Cân bằng chuyền</a:t>
                      </a:r>
                    </a:p>
                  </a:txBody>
                  <a:tcPr marL="54864" marR="54864" marT="18288" marB="18288">
                    <a:solidFill>
                      <a:srgbClr val="FFFFFF"/>
                    </a:solidFill>
                  </a:tcPr>
                </a:tc>
                <a:tc>
                  <a:txBody>
                    <a:bodyPr/>
                    <a:lstStyle/>
                    <a:p>
                      <a:pPr>
                        <a:lnSpc>
                          <a:spcPct val="95000"/>
                        </a:lnSpc>
                      </a:pPr>
                      <a:r>
                        <a:rPr sz="1100" b="0">
                          <a:solidFill>
                            <a:srgbClr val="111827"/>
                          </a:solidFill>
                          <a:latin typeface="Segoe UI"/>
                        </a:rPr>
                        <a:t>Đo thời gian từng công nhân, tìm nút thắt cổ chai và chuyển linh kiện cho đều.</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Dự đoán model mới</a:t>
                      </a:r>
                    </a:p>
                  </a:txBody>
                  <a:tcPr marL="54864" marR="54864" marT="18288" marB="18288">
                    <a:solidFill>
                      <a:srgbClr val="F1F5F9"/>
                    </a:solidFill>
                  </a:tcPr>
                </a:tc>
                <a:tc>
                  <a:txBody>
                    <a:bodyPr/>
                    <a:lstStyle/>
                    <a:p>
                      <a:pPr>
                        <a:lnSpc>
                          <a:spcPct val="95000"/>
                        </a:lnSpc>
                      </a:pPr>
                      <a:r>
                        <a:rPr sz="1100" b="0">
                          <a:solidFill>
                            <a:srgbClr val="111827"/>
                          </a:solidFill>
                          <a:latin typeface="Segoe UI"/>
                        </a:rPr>
                        <a:t>Dùng thời gian chuẩn đã tích lũy để tính trước takt time và số người cho model mới.</a:t>
                      </a:r>
                    </a:p>
                  </a:txBody>
                  <a:tcPr marL="54864" marR="54864" marT="18288" marB="18288">
                    <a:solidFill>
                      <a:srgbClr val="F1F5F9"/>
                    </a:solidFill>
                  </a:tcPr>
                </a:tc>
              </a:tr>
            </a:tbl>
          </a:graphicData>
        </a:graphic>
      </p:graphicFrame>
      <p:sp>
        <p:nvSpPr>
          <p:cNvPr id="8" name="Rounded Rectangle 7"/>
          <p:cNvSpPr/>
          <p:nvPr/>
        </p:nvSpPr>
        <p:spPr>
          <a:xfrm>
            <a:off x="640080" y="3712464"/>
            <a:ext cx="10881360" cy="566928"/>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712464"/>
            <a:ext cx="10515600" cy="566928"/>
          </a:xfrm>
          <a:prstGeom prst="rect">
            <a:avLst/>
          </a:prstGeom>
          <a:noFill/>
        </p:spPr>
        <p:txBody>
          <a:bodyPr wrap="square" anchor="ctr" lIns="0" rIns="0" tIns="0" bIns="0">
            <a:spAutoFit/>
          </a:bodyPr>
          <a:lstStyle/>
          <a:p>
            <a:pPr algn="l"/>
            <a:r>
              <a:rPr sz="1250" b="0">
                <a:solidFill>
                  <a:srgbClr val="111827"/>
                </a:solidFill>
                <a:latin typeface="Segoe UI"/>
              </a:rPr>
              <a:t>ℹ </a:t>
            </a:r>
            <a:r>
              <a:rPr sz="1250" b="1">
                <a:solidFill>
                  <a:srgbClr val="111827"/>
                </a:solidFill>
                <a:latin typeface="Segoe UI"/>
              </a:rPr>
              <a:t>Thứ tự quan trọng</a:t>
            </a:r>
            <a:r>
              <a:rPr sz="1250" b="0">
                <a:solidFill>
                  <a:srgbClr val="111827"/>
                </a:solidFill>
                <a:latin typeface="Segoe UI"/>
              </a:rPr>
              <a:t> — ① Đăng ký linh kiện → ② Đo thời gian bằng video → ③ Lưu thời gian chuẩn → ④ Tự động dùng cho thiết kế chuyền và dự đoán. Chỉ cần giữ đúng thứ tự này.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2. Cài đặt</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Không có trình cài đặt phức tạp. Chỉ cần sao chép thư mục và tạo lối tắt.</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2/17</a:t>
            </a:r>
          </a:p>
        </p:txBody>
      </p:sp>
      <p:sp>
        <p:nvSpPr>
          <p:cNvPr id="6" name="TextBox 5"/>
          <p:cNvSpPr txBox="1"/>
          <p:nvPr/>
        </p:nvSpPr>
        <p:spPr>
          <a:xfrm>
            <a:off x="640080" y="1143000"/>
            <a:ext cx="10881360" cy="365760"/>
          </a:xfrm>
          <a:prstGeom prst="rect">
            <a:avLst/>
          </a:prstGeom>
          <a:noFill/>
        </p:spPr>
        <p:txBody>
          <a:bodyPr wrap="square" anchor="ctr" lIns="0" rIns="0" tIns="0" bIns="0">
            <a:spAutoFit/>
          </a:bodyPr>
          <a:lstStyle/>
          <a:p>
            <a:pPr algn="l"/>
            <a:r>
              <a:rPr sz="1500" b="1">
                <a:solidFill>
                  <a:srgbClr val="2563EB"/>
                </a:solidFill>
                <a:latin typeface="Segoe UI"/>
              </a:rPr>
              <a:t>Chuẩn bị</a:t>
            </a:r>
          </a:p>
        </p:txBody>
      </p:sp>
      <p:graphicFrame>
        <p:nvGraphicFramePr>
          <p:cNvPr id="7" name="Table 6"/>
          <p:cNvGraphicFramePr>
            <a:graphicFrameLocks noGrp="1"/>
          </p:cNvGraphicFramePr>
          <p:nvPr/>
        </p:nvGraphicFramePr>
        <p:xfrm>
          <a:off x="640080" y="1600200"/>
          <a:ext cx="10881360" cy="1481328"/>
        </p:xfrm>
        <a:graphic>
          <a:graphicData uri="http://schemas.openxmlformats.org/drawingml/2006/table">
            <a:tbl>
              <a:tblPr firstRow="1" bandRow="1">
                <a:tableStyleId>{5C22544A-7EE6-4342-B048-85BDC9FD1C3A}</a:tableStyleId>
              </a:tblPr>
              <a:tblGrid>
                <a:gridCol w="5440680"/>
                <a:gridCol w="5440680"/>
              </a:tblGrid>
              <a:tr h="296265">
                <a:tc>
                  <a:txBody>
                    <a:bodyPr/>
                    <a:lstStyle/>
                    <a:p>
                      <a:r>
                        <a:rPr sz="1100" b="1">
                          <a:solidFill>
                            <a:srgbClr val="FFFFFF"/>
                          </a:solidFill>
                          <a:latin typeface="Segoe UI"/>
                        </a:rPr>
                        <a:t>Mục</a:t>
                      </a:r>
                    </a:p>
                  </a:txBody>
                  <a:tcPr marL="54864" marR="54864">
                    <a:solidFill>
                      <a:srgbClr val="1E3A5F"/>
                    </a:solidFill>
                  </a:tcPr>
                </a:tc>
                <a:tc>
                  <a:txBody>
                    <a:bodyPr/>
                    <a:lstStyle/>
                    <a:p>
                      <a:r>
                        <a:rPr sz="1100" b="1">
                          <a:solidFill>
                            <a:srgbClr val="FFFFFF"/>
                          </a:solidFill>
                          <a:latin typeface="Segoe UI"/>
                        </a:rPr>
                        <a:t>Nội dung</a:t>
                      </a:r>
                    </a:p>
                  </a:txBody>
                  <a:tcPr marL="54864" marR="54864">
                    <a:solidFill>
                      <a:srgbClr val="1E3A5F"/>
                    </a:solidFill>
                  </a:tcPr>
                </a:tc>
              </a:tr>
              <a:tr h="296265">
                <a:tc>
                  <a:txBody>
                    <a:bodyPr/>
                    <a:lstStyle/>
                    <a:p>
                      <a:pPr>
                        <a:lnSpc>
                          <a:spcPct val="95000"/>
                        </a:lnSpc>
                      </a:pPr>
                      <a:r>
                        <a:rPr sz="1100" b="0">
                          <a:solidFill>
                            <a:srgbClr val="111827"/>
                          </a:solidFill>
                          <a:latin typeface="Segoe UI"/>
                        </a:rPr>
                        <a:t>Máy tính</a:t>
                      </a:r>
                    </a:p>
                  </a:txBody>
                  <a:tcPr marL="54864" marR="54864" marT="18288" marB="18288">
                    <a:solidFill>
                      <a:srgbClr val="F1F5F9"/>
                    </a:solidFill>
                  </a:tcPr>
                </a:tc>
                <a:tc>
                  <a:txBody>
                    <a:bodyPr/>
                    <a:lstStyle/>
                    <a:p>
                      <a:pPr>
                        <a:lnSpc>
                          <a:spcPct val="95000"/>
                        </a:lnSpc>
                      </a:pPr>
                      <a:r>
                        <a:rPr sz="1100" b="0">
                          <a:solidFill>
                            <a:srgbClr val="111827"/>
                          </a:solidFill>
                          <a:latin typeface="Segoe UI"/>
                        </a:rPr>
                        <a:t>Windows 10 hoặc 11</a:t>
                      </a:r>
                    </a:p>
                  </a:txBody>
                  <a:tcPr marL="54864" marR="54864" marT="18288" marB="18288">
                    <a:solidFill>
                      <a:srgbClr val="F1F5F9"/>
                    </a:solidFill>
                  </a:tcPr>
                </a:tc>
              </a:tr>
              <a:tr h="296265">
                <a:tc>
                  <a:txBody>
                    <a:bodyPr/>
                    <a:lstStyle/>
                    <a:p>
                      <a:pPr>
                        <a:lnSpc>
                          <a:spcPct val="95000"/>
                        </a:lnSpc>
                      </a:pPr>
                      <a:r>
                        <a:rPr sz="1100" b="0">
                          <a:solidFill>
                            <a:srgbClr val="111827"/>
                          </a:solidFill>
                          <a:latin typeface="Segoe UI"/>
                        </a:rPr>
                        <a:t>Trình duyệt</a:t>
                      </a:r>
                    </a:p>
                  </a:txBody>
                  <a:tcPr marL="54864" marR="54864" marT="18288" marB="18288">
                    <a:solidFill>
                      <a:srgbClr val="FFFFFF"/>
                    </a:solidFill>
                  </a:tcPr>
                </a:tc>
                <a:tc>
                  <a:txBody>
                    <a:bodyPr/>
                    <a:lstStyle/>
                    <a:p>
                      <a:pPr>
                        <a:lnSpc>
                          <a:spcPct val="95000"/>
                        </a:lnSpc>
                      </a:pPr>
                      <a:r>
                        <a:rPr sz="1100" b="1">
                          <a:solidFill>
                            <a:srgbClr val="111827"/>
                          </a:solidFill>
                          <a:latin typeface="Segoe UI"/>
                        </a:rPr>
                        <a:t>Chrome</a:t>
                      </a:r>
                      <a:r>
                        <a:rPr sz="1100" b="0">
                          <a:solidFill>
                            <a:srgbClr val="111827"/>
                          </a:solidFill>
                          <a:latin typeface="Segoe UI"/>
                        </a:rPr>
                        <a:t> hoặc </a:t>
                      </a:r>
                      <a:r>
                        <a:rPr sz="1100" b="1">
                          <a:solidFill>
                            <a:srgbClr val="111827"/>
                          </a:solidFill>
                          <a:latin typeface="Segoe UI"/>
                        </a:rPr>
                        <a:t>Edge</a:t>
                      </a:r>
                      <a:r>
                        <a:rPr sz="1100" b="0">
                          <a:solidFill>
                            <a:srgbClr val="111827"/>
                          </a:solidFill>
                          <a:latin typeface="Segoe UI"/>
                        </a:rPr>
                        <a:t> (không hỗ trợ Internet Explorer)</a:t>
                      </a:r>
                    </a:p>
                  </a:txBody>
                  <a:tcPr marL="54864" marR="54864" marT="18288" marB="18288">
                    <a:solidFill>
                      <a:srgbClr val="FFFFFF"/>
                    </a:solidFill>
                  </a:tcPr>
                </a:tc>
              </a:tr>
              <a:tr h="296265">
                <a:tc>
                  <a:txBody>
                    <a:bodyPr/>
                    <a:lstStyle/>
                    <a:p>
                      <a:pPr>
                        <a:lnSpc>
                          <a:spcPct val="95000"/>
                        </a:lnSpc>
                      </a:pPr>
                      <a:r>
                        <a:rPr sz="1100" b="0">
                          <a:solidFill>
                            <a:srgbClr val="111827"/>
                          </a:solidFill>
                          <a:latin typeface="Segoe UI"/>
                        </a:rPr>
                        <a:t>Internet</a:t>
                      </a:r>
                    </a:p>
                  </a:txBody>
                  <a:tcPr marL="54864" marR="54864" marT="18288" marB="18288">
                    <a:solidFill>
                      <a:srgbClr val="F1F5F9"/>
                    </a:solidFill>
                  </a:tcPr>
                </a:tc>
                <a:tc>
                  <a:txBody>
                    <a:bodyPr/>
                    <a:lstStyle/>
                    <a:p>
                      <a:pPr>
                        <a:lnSpc>
                          <a:spcPct val="95000"/>
                        </a:lnSpc>
                      </a:pPr>
                      <a:r>
                        <a:rPr sz="1100" b="1">
                          <a:solidFill>
                            <a:srgbClr val="111827"/>
                          </a:solidFill>
                          <a:latin typeface="Segoe UI"/>
                        </a:rPr>
                        <a:t>Không cần.</a:t>
                      </a:r>
                      <a:r>
                        <a:rPr sz="1100" b="0">
                          <a:solidFill>
                            <a:srgbClr val="111827"/>
                          </a:solidFill>
                          <a:latin typeface="Segoe UI"/>
                        </a:rPr>
                        <a:t> Vẫn chạy được ở nơi bị chặn Internet như Trung Quốc.</a:t>
                      </a:r>
                    </a:p>
                  </a:txBody>
                  <a:tcPr marL="54864" marR="54864" marT="18288" marB="18288">
                    <a:solidFill>
                      <a:srgbClr val="F1F5F9"/>
                    </a:solidFill>
                  </a:tcPr>
                </a:tc>
              </a:tr>
              <a:tr h="296268">
                <a:tc>
                  <a:txBody>
                    <a:bodyPr/>
                    <a:lstStyle/>
                    <a:p>
                      <a:pPr>
                        <a:lnSpc>
                          <a:spcPct val="95000"/>
                        </a:lnSpc>
                      </a:pPr>
                      <a:r>
                        <a:rPr sz="1100" b="0">
                          <a:solidFill>
                            <a:srgbClr val="111827"/>
                          </a:solidFill>
                          <a:latin typeface="Segoe UI"/>
                        </a:rPr>
                        <a:t>Khóa bản quyền</a:t>
                      </a:r>
                    </a:p>
                  </a:txBody>
                  <a:tcPr marL="54864" marR="54864" marT="18288" marB="18288">
                    <a:solidFill>
                      <a:srgbClr val="FFFFFF"/>
                    </a:solidFill>
                  </a:tcPr>
                </a:tc>
                <a:tc>
                  <a:txBody>
                    <a:bodyPr/>
                    <a:lstStyle/>
                    <a:p>
                      <a:pPr>
                        <a:lnSpc>
                          <a:spcPct val="95000"/>
                        </a:lnSpc>
                      </a:pPr>
                      <a:r>
                        <a:rPr sz="1100" b="0">
                          <a:solidFill>
                            <a:srgbClr val="111827"/>
                          </a:solidFill>
                          <a:latin typeface="Segoe UI"/>
                        </a:rPr>
                        <a:t>Nhập một lần khi chạy lần đầu. Hãy xin người phụ trách.</a:t>
                      </a:r>
                    </a:p>
                  </a:txBody>
                  <a:tcPr marL="54864" marR="54864" marT="18288" marB="18288">
                    <a:solidFill>
                      <a:srgbClr val="FFFFFF"/>
                    </a:solidFill>
                  </a:tcPr>
                </a:tc>
              </a:tr>
            </a:tbl>
          </a:graphicData>
        </a:graphic>
      </p:graphicFrame>
      <p:sp>
        <p:nvSpPr>
          <p:cNvPr id="8" name="TextBox 7"/>
          <p:cNvSpPr txBox="1"/>
          <p:nvPr/>
        </p:nvSpPr>
        <p:spPr>
          <a:xfrm>
            <a:off x="640080" y="3310128"/>
            <a:ext cx="10881360" cy="365760"/>
          </a:xfrm>
          <a:prstGeom prst="rect">
            <a:avLst/>
          </a:prstGeom>
          <a:noFill/>
        </p:spPr>
        <p:txBody>
          <a:bodyPr wrap="square" anchor="ctr" lIns="0" rIns="0" tIns="0" bIns="0">
            <a:spAutoFit/>
          </a:bodyPr>
          <a:lstStyle/>
          <a:p>
            <a:pPr algn="l"/>
            <a:r>
              <a:rPr sz="1500" b="1">
                <a:solidFill>
                  <a:srgbClr val="2563EB"/>
                </a:solidFill>
                <a:latin typeface="Segoe UI"/>
              </a:rPr>
              <a:t>Cách A — Dùng tệp cài đặt (khuyến nghị)</a:t>
            </a:r>
          </a:p>
        </p:txBody>
      </p:sp>
      <p:sp>
        <p:nvSpPr>
          <p:cNvPr id="9" name="Oval 8"/>
          <p:cNvSpPr/>
          <p:nvPr/>
        </p:nvSpPr>
        <p:spPr>
          <a:xfrm>
            <a:off x="685800" y="3794760"/>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794760"/>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11" name="TextBox 10"/>
          <p:cNvSpPr txBox="1"/>
          <p:nvPr/>
        </p:nvSpPr>
        <p:spPr>
          <a:xfrm>
            <a:off x="1097280" y="3767328"/>
            <a:ext cx="10424160" cy="310896"/>
          </a:xfrm>
          <a:prstGeom prst="rect">
            <a:avLst/>
          </a:prstGeom>
          <a:noFill/>
        </p:spPr>
        <p:txBody>
          <a:bodyPr wrap="square" anchor="ctr" lIns="0" rIns="0" tIns="0" bIns="0">
            <a:spAutoFit/>
          </a:bodyPr>
          <a:lstStyle/>
          <a:p>
            <a:pPr algn="l"/>
            <a:r>
              <a:rPr sz="1300" b="0">
                <a:solidFill>
                  <a:srgbClr val="111827"/>
                </a:solidFill>
                <a:latin typeface="Segoe UI"/>
              </a:rPr>
              <a:t>Sao chép toàn bộ thư mục PIE từ USB hoặc ổ đĩa mạng.</a:t>
            </a:r>
          </a:p>
        </p:txBody>
      </p:sp>
      <p:sp>
        <p:nvSpPr>
          <p:cNvPr id="12" name="Oval 11"/>
          <p:cNvSpPr/>
          <p:nvPr/>
        </p:nvSpPr>
        <p:spPr>
          <a:xfrm>
            <a:off x="685800" y="4123944"/>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123944"/>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4" name="TextBox 13"/>
          <p:cNvSpPr txBox="1"/>
          <p:nvPr/>
        </p:nvSpPr>
        <p:spPr>
          <a:xfrm>
            <a:off x="1097280" y="4096512"/>
            <a:ext cx="10424160" cy="310896"/>
          </a:xfrm>
          <a:prstGeom prst="rect">
            <a:avLst/>
          </a:prstGeom>
          <a:noFill/>
        </p:spPr>
        <p:txBody>
          <a:bodyPr wrap="square" anchor="ctr" lIns="0" rIns="0" tIns="0" bIns="0">
            <a:spAutoFit/>
          </a:bodyPr>
          <a:lstStyle/>
          <a:p>
            <a:pPr algn="l"/>
            <a:r>
              <a:rPr sz="1300" b="1">
                <a:solidFill>
                  <a:srgbClr val="111827"/>
                </a:solidFill>
                <a:latin typeface="Segoe UI"/>
              </a:rPr>
              <a:t>Nhấp đúp</a:t>
            </a:r>
            <a:r>
              <a:rPr sz="1300" b="0">
                <a:solidFill>
                  <a:srgbClr val="111827"/>
                </a:solidFill>
                <a:latin typeface="Segoe UI"/>
              </a:rPr>
              <a:t> vào </a:t>
            </a:r>
            <a:r>
              <a:rPr sz="1300" b="1">
                <a:solidFill>
                  <a:srgbClr val="2563EB"/>
                </a:solidFill>
                <a:latin typeface="Segoe UI"/>
              </a:rPr>
              <a:t>PIE_설치.bat</a:t>
            </a:r>
            <a:r>
              <a:rPr sz="1300" b="0">
                <a:solidFill>
                  <a:srgbClr val="111827"/>
                </a:solidFill>
                <a:latin typeface="Segoe UI"/>
              </a:rPr>
              <a:t> trong thư mục.</a:t>
            </a:r>
          </a:p>
        </p:txBody>
      </p:sp>
      <p:sp>
        <p:nvSpPr>
          <p:cNvPr id="15" name="Oval 14"/>
          <p:cNvSpPr/>
          <p:nvPr/>
        </p:nvSpPr>
        <p:spPr>
          <a:xfrm>
            <a:off x="685800" y="4453128"/>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453128"/>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7" name="TextBox 16"/>
          <p:cNvSpPr txBox="1"/>
          <p:nvPr/>
        </p:nvSpPr>
        <p:spPr>
          <a:xfrm>
            <a:off x="1097280" y="4425696"/>
            <a:ext cx="10424160" cy="310896"/>
          </a:xfrm>
          <a:prstGeom prst="rect">
            <a:avLst/>
          </a:prstGeom>
          <a:noFill/>
        </p:spPr>
        <p:txBody>
          <a:bodyPr wrap="square" anchor="ctr" lIns="0" rIns="0" tIns="0" bIns="0">
            <a:spAutoFit/>
          </a:bodyPr>
          <a:lstStyle/>
          <a:p>
            <a:pPr algn="l"/>
            <a:r>
              <a:rPr sz="1300" b="0">
                <a:solidFill>
                  <a:srgbClr val="111827"/>
                </a:solidFill>
                <a:latin typeface="Segoe UI"/>
              </a:rPr>
              <a:t>Cửa sổ đen hiện ra và tự cài đặt. Lối tắt được tạo trên màn hình nền và menu Start.</a:t>
            </a:r>
          </a:p>
        </p:txBody>
      </p:sp>
      <p:sp>
        <p:nvSpPr>
          <p:cNvPr id="18" name="Oval 17"/>
          <p:cNvSpPr/>
          <p:nvPr/>
        </p:nvSpPr>
        <p:spPr>
          <a:xfrm>
            <a:off x="685800" y="478231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782312"/>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20" name="TextBox 19"/>
          <p:cNvSpPr txBox="1"/>
          <p:nvPr/>
        </p:nvSpPr>
        <p:spPr>
          <a:xfrm>
            <a:off x="1097280" y="4754880"/>
            <a:ext cx="10424160" cy="310896"/>
          </a:xfrm>
          <a:prstGeom prst="rect">
            <a:avLst/>
          </a:prstGeom>
          <a:noFill/>
        </p:spPr>
        <p:txBody>
          <a:bodyPr wrap="square" anchor="ctr" lIns="0" rIns="0" tIns="0" bIns="0">
            <a:spAutoFit/>
          </a:bodyPr>
          <a:lstStyle/>
          <a:p>
            <a:pPr algn="l"/>
            <a:r>
              <a:rPr sz="1300" b="0">
                <a:solidFill>
                  <a:srgbClr val="111827"/>
                </a:solidFill>
                <a:latin typeface="Segoe UI"/>
              </a:rPr>
              <a:t>Từ nay chỉ cần chạy bằng biểu tượng </a:t>
            </a:r>
            <a:r>
              <a:rPr sz="1300" b="1">
                <a:solidFill>
                  <a:srgbClr val="111827"/>
                </a:solidFill>
                <a:latin typeface="Segoe UI"/>
              </a:rPr>
              <a:t>PIE</a:t>
            </a:r>
            <a:r>
              <a:rPr sz="1300" b="0">
                <a:solidFill>
                  <a:srgbClr val="111827"/>
                </a:solidFill>
                <a:latin typeface="Segoe UI"/>
              </a:rPr>
              <a:t> trên màn hình nền.</a:t>
            </a:r>
          </a:p>
        </p:txBody>
      </p:sp>
      <p:sp>
        <p:nvSpPr>
          <p:cNvPr id="21" name="TextBox 20"/>
          <p:cNvSpPr txBox="1"/>
          <p:nvPr/>
        </p:nvSpPr>
        <p:spPr>
          <a:xfrm>
            <a:off x="640080" y="5221224"/>
            <a:ext cx="10881360" cy="365760"/>
          </a:xfrm>
          <a:prstGeom prst="rect">
            <a:avLst/>
          </a:prstGeom>
          <a:noFill/>
        </p:spPr>
        <p:txBody>
          <a:bodyPr wrap="square" anchor="ctr" lIns="0" rIns="0" tIns="0" bIns="0">
            <a:spAutoFit/>
          </a:bodyPr>
          <a:lstStyle/>
          <a:p>
            <a:pPr algn="l"/>
            <a:r>
              <a:rPr sz="1500" b="1">
                <a:solidFill>
                  <a:srgbClr val="2563EB"/>
                </a:solidFill>
                <a:latin typeface="Segoe UI"/>
              </a:rPr>
              <a:t>Cách B — Chỉ sao chép thư mục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2. Cài đặt</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2/17</a:t>
            </a:r>
          </a:p>
        </p:txBody>
      </p:sp>
      <p:sp>
        <p:nvSpPr>
          <p:cNvPr id="5" name="Oval 4"/>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7" name="TextBox 6"/>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Sao chép toàn bộ thư mục PIE vào vị trí mong muốn (ví dụ </a:t>
            </a:r>
            <a:r>
              <a:rPr sz="1300" b="1">
                <a:solidFill>
                  <a:srgbClr val="2563EB"/>
                </a:solidFill>
                <a:latin typeface="Segoe UI"/>
              </a:rPr>
              <a:t>D:\PIE</a:t>
            </a:r>
            <a:r>
              <a:rPr sz="1300" b="0">
                <a:solidFill>
                  <a:srgbClr val="111827"/>
                </a:solidFill>
                <a:latin typeface="Segoe UI"/>
              </a:rPr>
              <a:t>).</a:t>
            </a:r>
          </a:p>
        </p:txBody>
      </p:sp>
      <p:sp>
        <p:nvSpPr>
          <p:cNvPr id="8" name="Oval 7"/>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0" name="TextBox 9"/>
          <p:cNvSpPr txBox="1"/>
          <p:nvPr/>
        </p:nvSpPr>
        <p:spPr>
          <a:xfrm>
            <a:off x="1097280" y="1472184"/>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Nhấp đúp </a:t>
            </a:r>
            <a:r>
              <a:rPr sz="1300" b="1">
                <a:solidFill>
                  <a:srgbClr val="2563EB"/>
                </a:solidFill>
                <a:latin typeface="Segoe UI"/>
              </a:rPr>
              <a:t>PIE(중국).bat</a:t>
            </a:r>
            <a:r>
              <a:rPr sz="1300" b="0">
                <a:solidFill>
                  <a:srgbClr val="111827"/>
                </a:solidFill>
                <a:latin typeface="Segoe UI"/>
              </a:rPr>
              <a:t> trong thư mục là chạy được ngay.</a:t>
            </a:r>
          </a:p>
        </p:txBody>
      </p:sp>
      <p:sp>
        <p:nvSpPr>
          <p:cNvPr id="11" name="Rounded Rectangle 10"/>
          <p:cNvSpPr/>
          <p:nvPr/>
        </p:nvSpPr>
        <p:spPr>
          <a:xfrm>
            <a:off x="685800" y="2212847"/>
            <a:ext cx="2468880" cy="137160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77439"/>
            <a:ext cx="2468880" cy="457200"/>
          </a:xfrm>
          <a:prstGeom prst="rect">
            <a:avLst/>
          </a:prstGeom>
          <a:noFill/>
        </p:spPr>
        <p:txBody>
          <a:bodyPr wrap="square" anchor="ctr" lIns="0" rIns="0" tIns="0" bIns="0">
            <a:spAutoFit/>
          </a:bodyPr>
          <a:lstStyle/>
          <a:p>
            <a:pPr algn="ctr"/>
            <a:r>
              <a:rPr sz="2600" b="0">
                <a:solidFill>
                  <a:srgbClr val="111827"/>
                </a:solidFill>
                <a:latin typeface="Segoe UI"/>
              </a:rPr>
              <a:t>📁</a:t>
            </a:r>
          </a:p>
        </p:txBody>
      </p:sp>
      <p:sp>
        <p:nvSpPr>
          <p:cNvPr id="13" name="TextBox 12"/>
          <p:cNvSpPr txBox="1"/>
          <p:nvPr/>
        </p:nvSpPr>
        <p:spPr>
          <a:xfrm>
            <a:off x="822960" y="2926079"/>
            <a:ext cx="2194560" cy="502920"/>
          </a:xfrm>
          <a:prstGeom prst="rect">
            <a:avLst/>
          </a:prstGeom>
          <a:noFill/>
        </p:spPr>
        <p:txBody>
          <a:bodyPr wrap="square" anchor="ctr" lIns="0" rIns="0" tIns="0" bIns="0">
            <a:spAutoFit/>
          </a:bodyPr>
          <a:lstStyle/>
          <a:p>
            <a:pPr algn="ctr"/>
            <a:r>
              <a:rPr sz="1250" b="1">
                <a:solidFill>
                  <a:srgbClr val="111827"/>
                </a:solidFill>
                <a:latin typeface="Segoe UI"/>
              </a:rPr>
              <a:t>Sao chép thư mục PIE</a:t>
            </a:r>
          </a:p>
        </p:txBody>
      </p:sp>
      <p:sp>
        <p:nvSpPr>
          <p:cNvPr id="14" name="TextBox 13"/>
          <p:cNvSpPr txBox="1"/>
          <p:nvPr/>
        </p:nvSpPr>
        <p:spPr>
          <a:xfrm>
            <a:off x="3200400" y="2715768"/>
            <a:ext cx="457200" cy="365760"/>
          </a:xfrm>
          <a:prstGeom prst="rect">
            <a:avLst/>
          </a:prstGeom>
          <a:noFill/>
        </p:spPr>
        <p:txBody>
          <a:bodyPr wrap="square" anchor="ctr" lIns="0" rIns="0" tIns="0" bIns="0">
            <a:spAutoFit/>
          </a:bodyPr>
          <a:lstStyle/>
          <a:p>
            <a:pPr algn="ctr"/>
            <a:r>
              <a:rPr sz="2000" b="0">
                <a:solidFill>
                  <a:srgbClr val="2563EB"/>
                </a:solidFill>
                <a:latin typeface="Segoe UI"/>
              </a:rPr>
              <a:t>▶</a:t>
            </a:r>
          </a:p>
        </p:txBody>
      </p:sp>
      <p:sp>
        <p:nvSpPr>
          <p:cNvPr id="15" name="Rounded Rectangle 14"/>
          <p:cNvSpPr/>
          <p:nvPr/>
        </p:nvSpPr>
        <p:spPr>
          <a:xfrm>
            <a:off x="3547872" y="2212847"/>
            <a:ext cx="2468880" cy="137160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7872" y="2377439"/>
            <a:ext cx="2468880" cy="457200"/>
          </a:xfrm>
          <a:prstGeom prst="rect">
            <a:avLst/>
          </a:prstGeom>
          <a:noFill/>
        </p:spPr>
        <p:txBody>
          <a:bodyPr wrap="square" anchor="ctr" lIns="0" rIns="0" tIns="0" bIns="0">
            <a:spAutoFit/>
          </a:bodyPr>
          <a:lstStyle/>
          <a:p>
            <a:pPr algn="ctr"/>
            <a:r>
              <a:rPr sz="2600" b="0">
                <a:solidFill>
                  <a:srgbClr val="111827"/>
                </a:solidFill>
                <a:latin typeface="Segoe UI"/>
              </a:rPr>
              <a:t>🖱</a:t>
            </a:r>
          </a:p>
        </p:txBody>
      </p:sp>
      <p:sp>
        <p:nvSpPr>
          <p:cNvPr id="17" name="TextBox 16"/>
          <p:cNvSpPr txBox="1"/>
          <p:nvPr/>
        </p:nvSpPr>
        <p:spPr>
          <a:xfrm>
            <a:off x="3685032" y="2926079"/>
            <a:ext cx="2194560" cy="502920"/>
          </a:xfrm>
          <a:prstGeom prst="rect">
            <a:avLst/>
          </a:prstGeom>
          <a:noFill/>
        </p:spPr>
        <p:txBody>
          <a:bodyPr wrap="square" anchor="ctr" lIns="0" rIns="0" tIns="0" bIns="0">
            <a:spAutoFit/>
          </a:bodyPr>
          <a:lstStyle/>
          <a:p>
            <a:pPr algn="ctr"/>
            <a:r>
              <a:rPr sz="1250" b="1">
                <a:solidFill>
                  <a:srgbClr val="111827"/>
                </a:solidFill>
                <a:latin typeface="Segoe UI"/>
              </a:rPr>
              <a:t>Nhấp đúp PIE(중국).bat</a:t>
            </a:r>
          </a:p>
        </p:txBody>
      </p:sp>
      <p:sp>
        <p:nvSpPr>
          <p:cNvPr id="18" name="TextBox 17"/>
          <p:cNvSpPr txBox="1"/>
          <p:nvPr/>
        </p:nvSpPr>
        <p:spPr>
          <a:xfrm>
            <a:off x="6062472" y="2715768"/>
            <a:ext cx="457200" cy="365760"/>
          </a:xfrm>
          <a:prstGeom prst="rect">
            <a:avLst/>
          </a:prstGeom>
          <a:noFill/>
        </p:spPr>
        <p:txBody>
          <a:bodyPr wrap="square" anchor="ctr" lIns="0" rIns="0" tIns="0" bIns="0">
            <a:spAutoFit/>
          </a:bodyPr>
          <a:lstStyle/>
          <a:p>
            <a:pPr algn="ctr"/>
            <a:r>
              <a:rPr sz="2000" b="0">
                <a:solidFill>
                  <a:srgbClr val="2563EB"/>
                </a:solidFill>
                <a:latin typeface="Segoe UI"/>
              </a:rPr>
              <a:t>▶</a:t>
            </a:r>
          </a:p>
        </p:txBody>
      </p:sp>
      <p:sp>
        <p:nvSpPr>
          <p:cNvPr id="19" name="Rounded Rectangle 18"/>
          <p:cNvSpPr/>
          <p:nvPr/>
        </p:nvSpPr>
        <p:spPr>
          <a:xfrm>
            <a:off x="6409944" y="2212847"/>
            <a:ext cx="2468880" cy="137160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2377439"/>
            <a:ext cx="2468880" cy="457200"/>
          </a:xfrm>
          <a:prstGeom prst="rect">
            <a:avLst/>
          </a:prstGeom>
          <a:noFill/>
        </p:spPr>
        <p:txBody>
          <a:bodyPr wrap="square" anchor="ctr" lIns="0" rIns="0" tIns="0" bIns="0">
            <a:spAutoFit/>
          </a:bodyPr>
          <a:lstStyle/>
          <a:p>
            <a:pPr algn="ctr"/>
            <a:r>
              <a:rPr sz="2600" b="0">
                <a:solidFill>
                  <a:srgbClr val="111827"/>
                </a:solidFill>
                <a:latin typeface="Segoe UI"/>
              </a:rPr>
              <a:t>⬛</a:t>
            </a:r>
          </a:p>
        </p:txBody>
      </p:sp>
      <p:sp>
        <p:nvSpPr>
          <p:cNvPr id="21" name="TextBox 20"/>
          <p:cNvSpPr txBox="1"/>
          <p:nvPr/>
        </p:nvSpPr>
        <p:spPr>
          <a:xfrm>
            <a:off x="6547104" y="2926079"/>
            <a:ext cx="2194560" cy="502920"/>
          </a:xfrm>
          <a:prstGeom prst="rect">
            <a:avLst/>
          </a:prstGeom>
          <a:noFill/>
        </p:spPr>
        <p:txBody>
          <a:bodyPr wrap="square" anchor="ctr" lIns="0" rIns="0" tIns="0" bIns="0">
            <a:spAutoFit/>
          </a:bodyPr>
          <a:lstStyle/>
          <a:p>
            <a:pPr algn="ctr"/>
            <a:r>
              <a:rPr sz="1250" b="1">
                <a:solidFill>
                  <a:srgbClr val="111827"/>
                </a:solidFill>
                <a:latin typeface="Segoe UI"/>
              </a:rPr>
              <a:t>Cửa sổ đen hiện ra</a:t>
            </a:r>
          </a:p>
        </p:txBody>
      </p:sp>
      <p:sp>
        <p:nvSpPr>
          <p:cNvPr id="22" name="TextBox 21"/>
          <p:cNvSpPr txBox="1"/>
          <p:nvPr/>
        </p:nvSpPr>
        <p:spPr>
          <a:xfrm>
            <a:off x="8924544" y="2715768"/>
            <a:ext cx="457200" cy="365760"/>
          </a:xfrm>
          <a:prstGeom prst="rect">
            <a:avLst/>
          </a:prstGeom>
          <a:noFill/>
        </p:spPr>
        <p:txBody>
          <a:bodyPr wrap="square" anchor="ctr" lIns="0" rIns="0" tIns="0" bIns="0">
            <a:spAutoFit/>
          </a:bodyPr>
          <a:lstStyle/>
          <a:p>
            <a:pPr algn="ctr"/>
            <a:r>
              <a:rPr sz="2000" b="0">
                <a:solidFill>
                  <a:srgbClr val="2563EB"/>
                </a:solidFill>
                <a:latin typeface="Segoe UI"/>
              </a:rPr>
              <a:t>▶</a:t>
            </a:r>
          </a:p>
        </p:txBody>
      </p:sp>
      <p:sp>
        <p:nvSpPr>
          <p:cNvPr id="23" name="Rounded Rectangle 22"/>
          <p:cNvSpPr/>
          <p:nvPr/>
        </p:nvSpPr>
        <p:spPr>
          <a:xfrm>
            <a:off x="9272016" y="2212847"/>
            <a:ext cx="2468880" cy="137160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2016" y="2377439"/>
            <a:ext cx="2468880" cy="457200"/>
          </a:xfrm>
          <a:prstGeom prst="rect">
            <a:avLst/>
          </a:prstGeom>
          <a:noFill/>
        </p:spPr>
        <p:txBody>
          <a:bodyPr wrap="square" anchor="ctr" lIns="0" rIns="0" tIns="0" bIns="0">
            <a:spAutoFit/>
          </a:bodyPr>
          <a:lstStyle/>
          <a:p>
            <a:pPr algn="ctr"/>
            <a:r>
              <a:rPr sz="2600" b="0">
                <a:solidFill>
                  <a:srgbClr val="111827"/>
                </a:solidFill>
                <a:latin typeface="Segoe UI"/>
              </a:rPr>
              <a:t>🌐</a:t>
            </a:r>
          </a:p>
        </p:txBody>
      </p:sp>
      <p:sp>
        <p:nvSpPr>
          <p:cNvPr id="25" name="TextBox 24"/>
          <p:cNvSpPr txBox="1"/>
          <p:nvPr/>
        </p:nvSpPr>
        <p:spPr>
          <a:xfrm>
            <a:off x="9409176" y="2926079"/>
            <a:ext cx="2194560" cy="502920"/>
          </a:xfrm>
          <a:prstGeom prst="rect">
            <a:avLst/>
          </a:prstGeom>
          <a:noFill/>
        </p:spPr>
        <p:txBody>
          <a:bodyPr wrap="square" anchor="ctr" lIns="0" rIns="0" tIns="0" bIns="0">
            <a:spAutoFit/>
          </a:bodyPr>
          <a:lstStyle/>
          <a:p>
            <a:pPr algn="ctr"/>
            <a:r>
              <a:rPr sz="1250" b="1">
                <a:solidFill>
                  <a:srgbClr val="111827"/>
                </a:solidFill>
                <a:latin typeface="Segoe UI"/>
              </a:rPr>
              <a:t>Trình duyệt tự mở</a:t>
            </a:r>
          </a:p>
        </p:txBody>
      </p:sp>
      <p:sp>
        <p:nvSpPr>
          <p:cNvPr id="26" name="TextBox 25"/>
          <p:cNvSpPr txBox="1"/>
          <p:nvPr/>
        </p:nvSpPr>
        <p:spPr>
          <a:xfrm>
            <a:off x="685800" y="3767327"/>
            <a:ext cx="10789920" cy="320040"/>
          </a:xfrm>
          <a:prstGeom prst="rect">
            <a:avLst/>
          </a:prstGeom>
          <a:noFill/>
        </p:spPr>
        <p:txBody>
          <a:bodyPr wrap="square" anchor="ctr" lIns="0" rIns="0" tIns="0" bIns="0">
            <a:spAutoFit/>
          </a:bodyPr>
          <a:lstStyle/>
          <a:p>
            <a:pPr algn="ctr"/>
            <a:r>
              <a:rPr sz="1250" b="1">
                <a:solidFill>
                  <a:srgbClr val="DC2626"/>
                </a:solidFill>
                <a:latin typeface="Segoe UI"/>
              </a:rPr>
              <a:t>⚠ Tắt cửa sổ đen là chương trình dừng — hãy để nguyên</a:t>
            </a:r>
          </a:p>
        </p:txBody>
      </p:sp>
      <p:sp>
        <p:nvSpPr>
          <p:cNvPr id="27" name="TextBox 26"/>
          <p:cNvSpPr txBox="1"/>
          <p:nvPr/>
        </p:nvSpPr>
        <p:spPr>
          <a:xfrm>
            <a:off x="548640" y="4224527"/>
            <a:ext cx="11064240" cy="292608"/>
          </a:xfrm>
          <a:prstGeom prst="rect">
            <a:avLst/>
          </a:prstGeom>
          <a:noFill/>
        </p:spPr>
        <p:txBody>
          <a:bodyPr wrap="square" anchor="ctr" lIns="0" rIns="0" tIns="0" bIns="0">
            <a:spAutoFit/>
          </a:bodyPr>
          <a:lstStyle/>
          <a:p>
            <a:pPr algn="ctr"/>
            <a:r>
              <a:rPr sz="1150" b="0">
                <a:solidFill>
                  <a:srgbClr val="94A3B8"/>
                </a:solidFill>
                <a:latin typeface="Segoe UI"/>
              </a:rPr>
              <a:t>Luồng từ cài đặt đến lần chạy đầu tiên</a:t>
            </a:r>
          </a:p>
        </p:txBody>
      </p:sp>
      <p:sp>
        <p:nvSpPr>
          <p:cNvPr id="28" name="Rounded Rectangle 27"/>
          <p:cNvSpPr/>
          <p:nvPr/>
        </p:nvSpPr>
        <p:spPr>
          <a:xfrm>
            <a:off x="640080" y="4681727"/>
            <a:ext cx="10881360" cy="566928"/>
          </a:xfrm>
          <a:prstGeom prst="roundRect">
            <a:avLst>
              <a:gd name="adj" fmla="val 8000"/>
            </a:avLst>
          </a:prstGeom>
          <a:solidFill>
            <a:srgbClr val="FE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681727"/>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Đừng bỏ sót tệp nào trong thư mục.</a:t>
            </a:r>
            <a:r>
              <a:rPr sz="1250" b="0">
                <a:solidFill>
                  <a:srgbClr val="111827"/>
                </a:solidFill>
                <a:latin typeface="Segoe UI"/>
              </a:rPr>
              <a:t> Thiếu thư mục </a:t>
            </a:r>
            <a:r>
              <a:rPr sz="1250" b="1">
                <a:solidFill>
                  <a:srgbClr val="2563EB"/>
                </a:solidFill>
                <a:latin typeface="Segoe UI"/>
              </a:rPr>
              <a:t>mediapipe</a:t>
            </a:r>
            <a:r>
              <a:rPr sz="1250" b="0">
                <a:solidFill>
                  <a:srgbClr val="111827"/>
                </a:solidFill>
                <a:latin typeface="Segoe UI"/>
              </a:rPr>
              <a:t> thì chức năng so sánh tư thế (Pose) sẽ không chạy. Phải sao chép </a:t>
            </a:r>
            <a:r>
              <a:rPr sz="1250" b="1">
                <a:solidFill>
                  <a:srgbClr val="111827"/>
                </a:solidFill>
                <a:latin typeface="Segoe UI"/>
              </a:rPr>
              <a:t>nguyên cả thư mục</a:t>
            </a:r>
            <a:r>
              <a:rPr sz="1250" b="0">
                <a:solidFill>
                  <a:srgbClr val="111827"/>
                </a:solidFill>
                <a:latin typeface="Segoe U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3. Chạy lần đầu</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Cửa sổ đen hiện ra, sau đó trình duyệt tự mở. Đừng tắt cửa sổ đen.</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3/17</a:t>
            </a:r>
          </a:p>
        </p:txBody>
      </p:sp>
      <p:sp>
        <p:nvSpPr>
          <p:cNvPr id="6" name="Oval 5"/>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8" name="TextBox 7"/>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Nhấp đúp biểu tượng </a:t>
            </a:r>
            <a:r>
              <a:rPr sz="1300" b="1">
                <a:solidFill>
                  <a:srgbClr val="111827"/>
                </a:solidFill>
                <a:latin typeface="Segoe UI"/>
              </a:rPr>
              <a:t>PIE</a:t>
            </a:r>
            <a:r>
              <a:rPr sz="1300" b="0">
                <a:solidFill>
                  <a:srgbClr val="111827"/>
                </a:solidFill>
                <a:latin typeface="Segoe UI"/>
              </a:rPr>
              <a:t> (hoặc </a:t>
            </a:r>
            <a:r>
              <a:rPr sz="1300" b="1">
                <a:solidFill>
                  <a:srgbClr val="2563EB"/>
                </a:solidFill>
                <a:latin typeface="Segoe UI"/>
              </a:rPr>
              <a:t>PIE(중국).bat</a:t>
            </a:r>
            <a:r>
              <a:rPr sz="1300" b="0">
                <a:solidFill>
                  <a:srgbClr val="111827"/>
                </a:solidFill>
                <a:latin typeface="Segoe UI"/>
              </a:rPr>
              <a:t>).</a:t>
            </a:r>
          </a:p>
        </p:txBody>
      </p:sp>
      <p:sp>
        <p:nvSpPr>
          <p:cNvPr id="9" name="Oval 8"/>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1" name="TextBox 10"/>
          <p:cNvSpPr txBox="1"/>
          <p:nvPr/>
        </p:nvSpPr>
        <p:spPr>
          <a:xfrm>
            <a:off x="1097280" y="1472184"/>
            <a:ext cx="10424160" cy="310896"/>
          </a:xfrm>
          <a:prstGeom prst="rect">
            <a:avLst/>
          </a:prstGeom>
          <a:noFill/>
        </p:spPr>
        <p:txBody>
          <a:bodyPr wrap="square" anchor="ctr" lIns="0" rIns="0" tIns="0" bIns="0">
            <a:spAutoFit/>
          </a:bodyPr>
          <a:lstStyle/>
          <a:p>
            <a:pPr algn="l"/>
            <a:r>
              <a:rPr sz="1300" b="1">
                <a:solidFill>
                  <a:srgbClr val="111827"/>
                </a:solidFill>
                <a:latin typeface="Segoe UI"/>
              </a:rPr>
              <a:t>Cửa sổ lệnh màu đen</a:t>
            </a:r>
            <a:r>
              <a:rPr sz="1300" b="0">
                <a:solidFill>
                  <a:srgbClr val="111827"/>
                </a:solidFill>
                <a:latin typeface="Segoe UI"/>
              </a:rPr>
              <a:t> hiện ra. Đây là trái tim của chương trình, </a:t>
            </a:r>
            <a:r>
              <a:rPr sz="1300" b="1">
                <a:solidFill>
                  <a:srgbClr val="111827"/>
                </a:solidFill>
                <a:latin typeface="Segoe UI"/>
              </a:rPr>
              <a:t>tắt nó là chương trình dừng</a:t>
            </a:r>
            <a:r>
              <a:rPr sz="1300" b="0">
                <a:solidFill>
                  <a:srgbClr val="111827"/>
                </a:solidFill>
                <a:latin typeface="Segoe UI"/>
              </a:rPr>
              <a:t>. Hãy để nguyên.</a:t>
            </a:r>
          </a:p>
        </p:txBody>
      </p:sp>
      <p:sp>
        <p:nvSpPr>
          <p:cNvPr id="12" name="Oval 11"/>
          <p:cNvSpPr/>
          <p:nvPr/>
        </p:nvSpPr>
        <p:spPr>
          <a:xfrm>
            <a:off x="685800" y="182879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28799"/>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4" name="TextBox 13"/>
          <p:cNvSpPr txBox="1"/>
          <p:nvPr/>
        </p:nvSpPr>
        <p:spPr>
          <a:xfrm>
            <a:off x="1097280" y="1801367"/>
            <a:ext cx="10424160" cy="310896"/>
          </a:xfrm>
          <a:prstGeom prst="rect">
            <a:avLst/>
          </a:prstGeom>
          <a:noFill/>
        </p:spPr>
        <p:txBody>
          <a:bodyPr wrap="square" anchor="ctr" lIns="0" rIns="0" tIns="0" bIns="0">
            <a:spAutoFit/>
          </a:bodyPr>
          <a:lstStyle/>
          <a:p>
            <a:pPr algn="l"/>
            <a:r>
              <a:rPr sz="1300" b="0">
                <a:solidFill>
                  <a:srgbClr val="111827"/>
                </a:solidFill>
                <a:latin typeface="Segoe UI"/>
              </a:rPr>
              <a:t>Một lát sau trình duyệt tự mở, địa chỉ là </a:t>
            </a:r>
            <a:r>
              <a:rPr sz="1300" b="1">
                <a:solidFill>
                  <a:srgbClr val="2563EB"/>
                </a:solidFill>
                <a:latin typeface="Segoe UI"/>
              </a:rPr>
              <a:t>http://127.0.0.1:8791/PIE.html</a:t>
            </a:r>
            <a:r>
              <a:rPr sz="1300" b="0">
                <a:solidFill>
                  <a:srgbClr val="111827"/>
                </a:solidFill>
                <a:latin typeface="Segoe UI"/>
              </a:rPr>
              <a:t>.</a:t>
            </a:r>
          </a:p>
        </p:txBody>
      </p:sp>
      <p:sp>
        <p:nvSpPr>
          <p:cNvPr id="15" name="Oval 14"/>
          <p:cNvSpPr/>
          <p:nvPr/>
        </p:nvSpPr>
        <p:spPr>
          <a:xfrm>
            <a:off x="685800" y="2157983"/>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57983"/>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17" name="TextBox 16"/>
          <p:cNvSpPr txBox="1"/>
          <p:nvPr/>
        </p:nvSpPr>
        <p:spPr>
          <a:xfrm>
            <a:off x="1097280" y="2130551"/>
            <a:ext cx="10424160" cy="310896"/>
          </a:xfrm>
          <a:prstGeom prst="rect">
            <a:avLst/>
          </a:prstGeom>
          <a:noFill/>
        </p:spPr>
        <p:txBody>
          <a:bodyPr wrap="square" anchor="ctr" lIns="0" rIns="0" tIns="0" bIns="0">
            <a:spAutoFit/>
          </a:bodyPr>
          <a:lstStyle/>
          <a:p>
            <a:pPr algn="l"/>
            <a:r>
              <a:rPr sz="1300" b="0">
                <a:solidFill>
                  <a:srgbClr val="111827"/>
                </a:solidFill>
                <a:latin typeface="Segoe UI"/>
              </a:rPr>
              <a:t>Chỉ lần đầu, nhập </a:t>
            </a:r>
            <a:r>
              <a:rPr sz="1300" b="1">
                <a:solidFill>
                  <a:srgbClr val="111827"/>
                </a:solidFill>
                <a:latin typeface="Segoe UI"/>
              </a:rPr>
              <a:t>khóa bản quyền</a:t>
            </a:r>
            <a:r>
              <a:rPr sz="1300" b="0">
                <a:solidFill>
                  <a:srgbClr val="111827"/>
                </a:solidFill>
                <a:latin typeface="Segoe UI"/>
              </a:rPr>
              <a:t> rồi nhấn [Kích hoạt]. (Dạng: </a:t>
            </a:r>
            <a:r>
              <a:rPr sz="1300" b="1">
                <a:solidFill>
                  <a:srgbClr val="2563EB"/>
                </a:solidFill>
                <a:latin typeface="Segoe UI"/>
              </a:rPr>
              <a:t>PIE-XXXX-XXXX-XXXX</a:t>
            </a:r>
            <a:r>
              <a:rPr sz="1300" b="0">
                <a:solidFill>
                  <a:srgbClr val="111827"/>
                </a:solidFill>
                <a:latin typeface="Segoe UI"/>
              </a:rPr>
              <a:t>)</a:t>
            </a:r>
          </a:p>
        </p:txBody>
      </p:sp>
      <p:sp>
        <p:nvSpPr>
          <p:cNvPr id="18" name="Oval 17"/>
          <p:cNvSpPr/>
          <p:nvPr/>
        </p:nvSpPr>
        <p:spPr>
          <a:xfrm>
            <a:off x="685800" y="2487167"/>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87167"/>
            <a:ext cx="274320" cy="274320"/>
          </a:xfrm>
          <a:prstGeom prst="rect">
            <a:avLst/>
          </a:prstGeom>
          <a:noFill/>
        </p:spPr>
        <p:txBody>
          <a:bodyPr wrap="square" anchor="ctr" lIns="0" rIns="0" tIns="0" bIns="0">
            <a:spAutoFit/>
          </a:bodyPr>
          <a:lstStyle/>
          <a:p>
            <a:pPr algn="ctr"/>
            <a:r>
              <a:rPr sz="1200" b="1">
                <a:solidFill>
                  <a:srgbClr val="FFFFFF"/>
                </a:solidFill>
                <a:latin typeface="Segoe UI"/>
              </a:rPr>
              <a:t>5</a:t>
            </a:r>
          </a:p>
        </p:txBody>
      </p:sp>
      <p:sp>
        <p:nvSpPr>
          <p:cNvPr id="20" name="TextBox 19"/>
          <p:cNvSpPr txBox="1"/>
          <p:nvPr/>
        </p:nvSpPr>
        <p:spPr>
          <a:xfrm>
            <a:off x="1097280" y="2459735"/>
            <a:ext cx="10424160" cy="310896"/>
          </a:xfrm>
          <a:prstGeom prst="rect">
            <a:avLst/>
          </a:prstGeom>
          <a:noFill/>
        </p:spPr>
        <p:txBody>
          <a:bodyPr wrap="square" anchor="ctr" lIns="0" rIns="0" tIns="0" bIns="0">
            <a:spAutoFit/>
          </a:bodyPr>
          <a:lstStyle/>
          <a:p>
            <a:pPr algn="l"/>
            <a:r>
              <a:rPr sz="1300" b="0">
                <a:solidFill>
                  <a:srgbClr val="111827"/>
                </a:solidFill>
                <a:latin typeface="Segoe UI"/>
              </a:rPr>
              <a:t>Khi màn hình bắt đầu hiện ra là đã sẵn sàng.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3. Chạy lần đầu</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3/17</a:t>
            </a:r>
          </a:p>
        </p:txBody>
      </p:sp>
      <p:sp>
        <p:nvSpPr>
          <p:cNvPr id="5" name="Rounded Rectangle 4"/>
          <p:cNvSpPr/>
          <p:nvPr/>
        </p:nvSpPr>
        <p:spPr>
          <a:xfrm>
            <a:off x="822960" y="1417320"/>
            <a:ext cx="10515600" cy="365760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472184"/>
            <a:ext cx="1691640" cy="35478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7824" y="1545336"/>
            <a:ext cx="1691640" cy="27432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7824" y="1545336"/>
            <a:ext cx="45720" cy="274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563624"/>
            <a:ext cx="1463040" cy="256032"/>
          </a:xfrm>
          <a:prstGeom prst="rect">
            <a:avLst/>
          </a:prstGeom>
          <a:noFill/>
        </p:spPr>
        <p:txBody>
          <a:bodyPr wrap="square" anchor="ctr" lIns="0" rIns="0" tIns="0" bIns="0">
            <a:spAutoFit/>
          </a:bodyPr>
          <a:lstStyle/>
          <a:p>
            <a:pPr algn="l"/>
            <a:r>
              <a:rPr sz="1000" b="1">
                <a:solidFill>
                  <a:srgbClr val="FFFFFF"/>
                </a:solidFill>
                <a:latin typeface="Segoe UI"/>
              </a:rPr>
              <a:t>Trang chủ</a:t>
            </a:r>
          </a:p>
        </p:txBody>
      </p:sp>
      <p:sp>
        <p:nvSpPr>
          <p:cNvPr id="10" name="TextBox 9"/>
          <p:cNvSpPr txBox="1"/>
          <p:nvPr/>
        </p:nvSpPr>
        <p:spPr>
          <a:xfrm>
            <a:off x="1024128" y="1847088"/>
            <a:ext cx="1463040" cy="256032"/>
          </a:xfrm>
          <a:prstGeom prst="rect">
            <a:avLst/>
          </a:prstGeom>
          <a:noFill/>
        </p:spPr>
        <p:txBody>
          <a:bodyPr wrap="square" anchor="ctr" lIns="0" rIns="0" tIns="0" bIns="0">
            <a:spAutoFit/>
          </a:bodyPr>
          <a:lstStyle/>
          <a:p>
            <a:pPr algn="l"/>
            <a:r>
              <a:rPr sz="1000" b="0">
                <a:solidFill>
                  <a:srgbClr val="64748B"/>
                </a:solidFill>
                <a:latin typeface="Segoe UI"/>
              </a:rPr>
              <a:t>Phân tích thao tác</a:t>
            </a:r>
          </a:p>
        </p:txBody>
      </p:sp>
      <p:sp>
        <p:nvSpPr>
          <p:cNvPr id="11" name="TextBox 10"/>
          <p:cNvSpPr txBox="1"/>
          <p:nvPr/>
        </p:nvSpPr>
        <p:spPr>
          <a:xfrm>
            <a:off x="1024128" y="2130552"/>
            <a:ext cx="1463040" cy="256032"/>
          </a:xfrm>
          <a:prstGeom prst="rect">
            <a:avLst/>
          </a:prstGeom>
          <a:noFill/>
        </p:spPr>
        <p:txBody>
          <a:bodyPr wrap="square" anchor="ctr" lIns="0" rIns="0" tIns="0" bIns="0">
            <a:spAutoFit/>
          </a:bodyPr>
          <a:lstStyle/>
          <a:p>
            <a:pPr algn="l"/>
            <a:r>
              <a:rPr sz="1000" b="0">
                <a:solidFill>
                  <a:srgbClr val="64748B"/>
                </a:solidFill>
                <a:latin typeface="Segoe UI"/>
              </a:rPr>
              <a:t>Biểu đồ</a:t>
            </a:r>
          </a:p>
        </p:txBody>
      </p:sp>
      <p:sp>
        <p:nvSpPr>
          <p:cNvPr id="12" name="TextBox 11"/>
          <p:cNvSpPr txBox="1"/>
          <p:nvPr/>
        </p:nvSpPr>
        <p:spPr>
          <a:xfrm>
            <a:off x="1024128" y="2414015"/>
            <a:ext cx="1463040" cy="256032"/>
          </a:xfrm>
          <a:prstGeom prst="rect">
            <a:avLst/>
          </a:prstGeom>
          <a:noFill/>
        </p:spPr>
        <p:txBody>
          <a:bodyPr wrap="square" anchor="ctr" lIns="0" rIns="0" tIns="0" bIns="0">
            <a:spAutoFit/>
          </a:bodyPr>
          <a:lstStyle/>
          <a:p>
            <a:pPr algn="l"/>
            <a:r>
              <a:rPr sz="1000" b="0">
                <a:solidFill>
                  <a:srgbClr val="64748B"/>
                </a:solidFill>
                <a:latin typeface="Segoe UI"/>
              </a:rPr>
              <a:t>Kết quả</a:t>
            </a:r>
          </a:p>
        </p:txBody>
      </p:sp>
      <p:sp>
        <p:nvSpPr>
          <p:cNvPr id="13" name="TextBox 12"/>
          <p:cNvSpPr txBox="1"/>
          <p:nvPr/>
        </p:nvSpPr>
        <p:spPr>
          <a:xfrm>
            <a:off x="1024128" y="2697480"/>
            <a:ext cx="1463040" cy="256032"/>
          </a:xfrm>
          <a:prstGeom prst="rect">
            <a:avLst/>
          </a:prstGeom>
          <a:noFill/>
        </p:spPr>
        <p:txBody>
          <a:bodyPr wrap="square" anchor="ctr" lIns="0" rIns="0" tIns="0" bIns="0">
            <a:spAutoFit/>
          </a:bodyPr>
          <a:lstStyle/>
          <a:p>
            <a:pPr algn="l"/>
            <a:r>
              <a:rPr sz="1000" b="0">
                <a:solidFill>
                  <a:srgbClr val="64748B"/>
                </a:solidFill>
                <a:latin typeface="Segoe UI"/>
              </a:rPr>
              <a:t>So sánh video</a:t>
            </a:r>
          </a:p>
        </p:txBody>
      </p:sp>
      <p:sp>
        <p:nvSpPr>
          <p:cNvPr id="14" name="TextBox 13"/>
          <p:cNvSpPr txBox="1"/>
          <p:nvPr/>
        </p:nvSpPr>
        <p:spPr>
          <a:xfrm>
            <a:off x="1024128" y="2980944"/>
            <a:ext cx="1463040" cy="256032"/>
          </a:xfrm>
          <a:prstGeom prst="rect">
            <a:avLst/>
          </a:prstGeom>
          <a:noFill/>
        </p:spPr>
        <p:txBody>
          <a:bodyPr wrap="square" anchor="ctr" lIns="0" rIns="0" tIns="0" bIns="0">
            <a:spAutoFit/>
          </a:bodyPr>
          <a:lstStyle/>
          <a:p>
            <a:pPr algn="l"/>
            <a:r>
              <a:rPr sz="1000" b="0">
                <a:solidFill>
                  <a:srgbClr val="64748B"/>
                </a:solidFill>
                <a:latin typeface="Segoe UI"/>
              </a:rPr>
              <a:t>Phân tích chuyền</a:t>
            </a:r>
          </a:p>
        </p:txBody>
      </p:sp>
      <p:sp>
        <p:nvSpPr>
          <p:cNvPr id="15" name="TextBox 14"/>
          <p:cNvSpPr txBox="1"/>
          <p:nvPr/>
        </p:nvSpPr>
        <p:spPr>
          <a:xfrm>
            <a:off x="1024128" y="3264408"/>
            <a:ext cx="1463040" cy="256032"/>
          </a:xfrm>
          <a:prstGeom prst="rect">
            <a:avLst/>
          </a:prstGeom>
          <a:noFill/>
        </p:spPr>
        <p:txBody>
          <a:bodyPr wrap="square" anchor="ctr" lIns="0" rIns="0" tIns="0" bIns="0">
            <a:spAutoFit/>
          </a:bodyPr>
          <a:lstStyle/>
          <a:p>
            <a:pPr algn="l"/>
            <a:r>
              <a:rPr sz="1000" b="0">
                <a:solidFill>
                  <a:srgbClr val="64748B"/>
                </a:solidFill>
                <a:latin typeface="Segoe UI"/>
              </a:rPr>
              <a:t>Phân bổ</a:t>
            </a:r>
          </a:p>
        </p:txBody>
      </p:sp>
      <p:sp>
        <p:nvSpPr>
          <p:cNvPr id="16" name="TextBox 15"/>
          <p:cNvSpPr txBox="1"/>
          <p:nvPr/>
        </p:nvSpPr>
        <p:spPr>
          <a:xfrm>
            <a:off x="1024128" y="3547872"/>
            <a:ext cx="1463040" cy="256032"/>
          </a:xfrm>
          <a:prstGeom prst="rect">
            <a:avLst/>
          </a:prstGeom>
          <a:noFill/>
        </p:spPr>
        <p:txBody>
          <a:bodyPr wrap="square" anchor="ctr" lIns="0" rIns="0" tIns="0" bIns="0">
            <a:spAutoFit/>
          </a:bodyPr>
          <a:lstStyle/>
          <a:p>
            <a:pPr algn="l"/>
            <a:r>
              <a:rPr sz="1000" b="0">
                <a:solidFill>
                  <a:srgbClr val="64748B"/>
                </a:solidFill>
                <a:latin typeface="Segoe UI"/>
              </a:rPr>
              <a:t>Mô phỏng</a:t>
            </a:r>
          </a:p>
        </p:txBody>
      </p:sp>
      <p:sp>
        <p:nvSpPr>
          <p:cNvPr id="17" name="TextBox 16"/>
          <p:cNvSpPr txBox="1"/>
          <p:nvPr/>
        </p:nvSpPr>
        <p:spPr>
          <a:xfrm>
            <a:off x="1024128" y="3831335"/>
            <a:ext cx="1463040" cy="256032"/>
          </a:xfrm>
          <a:prstGeom prst="rect">
            <a:avLst/>
          </a:prstGeom>
          <a:noFill/>
        </p:spPr>
        <p:txBody>
          <a:bodyPr wrap="square" anchor="ctr" lIns="0" rIns="0" tIns="0" bIns="0">
            <a:spAutoFit/>
          </a:bodyPr>
          <a:lstStyle/>
          <a:p>
            <a:pPr algn="l"/>
            <a:r>
              <a:rPr sz="1000" b="0">
                <a:solidFill>
                  <a:srgbClr val="64748B"/>
                </a:solidFill>
                <a:latin typeface="Segoe UI"/>
              </a:rPr>
              <a:t>Quản lý linh kiện</a:t>
            </a:r>
          </a:p>
        </p:txBody>
      </p:sp>
      <p:sp>
        <p:nvSpPr>
          <p:cNvPr id="18" name="TextBox 17"/>
          <p:cNvSpPr txBox="1"/>
          <p:nvPr/>
        </p:nvSpPr>
        <p:spPr>
          <a:xfrm>
            <a:off x="1024128" y="4114800"/>
            <a:ext cx="1463040" cy="256032"/>
          </a:xfrm>
          <a:prstGeom prst="rect">
            <a:avLst/>
          </a:prstGeom>
          <a:noFill/>
        </p:spPr>
        <p:txBody>
          <a:bodyPr wrap="square" anchor="ctr" lIns="0" rIns="0" tIns="0" bIns="0">
            <a:spAutoFit/>
          </a:bodyPr>
          <a:lstStyle/>
          <a:p>
            <a:pPr algn="l"/>
            <a:r>
              <a:rPr sz="1000" b="0">
                <a:solidFill>
                  <a:srgbClr val="64748B"/>
                </a:solidFill>
                <a:latin typeface="Segoe UI"/>
              </a:rPr>
              <a:t>Dự đoán chuyền</a:t>
            </a:r>
          </a:p>
        </p:txBody>
      </p:sp>
      <p:sp>
        <p:nvSpPr>
          <p:cNvPr id="19" name="TextBox 18"/>
          <p:cNvSpPr txBox="1"/>
          <p:nvPr/>
        </p:nvSpPr>
        <p:spPr>
          <a:xfrm>
            <a:off x="2633472" y="1874519"/>
            <a:ext cx="8503920" cy="548640"/>
          </a:xfrm>
          <a:prstGeom prst="rect">
            <a:avLst/>
          </a:prstGeom>
          <a:noFill/>
        </p:spPr>
        <p:txBody>
          <a:bodyPr wrap="square" anchor="ctr" lIns="0" rIns="0" tIns="0" bIns="0">
            <a:spAutoFit/>
          </a:bodyPr>
          <a:lstStyle/>
          <a:p>
            <a:pPr algn="ctr"/>
            <a:r>
              <a:rPr sz="3000" b="1">
                <a:solidFill>
                  <a:srgbClr val="60A5FA"/>
                </a:solidFill>
                <a:latin typeface="Segoe UI"/>
              </a:rPr>
              <a:t>PIE</a:t>
            </a:r>
          </a:p>
        </p:txBody>
      </p:sp>
      <p:sp>
        <p:nvSpPr>
          <p:cNvPr id="20" name="TextBox 19"/>
          <p:cNvSpPr txBox="1"/>
          <p:nvPr/>
        </p:nvSpPr>
        <p:spPr>
          <a:xfrm>
            <a:off x="2633472" y="2423160"/>
            <a:ext cx="8503920" cy="365760"/>
          </a:xfrm>
          <a:prstGeom prst="rect">
            <a:avLst/>
          </a:prstGeom>
          <a:noFill/>
        </p:spPr>
        <p:txBody>
          <a:bodyPr wrap="square" anchor="ctr" lIns="0" rIns="0" tIns="0" bIns="0">
            <a:spAutoFit/>
          </a:bodyPr>
          <a:lstStyle/>
          <a:p>
            <a:pPr algn="ctr"/>
            <a:r>
              <a:rPr sz="1200" b="0">
                <a:solidFill>
                  <a:srgbClr val="94A3B8"/>
                </a:solidFill>
                <a:latin typeface="Segoe UI"/>
              </a:rPr>
              <a:t>Powernet Industrial Engineering</a:t>
            </a:r>
          </a:p>
        </p:txBody>
      </p:sp>
      <p:sp>
        <p:nvSpPr>
          <p:cNvPr id="21" name="Rounded Rectangle 20"/>
          <p:cNvSpPr/>
          <p:nvPr/>
        </p:nvSpPr>
        <p:spPr>
          <a:xfrm>
            <a:off x="4416552" y="2971800"/>
            <a:ext cx="4937760" cy="68580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6552" y="2971800"/>
            <a:ext cx="4937760" cy="685800"/>
          </a:xfrm>
          <a:prstGeom prst="rect">
            <a:avLst/>
          </a:prstGeom>
          <a:noFill/>
        </p:spPr>
        <p:txBody>
          <a:bodyPr wrap="square" anchor="ctr" lIns="0" rIns="0" tIns="0" bIns="0">
            <a:spAutoFit/>
          </a:bodyPr>
          <a:lstStyle/>
          <a:p>
            <a:pPr algn="ctr"/>
            <a:r>
              <a:rPr sz="1700" b="1">
                <a:solidFill>
                  <a:srgbClr val="FFFFFF"/>
                </a:solidFill>
                <a:latin typeface="Segoe UI"/>
              </a:rPr>
              <a:t>📹 Tải video</a:t>
            </a:r>
          </a:p>
        </p:txBody>
      </p:sp>
      <p:sp>
        <p:nvSpPr>
          <p:cNvPr id="23" name="TextBox 22"/>
          <p:cNvSpPr txBox="1"/>
          <p:nvPr/>
        </p:nvSpPr>
        <p:spPr>
          <a:xfrm>
            <a:off x="4416552" y="3886200"/>
            <a:ext cx="4937760" cy="457200"/>
          </a:xfrm>
          <a:prstGeom prst="rect">
            <a:avLst/>
          </a:prstGeom>
          <a:noFill/>
        </p:spPr>
        <p:txBody>
          <a:bodyPr wrap="square" anchor="ctr" lIns="0" rIns="0" tIns="0" bIns="0">
            <a:spAutoFit/>
          </a:bodyPr>
          <a:lstStyle/>
          <a:p>
            <a:pPr algn="ctr"/>
            <a:r>
              <a:rPr sz="1150" b="0">
                <a:solidFill>
                  <a:srgbClr val="64748B"/>
                </a:solidFill>
                <a:latin typeface="Segoe UI"/>
              </a:rPr>
              <a:t>Chưa có phiên nào được lưu</a:t>
            </a:r>
          </a:p>
        </p:txBody>
      </p:sp>
      <p:sp>
        <p:nvSpPr>
          <p:cNvPr id="24" name="TextBox 23"/>
          <p:cNvSpPr txBox="1"/>
          <p:nvPr/>
        </p:nvSpPr>
        <p:spPr>
          <a:xfrm>
            <a:off x="822960" y="5184648"/>
            <a:ext cx="11064240" cy="365760"/>
          </a:xfrm>
          <a:prstGeom prst="rect">
            <a:avLst/>
          </a:prstGeom>
          <a:noFill/>
        </p:spPr>
        <p:txBody>
          <a:bodyPr wrap="square" anchor="ctr" lIns="0" rIns="0" tIns="0" bIns="0">
            <a:spAutoFit/>
          </a:bodyPr>
          <a:lstStyle/>
          <a:p>
            <a:pPr algn="l"/>
            <a:r>
              <a:rPr sz="1250" b="1">
                <a:solidFill>
                  <a:srgbClr val="B45309"/>
                </a:solidFill>
                <a:latin typeface="Segoe UI"/>
              </a:rPr>
              <a:t>① Bên trái là menu    ② Tải video tại đây    ③ Rating·Dung sai (nhấn để cài đặt)</a:t>
            </a:r>
          </a:p>
        </p:txBody>
      </p:sp>
      <p:sp>
        <p:nvSpPr>
          <p:cNvPr id="25" name="TextBox 24"/>
          <p:cNvSpPr txBox="1"/>
          <p:nvPr/>
        </p:nvSpPr>
        <p:spPr>
          <a:xfrm>
            <a:off x="548640" y="544068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bắt đầu — bên trái là menu, ở giữa để tạo mới hoặc mở công việc đã lưu.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3. Chạy lần đầu</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3/17</a:t>
            </a:r>
          </a:p>
        </p:txBody>
      </p:sp>
      <p:sp>
        <p:nvSpPr>
          <p:cNvPr id="5" name="Rounded Rectangle 4"/>
          <p:cNvSpPr/>
          <p:nvPr/>
        </p:nvSpPr>
        <p:spPr>
          <a:xfrm>
            <a:off x="640080" y="1143000"/>
            <a:ext cx="10881360" cy="566928"/>
          </a:xfrm>
          <a:prstGeom prst="roundRect">
            <a:avLst>
              <a:gd name="adj" fmla="val 8000"/>
            </a:avLst>
          </a:prstGeom>
          <a:solidFill>
            <a:srgbClr val="FE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43000"/>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Dữ liệu được lưu theo "địa chỉ".</a:t>
            </a:r>
            <a:r>
              <a:rPr sz="1250" b="0">
                <a:solidFill>
                  <a:srgbClr val="111827"/>
                </a:solidFill>
                <a:latin typeface="Segoe UI"/>
              </a:rPr>
              <a:t> Phải luôn mở bằng </a:t>
            </a:r>
            <a:r>
              <a:rPr sz="1250" b="1">
                <a:solidFill>
                  <a:srgbClr val="2563EB"/>
                </a:solidFill>
                <a:latin typeface="Segoe UI"/>
              </a:rPr>
              <a:t>127.0.0.1:8791</a:t>
            </a:r>
            <a:r>
              <a:rPr sz="1250" b="0">
                <a:solidFill>
                  <a:srgbClr val="111827"/>
                </a:solidFill>
                <a:latin typeface="Segoe UI"/>
              </a:rPr>
              <a:t> thì linh kiện và thời gian chuẩn đã lưu mới hiện ra. Nếu mở bằng địa chỉ khác, đầu màn hình sẽ có dải cảnh báo đỏ và nút </a:t>
            </a:r>
            <a:r>
              <a:rPr sz="1250" b="1">
                <a:solidFill>
                  <a:srgbClr val="111827"/>
                </a:solidFill>
                <a:latin typeface="Segoe UI"/>
              </a:rPr>
              <a:t>[Mở bằng địa chỉ chuẩn]</a:t>
            </a:r>
            <a:r>
              <a:rPr sz="1250" b="0">
                <a:solidFill>
                  <a:srgbClr val="111827"/>
                </a:solidFill>
                <a:latin typeface="Segoe UI"/>
              </a:rPr>
              <a:t> — hãy nhấn nút đó. (Dữ liệu không bị xóa.)</a:t>
            </a:r>
          </a:p>
        </p:txBody>
      </p:sp>
      <p:sp>
        <p:nvSpPr>
          <p:cNvPr id="7" name="Rounded Rectangle 6"/>
          <p:cNvSpPr/>
          <p:nvPr/>
        </p:nvSpPr>
        <p:spPr>
          <a:xfrm>
            <a:off x="640080" y="1856232"/>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56232"/>
            <a:ext cx="10515600" cy="566928"/>
          </a:xfrm>
          <a:prstGeom prst="rect">
            <a:avLst/>
          </a:prstGeom>
          <a:noFill/>
        </p:spPr>
        <p:txBody>
          <a:bodyPr wrap="square" anchor="ctr" lIns="0" rIns="0" tIns="0" bIns="0">
            <a:spAutoFit/>
          </a:bodyPr>
          <a:lstStyle/>
          <a:p>
            <a:pPr algn="l"/>
            <a:r>
              <a:rPr sz="1250" b="0">
                <a:solidFill>
                  <a:srgbClr val="111827"/>
                </a:solidFill>
                <a:latin typeface="Segoe UI"/>
              </a:rPr>
              <a:t>💡 Khi kết thúc, hãy </a:t>
            </a:r>
            <a:r>
              <a:rPr sz="1250" b="1">
                <a:solidFill>
                  <a:srgbClr val="111827"/>
                </a:solidFill>
                <a:latin typeface="Segoe UI"/>
              </a:rPr>
              <a:t>đóng tab trình duyệt và đóng luôn cửa sổ đen</a:t>
            </a:r>
            <a:r>
              <a:rPr sz="1250" b="0">
                <a:solidFill>
                  <a:srgbClr val="111827"/>
                </a:solidFill>
                <a:latin typeface="Segoe UI"/>
              </a:rPr>
              <a:t>. Nếu để cửa sổ đen rồi chạy lại, địa chỉ có thể bị lệch.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4. Tổng quan màn hình</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Cột dọc bên trái là menu. Dùng lần lượt từ trên xuống dưới.</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4/17</a:t>
            </a:r>
          </a:p>
        </p:txBody>
      </p:sp>
      <p:graphicFrame>
        <p:nvGraphicFramePr>
          <p:cNvPr id="6" name="Table 5"/>
          <p:cNvGraphicFramePr>
            <a:graphicFrameLocks noGrp="1"/>
          </p:cNvGraphicFramePr>
          <p:nvPr/>
        </p:nvGraphicFramePr>
        <p:xfrm>
          <a:off x="640080" y="1143000"/>
          <a:ext cx="10881360" cy="2944368"/>
        </p:xfrm>
        <a:graphic>
          <a:graphicData uri="http://schemas.openxmlformats.org/drawingml/2006/table">
            <a:tbl>
              <a:tblPr firstRow="1" bandRow="1">
                <a:tableStyleId>{5C22544A-7EE6-4342-B048-85BDC9FD1C3A}</a:tableStyleId>
              </a:tblPr>
              <a:tblGrid>
                <a:gridCol w="3627120"/>
                <a:gridCol w="3627120"/>
                <a:gridCol w="3627120"/>
              </a:tblGrid>
              <a:tr h="294436">
                <a:tc>
                  <a:txBody>
                    <a:bodyPr/>
                    <a:lstStyle/>
                    <a:p>
                      <a:r>
                        <a:rPr sz="1100" b="1">
                          <a:solidFill>
                            <a:srgbClr val="FFFFFF"/>
                          </a:solidFill>
                          <a:latin typeface="Segoe UI"/>
                        </a:rPr>
                        <a:t>Menu</a:t>
                      </a:r>
                    </a:p>
                  </a:txBody>
                  <a:tcPr marL="54864" marR="54864">
                    <a:solidFill>
                      <a:srgbClr val="1E3A5F"/>
                    </a:solidFill>
                  </a:tcPr>
                </a:tc>
                <a:tc>
                  <a:txBody>
                    <a:bodyPr/>
                    <a:lstStyle/>
                    <a:p>
                      <a:r>
                        <a:rPr sz="1100" b="1">
                          <a:solidFill>
                            <a:srgbClr val="FFFFFF"/>
                          </a:solidFill>
                          <a:latin typeface="Segoe UI"/>
                        </a:rPr>
                        <a:t>Khi nào dùng</a:t>
                      </a:r>
                    </a:p>
                  </a:txBody>
                  <a:tcPr marL="54864" marR="54864">
                    <a:solidFill>
                      <a:srgbClr val="1E3A5F"/>
                    </a:solidFill>
                  </a:tcPr>
                </a:tc>
                <a:tc>
                  <a:txBody>
                    <a:bodyPr/>
                    <a:lstStyle/>
                    <a:p>
                      <a:r>
                        <a:rPr sz="1100" b="1">
                          <a:solidFill>
                            <a:srgbClr val="FFFFFF"/>
                          </a:solidFill>
                          <a:latin typeface="Segoe UI"/>
                        </a:rPr>
                        <a:t>Giải thích một dòng</a:t>
                      </a:r>
                    </a:p>
                  </a:txBody>
                  <a:tcPr marL="54864" marR="54864">
                    <a:solidFill>
                      <a:srgbClr val="1E3A5F"/>
                    </a:solidFill>
                  </a:tcPr>
                </a:tc>
              </a:tr>
              <a:tr h="294436">
                <a:tc>
                  <a:txBody>
                    <a:bodyPr/>
                    <a:lstStyle/>
                    <a:p>
                      <a:pPr>
                        <a:lnSpc>
                          <a:spcPct val="95000"/>
                        </a:lnSpc>
                      </a:pPr>
                      <a:r>
                        <a:rPr sz="1100" b="0">
                          <a:solidFill>
                            <a:srgbClr val="111827"/>
                          </a:solidFill>
                          <a:latin typeface="Segoe UI"/>
                        </a:rPr>
                        <a:t>🔧 Quản lý linh kiện</a:t>
                      </a:r>
                    </a:p>
                  </a:txBody>
                  <a:tcPr marL="54864" marR="54864" marT="18288" marB="18288">
                    <a:solidFill>
                      <a:srgbClr val="F1F5F9"/>
                    </a:solidFill>
                  </a:tcPr>
                </a:tc>
                <a:tc>
                  <a:txBody>
                    <a:bodyPr/>
                    <a:lstStyle/>
                    <a:p>
                      <a:pPr>
                        <a:lnSpc>
                          <a:spcPct val="95000"/>
                        </a:lnSpc>
                      </a:pPr>
                      <a:r>
                        <a:rPr sz="1100" b="1">
                          <a:solidFill>
                            <a:srgbClr val="111827"/>
                          </a:solidFill>
                          <a:latin typeface="Segoe UI"/>
                        </a:rPr>
                        <a:t>Trước tiên</a:t>
                      </a:r>
                    </a:p>
                  </a:txBody>
                  <a:tcPr marL="54864" marR="54864" marT="18288" marB="18288">
                    <a:solidFill>
                      <a:srgbClr val="F1F5F9"/>
                    </a:solidFill>
                  </a:tcPr>
                </a:tc>
                <a:tc>
                  <a:txBody>
                    <a:bodyPr/>
                    <a:lstStyle/>
                    <a:p>
                      <a:pPr>
                        <a:lnSpc>
                          <a:spcPct val="95000"/>
                        </a:lnSpc>
                      </a:pPr>
                      <a:r>
                        <a:rPr sz="1100" b="0">
                          <a:solidFill>
                            <a:srgbClr val="111827"/>
                          </a:solidFill>
                          <a:latin typeface="Segoe UI"/>
                        </a:rPr>
                        <a:t>Tạo danh sách linh kiện và tích lũy thời gian chuẩn từng linh kiện.</a:t>
                      </a:r>
                    </a:p>
                  </a:txBody>
                  <a:tcPr marL="54864" marR="54864" marT="18288" marB="18288">
                    <a:solidFill>
                      <a:srgbClr val="F1F5F9"/>
                    </a:solidFill>
                  </a:tcPr>
                </a:tc>
              </a:tr>
              <a:tr h="294436">
                <a:tc>
                  <a:txBody>
                    <a:bodyPr/>
                    <a:lstStyle/>
                    <a:p>
                      <a:pPr>
                        <a:lnSpc>
                          <a:spcPct val="95000"/>
                        </a:lnSpc>
                      </a:pPr>
                      <a:r>
                        <a:rPr sz="1100" b="0">
                          <a:solidFill>
                            <a:srgbClr val="111827"/>
                          </a:solidFill>
                          <a:latin typeface="Segoe UI"/>
                        </a:rPr>
                        <a:t>📹 Phân tích thao tác</a:t>
                      </a:r>
                    </a:p>
                  </a:txBody>
                  <a:tcPr marL="54864" marR="54864" marT="18288" marB="18288">
                    <a:solidFill>
                      <a:srgbClr val="FFFFFF"/>
                    </a:solidFill>
                  </a:tcPr>
                </a:tc>
                <a:tc>
                  <a:txBody>
                    <a:bodyPr/>
                    <a:lstStyle/>
                    <a:p>
                      <a:pPr>
                        <a:lnSpc>
                          <a:spcPct val="95000"/>
                        </a:lnSpc>
                      </a:pPr>
                      <a:r>
                        <a:rPr sz="1100" b="0">
                          <a:solidFill>
                            <a:srgbClr val="111827"/>
                          </a:solidFill>
                          <a:latin typeface="Segoe UI"/>
                        </a:rPr>
                        <a:t>Mỗi lần</a:t>
                      </a:r>
                    </a:p>
                  </a:txBody>
                  <a:tcPr marL="54864" marR="54864" marT="18288" marB="18288">
                    <a:solidFill>
                      <a:srgbClr val="FFFFFF"/>
                    </a:solidFill>
                  </a:tcPr>
                </a:tc>
                <a:tc>
                  <a:txBody>
                    <a:bodyPr/>
                    <a:lstStyle/>
                    <a:p>
                      <a:pPr>
                        <a:lnSpc>
                          <a:spcPct val="95000"/>
                        </a:lnSpc>
                      </a:pPr>
                      <a:r>
                        <a:rPr sz="1100" b="0">
                          <a:solidFill>
                            <a:srgbClr val="111827"/>
                          </a:solidFill>
                          <a:latin typeface="Segoe UI"/>
                        </a:rPr>
                        <a:t>Xem video và đánh dấu đầu·cuối từng động tác để đo thời gian.</a:t>
                      </a:r>
                    </a:p>
                  </a:txBody>
                  <a:tcPr marL="54864" marR="54864" marT="18288" marB="18288">
                    <a:solidFill>
                      <a:srgbClr val="FFFFFF"/>
                    </a:solidFill>
                  </a:tcPr>
                </a:tc>
              </a:tr>
              <a:tr h="294436">
                <a:tc>
                  <a:txBody>
                    <a:bodyPr/>
                    <a:lstStyle/>
                    <a:p>
                      <a:pPr>
                        <a:lnSpc>
                          <a:spcPct val="95000"/>
                        </a:lnSpc>
                      </a:pPr>
                      <a:r>
                        <a:rPr sz="1100" b="0">
                          <a:solidFill>
                            <a:srgbClr val="111827"/>
                          </a:solidFill>
                          <a:latin typeface="Segoe UI"/>
                        </a:rPr>
                        <a:t>📊 Biểu đồ</a:t>
                      </a:r>
                    </a:p>
                  </a:txBody>
                  <a:tcPr marL="54864" marR="54864" marT="18288" marB="18288">
                    <a:solidFill>
                      <a:srgbClr val="F1F5F9"/>
                    </a:solidFill>
                  </a:tcPr>
                </a:tc>
                <a:tc>
                  <a:txBody>
                    <a:bodyPr/>
                    <a:lstStyle/>
                    <a:p>
                      <a:pPr>
                        <a:lnSpc>
                          <a:spcPct val="95000"/>
                        </a:lnSpc>
                      </a:pPr>
                      <a:r>
                        <a:rPr sz="1100" b="0">
                          <a:solidFill>
                            <a:srgbClr val="111827"/>
                          </a:solidFill>
                          <a:latin typeface="Segoe UI"/>
                        </a:rPr>
                        <a:t>Sau khi phân tích</a:t>
                      </a:r>
                    </a:p>
                  </a:txBody>
                  <a:tcPr marL="54864" marR="54864" marT="18288" marB="18288">
                    <a:solidFill>
                      <a:srgbClr val="F1F5F9"/>
                    </a:solidFill>
                  </a:tcPr>
                </a:tc>
                <a:tc>
                  <a:txBody>
                    <a:bodyPr/>
                    <a:lstStyle/>
                    <a:p>
                      <a:pPr>
                        <a:lnSpc>
                          <a:spcPct val="95000"/>
                        </a:lnSpc>
                      </a:pPr>
                      <a:r>
                        <a:rPr sz="1100" b="0">
                          <a:solidFill>
                            <a:srgbClr val="111827"/>
                          </a:solidFill>
                          <a:latin typeface="Segoe UI"/>
                        </a:rPr>
                        <a:t>Xem bằng hình thời gian thay đổi thế nào qua từng chu kỳ.</a:t>
                      </a:r>
                    </a:p>
                  </a:txBody>
                  <a:tcPr marL="54864" marR="54864" marT="18288" marB="18288">
                    <a:solidFill>
                      <a:srgbClr val="F1F5F9"/>
                    </a:solidFill>
                  </a:tcPr>
                </a:tc>
              </a:tr>
              <a:tr h="294436">
                <a:tc>
                  <a:txBody>
                    <a:bodyPr/>
                    <a:lstStyle/>
                    <a:p>
                      <a:pPr>
                        <a:lnSpc>
                          <a:spcPct val="95000"/>
                        </a:lnSpc>
                      </a:pPr>
                      <a:r>
                        <a:rPr sz="1100" b="0">
                          <a:solidFill>
                            <a:srgbClr val="111827"/>
                          </a:solidFill>
                          <a:latin typeface="Segoe UI"/>
                        </a:rPr>
                        <a:t>📊 Kết quả phân tích</a:t>
                      </a:r>
                    </a:p>
                  </a:txBody>
                  <a:tcPr marL="54864" marR="54864" marT="18288" marB="18288">
                    <a:solidFill>
                      <a:srgbClr val="FFFFFF"/>
                    </a:solidFill>
                  </a:tcPr>
                </a:tc>
                <a:tc>
                  <a:txBody>
                    <a:bodyPr/>
                    <a:lstStyle/>
                    <a:p>
                      <a:pPr>
                        <a:lnSpc>
                          <a:spcPct val="95000"/>
                        </a:lnSpc>
                      </a:pPr>
                      <a:r>
                        <a:rPr sz="1100" b="0">
                          <a:solidFill>
                            <a:srgbClr val="111827"/>
                          </a:solidFill>
                          <a:latin typeface="Segoe UI"/>
                        </a:rPr>
                        <a:t>Sau khi phân tích</a:t>
                      </a:r>
                    </a:p>
                  </a:txBody>
                  <a:tcPr marL="54864" marR="54864" marT="18288" marB="18288">
                    <a:solidFill>
                      <a:srgbClr val="FFFFFF"/>
                    </a:solidFill>
                  </a:tcPr>
                </a:tc>
                <a:tc>
                  <a:txBody>
                    <a:bodyPr/>
                    <a:lstStyle/>
                    <a:p>
                      <a:pPr>
                        <a:lnSpc>
                          <a:spcPct val="95000"/>
                        </a:lnSpc>
                      </a:pPr>
                      <a:r>
                        <a:rPr sz="1100" b="0">
                          <a:solidFill>
                            <a:srgbClr val="111827"/>
                          </a:solidFill>
                          <a:latin typeface="Segoe UI"/>
                        </a:rPr>
                        <a:t>Tổng hợp bằng số: trung bình, thời gian chuẩn, đánh giá hai tay...</a:t>
                      </a:r>
                    </a:p>
                  </a:txBody>
                  <a:tcPr marL="54864" marR="54864" marT="18288" marB="18288">
                    <a:solidFill>
                      <a:srgbClr val="FFFFFF"/>
                    </a:solidFill>
                  </a:tcPr>
                </a:tc>
              </a:tr>
              <a:tr h="294436">
                <a:tc>
                  <a:txBody>
                    <a:bodyPr/>
                    <a:lstStyle/>
                    <a:p>
                      <a:pPr>
                        <a:lnSpc>
                          <a:spcPct val="95000"/>
                        </a:lnSpc>
                      </a:pPr>
                      <a:r>
                        <a:rPr sz="1100" b="0">
                          <a:solidFill>
                            <a:srgbClr val="111827"/>
                          </a:solidFill>
                          <a:latin typeface="Segoe UI"/>
                        </a:rPr>
                        <a:t>🎬 So sánh video</a:t>
                      </a:r>
                    </a:p>
                  </a:txBody>
                  <a:tcPr marL="54864" marR="54864" marT="18288" marB="18288">
                    <a:solidFill>
                      <a:srgbClr val="F1F5F9"/>
                    </a:solidFill>
                  </a:tcPr>
                </a:tc>
                <a:tc>
                  <a:txBody>
                    <a:bodyPr/>
                    <a:lstStyle/>
                    <a:p>
                      <a:pPr>
                        <a:lnSpc>
                          <a:spcPct val="95000"/>
                        </a:lnSpc>
                      </a:pPr>
                      <a:r>
                        <a:rPr sz="1100" b="0">
                          <a:solidFill>
                            <a:srgbClr val="111827"/>
                          </a:solidFill>
                          <a:latin typeface="Segoe UI"/>
                        </a:rPr>
                        <a:t>Để đào tạo</a:t>
                      </a:r>
                    </a:p>
                  </a:txBody>
                  <a:tcPr marL="54864" marR="54864" marT="18288" marB="18288">
                    <a:solidFill>
                      <a:srgbClr val="F1F5F9"/>
                    </a:solidFill>
                  </a:tcPr>
                </a:tc>
                <a:tc>
                  <a:txBody>
                    <a:bodyPr/>
                    <a:lstStyle/>
                    <a:p>
                      <a:pPr>
                        <a:lnSpc>
                          <a:spcPct val="95000"/>
                        </a:lnSpc>
                      </a:pPr>
                      <a:r>
                        <a:rPr sz="1100" b="0">
                          <a:solidFill>
                            <a:srgbClr val="111827"/>
                          </a:solidFill>
                          <a:latin typeface="Segoe UI"/>
                        </a:rPr>
                        <a:t>So sánh song song video người lành nghề và người mới.</a:t>
                      </a:r>
                    </a:p>
                  </a:txBody>
                  <a:tcPr marL="54864" marR="54864" marT="18288" marB="18288">
                    <a:solidFill>
                      <a:srgbClr val="F1F5F9"/>
                    </a:solidFill>
                  </a:tcPr>
                </a:tc>
              </a:tr>
              <a:tr h="294436">
                <a:tc>
                  <a:txBody>
                    <a:bodyPr/>
                    <a:lstStyle/>
                    <a:p>
                      <a:pPr>
                        <a:lnSpc>
                          <a:spcPct val="95000"/>
                        </a:lnSpc>
                      </a:pPr>
                      <a:r>
                        <a:rPr sz="1100" b="0">
                          <a:solidFill>
                            <a:srgbClr val="111827"/>
                          </a:solidFill>
                          <a:latin typeface="Segoe UI"/>
                        </a:rPr>
                        <a:t>📊 Phân tích chuyền</a:t>
                      </a:r>
                    </a:p>
                  </a:txBody>
                  <a:tcPr marL="54864" marR="54864" marT="18288" marB="18288">
                    <a:solidFill>
                      <a:srgbClr val="FFFFFF"/>
                    </a:solidFill>
                  </a:tcPr>
                </a:tc>
                <a:tc>
                  <a:txBody>
                    <a:bodyPr/>
                    <a:lstStyle/>
                    <a:p>
                      <a:pPr>
                        <a:lnSpc>
                          <a:spcPct val="95000"/>
                        </a:lnSpc>
                      </a:pPr>
                      <a:r>
                        <a:rPr sz="1100" b="0">
                          <a:solidFill>
                            <a:srgbClr val="111827"/>
                          </a:solidFill>
                          <a:latin typeface="Segoe UI"/>
                        </a:rPr>
                        <a:t>Khi xem chuyền</a:t>
                      </a:r>
                    </a:p>
                  </a:txBody>
                  <a:tcPr marL="54864" marR="54864" marT="18288" marB="18288">
                    <a:solidFill>
                      <a:srgbClr val="FFFFFF"/>
                    </a:solidFill>
                  </a:tcPr>
                </a:tc>
                <a:tc>
                  <a:txBody>
                    <a:bodyPr/>
                    <a:lstStyle/>
                    <a:p>
                      <a:pPr>
                        <a:lnSpc>
                          <a:spcPct val="95000"/>
                        </a:lnSpc>
                      </a:pPr>
                      <a:r>
                        <a:rPr sz="1100" b="0">
                          <a:solidFill>
                            <a:srgbClr val="111827"/>
                          </a:solidFill>
                          <a:latin typeface="Segoe UI"/>
                        </a:rPr>
                        <a:t>Đo thời gian theo linh kiện của nhiều công nhân.</a:t>
                      </a:r>
                    </a:p>
                  </a:txBody>
                  <a:tcPr marL="54864" marR="54864" marT="18288" marB="18288">
                    <a:solidFill>
                      <a:srgbClr val="FFFFFF"/>
                    </a:solidFill>
                  </a:tcPr>
                </a:tc>
              </a:tr>
              <a:tr h="294436">
                <a:tc>
                  <a:txBody>
                    <a:bodyPr/>
                    <a:lstStyle/>
                    <a:p>
                      <a:pPr>
                        <a:lnSpc>
                          <a:spcPct val="95000"/>
                        </a:lnSpc>
                      </a:pPr>
                      <a:r>
                        <a:rPr sz="1100" b="0">
                          <a:solidFill>
                            <a:srgbClr val="111827"/>
                          </a:solidFill>
                          <a:latin typeface="Segoe UI"/>
                        </a:rPr>
                        <a:t>⚖ Phân bổ công việc</a:t>
                      </a:r>
                    </a:p>
                  </a:txBody>
                  <a:tcPr marL="54864" marR="54864" marT="18288" marB="18288">
                    <a:solidFill>
                      <a:srgbClr val="F1F5F9"/>
                    </a:solidFill>
                  </a:tcPr>
                </a:tc>
                <a:tc>
                  <a:txBody>
                    <a:bodyPr/>
                    <a:lstStyle/>
                    <a:p>
                      <a:pPr>
                        <a:lnSpc>
                          <a:spcPct val="95000"/>
                        </a:lnSpc>
                      </a:pPr>
                      <a:r>
                        <a:rPr sz="1100" b="0">
                          <a:solidFill>
                            <a:srgbClr val="111827"/>
                          </a:solidFill>
                          <a:latin typeface="Segoe UI"/>
                        </a:rPr>
                        <a:t>Khi xem chuyền</a:t>
                      </a:r>
                    </a:p>
                  </a:txBody>
                  <a:tcPr marL="54864" marR="54864" marT="18288" marB="18288">
                    <a:solidFill>
                      <a:srgbClr val="F1F5F9"/>
                    </a:solidFill>
                  </a:tcPr>
                </a:tc>
                <a:tc>
                  <a:txBody>
                    <a:bodyPr/>
                    <a:lstStyle/>
                    <a:p>
                      <a:pPr>
                        <a:lnSpc>
                          <a:spcPct val="95000"/>
                        </a:lnSpc>
                      </a:pPr>
                      <a:r>
                        <a:rPr sz="1100" b="0">
                          <a:solidFill>
                            <a:srgbClr val="111827"/>
                          </a:solidFill>
                          <a:latin typeface="Segoe UI"/>
                        </a:rPr>
                        <a:t>Xem ai bận ai rảnh rồi chuyển linh kiện cho cân bằng.</a:t>
                      </a:r>
                    </a:p>
                  </a:txBody>
                  <a:tcPr marL="54864" marR="54864" marT="18288" marB="18288">
                    <a:solidFill>
                      <a:srgbClr val="F1F5F9"/>
                    </a:solidFill>
                  </a:tcPr>
                </a:tc>
              </a:tr>
              <a:tr h="294436">
                <a:tc>
                  <a:txBody>
                    <a:bodyPr/>
                    <a:lstStyle/>
                    <a:p>
                      <a:pPr>
                        <a:lnSpc>
                          <a:spcPct val="95000"/>
                        </a:lnSpc>
                      </a:pPr>
                      <a:r>
                        <a:rPr sz="1100" b="0">
                          <a:solidFill>
                            <a:srgbClr val="111827"/>
                          </a:solidFill>
                          <a:latin typeface="Segoe UI"/>
                        </a:rPr>
                        <a:t>🔀 Mô phỏng bố trí</a:t>
                      </a:r>
                    </a:p>
                  </a:txBody>
                  <a:tcPr marL="54864" marR="54864" marT="18288" marB="18288">
                    <a:solidFill>
                      <a:srgbClr val="FFFFFF"/>
                    </a:solidFill>
                  </a:tcPr>
                </a:tc>
                <a:tc>
                  <a:txBody>
                    <a:bodyPr/>
                    <a:lstStyle/>
                    <a:p>
                      <a:pPr>
                        <a:lnSpc>
                          <a:spcPct val="95000"/>
                        </a:lnSpc>
                      </a:pPr>
                      <a:r>
                        <a:rPr sz="1100" b="0">
                          <a:solidFill>
                            <a:srgbClr val="111827"/>
                          </a:solidFill>
                          <a:latin typeface="Segoe UI"/>
                        </a:rPr>
                        <a:t>Khi xem chuyền</a:t>
                      </a:r>
                    </a:p>
                  </a:txBody>
                  <a:tcPr marL="54864" marR="54864" marT="18288" marB="18288">
                    <a:solidFill>
                      <a:srgbClr val="FFFFFF"/>
                    </a:solidFill>
                  </a:tcPr>
                </a:tc>
                <a:tc>
                  <a:txBody>
                    <a:bodyPr/>
                    <a:lstStyle/>
                    <a:p>
                      <a:pPr>
                        <a:lnSpc>
                          <a:spcPct val="95000"/>
                        </a:lnSpc>
                      </a:pPr>
                      <a:r>
                        <a:rPr sz="1100" b="0">
                          <a:solidFill>
                            <a:srgbClr val="111827"/>
                          </a:solidFill>
                          <a:latin typeface="Segoe UI"/>
                        </a:rPr>
                        <a:t>Chạy thử theo phân bổ đã đổi để kiểm tra còn nút thắt không.</a:t>
                      </a:r>
                    </a:p>
                  </a:txBody>
                  <a:tcPr marL="54864" marR="54864" marT="18288" marB="18288">
                    <a:solidFill>
                      <a:srgbClr val="FFFFFF"/>
                    </a:solidFill>
                  </a:tcPr>
                </a:tc>
              </a:tr>
              <a:tr h="294444">
                <a:tc>
                  <a:txBody>
                    <a:bodyPr/>
                    <a:lstStyle/>
                    <a:p>
                      <a:pPr>
                        <a:lnSpc>
                          <a:spcPct val="95000"/>
                        </a:lnSpc>
                      </a:pPr>
                      <a:r>
                        <a:rPr sz="1100" b="0">
                          <a:solidFill>
                            <a:srgbClr val="111827"/>
                          </a:solidFill>
                          <a:latin typeface="Segoe UI"/>
                        </a:rPr>
                        <a:t>📈 Dự đoán chuyền</a:t>
                      </a:r>
                    </a:p>
                  </a:txBody>
                  <a:tcPr marL="54864" marR="54864" marT="18288" marB="18288">
                    <a:solidFill>
                      <a:srgbClr val="F1F5F9"/>
                    </a:solidFill>
                  </a:tcPr>
                </a:tc>
                <a:tc>
                  <a:txBody>
                    <a:bodyPr/>
                    <a:lstStyle/>
                    <a:p>
                      <a:pPr>
                        <a:lnSpc>
                          <a:spcPct val="95000"/>
                        </a:lnSpc>
                      </a:pPr>
                      <a:r>
                        <a:rPr sz="1100" b="0">
                          <a:solidFill>
                            <a:srgbClr val="111827"/>
                          </a:solidFill>
                          <a:latin typeface="Segoe UI"/>
                        </a:rPr>
                        <a:t>Model mới</a:t>
                      </a:r>
                    </a:p>
                  </a:txBody>
                  <a:tcPr marL="54864" marR="54864" marT="18288" marB="18288">
                    <a:solidFill>
                      <a:srgbClr val="F1F5F9"/>
                    </a:solidFill>
                  </a:tcPr>
                </a:tc>
                <a:tc>
                  <a:txBody>
                    <a:bodyPr/>
                    <a:lstStyle/>
                    <a:p>
                      <a:pPr>
                        <a:lnSpc>
                          <a:spcPct val="95000"/>
                        </a:lnSpc>
                      </a:pPr>
                      <a:r>
                        <a:rPr sz="1100" b="0">
                          <a:solidFill>
                            <a:srgbClr val="111827"/>
                          </a:solidFill>
                          <a:latin typeface="Segoe UI"/>
                        </a:rPr>
                        <a:t>Dùng thời gian chuẩn đã tích lũy để dự đoán takt và số người.</a:t>
                      </a:r>
                    </a:p>
                  </a:txBody>
                  <a:tcPr marL="54864" marR="54864" marT="18288" marB="18288">
                    <a:solidFill>
                      <a:srgbClr val="F1F5F9"/>
                    </a:solidFill>
                  </a:tcPr>
                </a:tc>
              </a:tr>
            </a:tbl>
          </a:graphicData>
        </a:graphic>
      </p:graphicFrame>
      <p:sp>
        <p:nvSpPr>
          <p:cNvPr id="7" name="Rounded Rectangle 6"/>
          <p:cNvSpPr/>
          <p:nvPr/>
        </p:nvSpPr>
        <p:spPr>
          <a:xfrm>
            <a:off x="640080" y="4315968"/>
            <a:ext cx="10881360" cy="566928"/>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315968"/>
            <a:ext cx="10515600" cy="566928"/>
          </a:xfrm>
          <a:prstGeom prst="rect">
            <a:avLst/>
          </a:prstGeom>
          <a:noFill/>
        </p:spPr>
        <p:txBody>
          <a:bodyPr wrap="square" anchor="ctr" lIns="0" rIns="0" tIns="0" bIns="0">
            <a:spAutoFit/>
          </a:bodyPr>
          <a:lstStyle/>
          <a:p>
            <a:pPr algn="l"/>
            <a:r>
              <a:rPr sz="1250" b="0">
                <a:solidFill>
                  <a:srgbClr val="111827"/>
                </a:solidFill>
                <a:latin typeface="Segoe UI"/>
              </a:rPr>
              <a:t>ℹ Nhấn thẻ </a:t>
            </a:r>
            <a:r>
              <a:rPr sz="1250" b="1">
                <a:solidFill>
                  <a:srgbClr val="2563EB"/>
                </a:solidFill>
                <a:latin typeface="Segoe UI"/>
              </a:rPr>
              <a:t>Rating 100% · Dung sai 15%</a:t>
            </a:r>
            <a:r>
              <a:rPr sz="1250" b="0">
                <a:solidFill>
                  <a:srgbClr val="111827"/>
                </a:solidFill>
                <a:latin typeface="Segoe UI"/>
              </a:rPr>
              <a:t> ở góc trên bên phải để mở Cài đặt. Hai giá trị này quyết định thời gian chuẩn (xem mục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5. Việc đầu tiên — Đăng ký linh kiện</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Nhập tay từng linh kiện sẽ khiến mỗi người viết một kiểu và dữ liệu bị chia tách. Hãy nhập một lần từ file BOM.</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5/17</a:t>
            </a:r>
          </a:p>
        </p:txBody>
      </p:sp>
      <p:sp>
        <p:nvSpPr>
          <p:cNvPr id="6" name="Oval 5"/>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8" name="TextBox 7"/>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Ở menu bên trái nhấn </a:t>
            </a:r>
            <a:r>
              <a:rPr sz="1300" b="1">
                <a:solidFill>
                  <a:srgbClr val="111827"/>
                </a:solidFill>
                <a:latin typeface="Segoe UI"/>
              </a:rPr>
              <a:t>🔧 Quản lý linh kiện</a:t>
            </a:r>
            <a:r>
              <a:rPr sz="1300" b="0">
                <a:solidFill>
                  <a:srgbClr val="111827"/>
                </a:solidFill>
                <a:latin typeface="Segoe UI"/>
              </a:rPr>
              <a:t>.</a:t>
            </a:r>
          </a:p>
        </p:txBody>
      </p:sp>
      <p:sp>
        <p:nvSpPr>
          <p:cNvPr id="9" name="Oval 8"/>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1" name="TextBox 10"/>
          <p:cNvSpPr txBox="1"/>
          <p:nvPr/>
        </p:nvSpPr>
        <p:spPr>
          <a:xfrm>
            <a:off x="1097280" y="1472184"/>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Nhấn </a:t>
            </a:r>
            <a:r>
              <a:rPr sz="1300" b="1">
                <a:solidFill>
                  <a:srgbClr val="111827"/>
                </a:solidFill>
                <a:latin typeface="Segoe UI"/>
              </a:rPr>
              <a:t>[📋 Nhập BOM]</a:t>
            </a:r>
            <a:r>
              <a:rPr sz="1300" b="0">
                <a:solidFill>
                  <a:srgbClr val="111827"/>
                </a:solidFill>
                <a:latin typeface="Segoe UI"/>
              </a:rPr>
              <a:t> ở phía trên.</a:t>
            </a:r>
          </a:p>
        </p:txBody>
      </p:sp>
      <p:sp>
        <p:nvSpPr>
          <p:cNvPr id="12" name="Oval 11"/>
          <p:cNvSpPr/>
          <p:nvPr/>
        </p:nvSpPr>
        <p:spPr>
          <a:xfrm>
            <a:off x="685800" y="182879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28799"/>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4" name="TextBox 13"/>
          <p:cNvSpPr txBox="1"/>
          <p:nvPr/>
        </p:nvSpPr>
        <p:spPr>
          <a:xfrm>
            <a:off x="1097280" y="1801367"/>
            <a:ext cx="10424160" cy="310896"/>
          </a:xfrm>
          <a:prstGeom prst="rect">
            <a:avLst/>
          </a:prstGeom>
          <a:noFill/>
        </p:spPr>
        <p:txBody>
          <a:bodyPr wrap="square" anchor="ctr" lIns="0" rIns="0" tIns="0" bIns="0">
            <a:spAutoFit/>
          </a:bodyPr>
          <a:lstStyle/>
          <a:p>
            <a:pPr algn="l"/>
            <a:r>
              <a:rPr sz="1300" b="0">
                <a:solidFill>
                  <a:srgbClr val="111827"/>
                </a:solidFill>
                <a:latin typeface="Segoe UI"/>
              </a:rPr>
              <a:t>Chọn file BOM của model. (Ví dụ tên file: </a:t>
            </a:r>
            <a:r>
              <a:rPr sz="1300" b="1">
                <a:solidFill>
                  <a:srgbClr val="2563EB"/>
                </a:solidFill>
                <a:latin typeface="Segoe UI"/>
              </a:rPr>
              <a:t>TênModel_BOM.xlsx</a:t>
            </a:r>
            <a:r>
              <a:rPr sz="1300" b="0">
                <a:solidFill>
                  <a:srgbClr val="111827"/>
                </a:solidFill>
                <a:latin typeface="Segoe UI"/>
              </a:rPr>
              <a:t>)</a:t>
            </a:r>
          </a:p>
        </p:txBody>
      </p:sp>
      <p:sp>
        <p:nvSpPr>
          <p:cNvPr id="15" name="Oval 14"/>
          <p:cNvSpPr/>
          <p:nvPr/>
        </p:nvSpPr>
        <p:spPr>
          <a:xfrm>
            <a:off x="685800" y="2157983"/>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57983"/>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17" name="TextBox 16"/>
          <p:cNvSpPr txBox="1"/>
          <p:nvPr/>
        </p:nvSpPr>
        <p:spPr>
          <a:xfrm>
            <a:off x="1097280" y="2130551"/>
            <a:ext cx="10424160" cy="310896"/>
          </a:xfrm>
          <a:prstGeom prst="rect">
            <a:avLst/>
          </a:prstGeom>
          <a:noFill/>
        </p:spPr>
        <p:txBody>
          <a:bodyPr wrap="square" anchor="ctr" lIns="0" rIns="0" tIns="0" bIns="0">
            <a:spAutoFit/>
          </a:bodyPr>
          <a:lstStyle/>
          <a:p>
            <a:pPr algn="l"/>
            <a:r>
              <a:rPr sz="1300" b="0">
                <a:solidFill>
                  <a:srgbClr val="111827"/>
                </a:solidFill>
                <a:latin typeface="Segoe UI"/>
              </a:rPr>
              <a:t>Cửa sổ xem trước hiện ra, chỉ lọc </a:t>
            </a:r>
            <a:r>
              <a:rPr sz="1300" b="1">
                <a:solidFill>
                  <a:srgbClr val="111827"/>
                </a:solidFill>
                <a:latin typeface="Segoe UI"/>
              </a:rPr>
              <a:t>linh kiện MI (cấp ....4)</a:t>
            </a:r>
            <a:r>
              <a:rPr sz="1300" b="0">
                <a:solidFill>
                  <a:srgbClr val="111827"/>
                </a:solidFill>
                <a:latin typeface="Segoe UI"/>
              </a:rPr>
              <a:t>. Kiểm tra rồi nhấn [Nhập].</a:t>
            </a:r>
          </a:p>
        </p:txBody>
      </p:sp>
      <p:sp>
        <p:nvSpPr>
          <p:cNvPr id="18" name="Oval 17"/>
          <p:cNvSpPr/>
          <p:nvPr/>
        </p:nvSpPr>
        <p:spPr>
          <a:xfrm>
            <a:off x="685800" y="2487167"/>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87167"/>
            <a:ext cx="274320" cy="274320"/>
          </a:xfrm>
          <a:prstGeom prst="rect">
            <a:avLst/>
          </a:prstGeom>
          <a:noFill/>
        </p:spPr>
        <p:txBody>
          <a:bodyPr wrap="square" anchor="ctr" lIns="0" rIns="0" tIns="0" bIns="0">
            <a:spAutoFit/>
          </a:bodyPr>
          <a:lstStyle/>
          <a:p>
            <a:pPr algn="ctr"/>
            <a:r>
              <a:rPr sz="1200" b="1">
                <a:solidFill>
                  <a:srgbClr val="FFFFFF"/>
                </a:solidFill>
                <a:latin typeface="Segoe UI"/>
              </a:rPr>
              <a:t>5</a:t>
            </a:r>
          </a:p>
        </p:txBody>
      </p:sp>
      <p:sp>
        <p:nvSpPr>
          <p:cNvPr id="20" name="TextBox 19"/>
          <p:cNvSpPr txBox="1"/>
          <p:nvPr/>
        </p:nvSpPr>
        <p:spPr>
          <a:xfrm>
            <a:off x="1097280" y="2459735"/>
            <a:ext cx="10424160" cy="310896"/>
          </a:xfrm>
          <a:prstGeom prst="rect">
            <a:avLst/>
          </a:prstGeom>
          <a:noFill/>
        </p:spPr>
        <p:txBody>
          <a:bodyPr wrap="square" anchor="ctr" lIns="0" rIns="0" tIns="0" bIns="0">
            <a:spAutoFit/>
          </a:bodyPr>
          <a:lstStyle/>
          <a:p>
            <a:pPr algn="l"/>
            <a:r>
              <a:rPr sz="1300" b="0">
                <a:solidFill>
                  <a:srgbClr val="111827"/>
                </a:solidFill>
                <a:latin typeface="Segoe UI"/>
              </a:rPr>
              <a:t>Linh kiện được thêm vào danh sách theo dạng </a:t>
            </a:r>
            <a:r>
              <a:rPr sz="1300" b="1">
                <a:solidFill>
                  <a:srgbClr val="2563EB"/>
                </a:solidFill>
                <a:latin typeface="Segoe UI"/>
              </a:rPr>
              <a:t>Mã(Tên)</a:t>
            </a:r>
            <a:r>
              <a:rPr sz="1300" b="0">
                <a:solidFill>
                  <a:srgbClr val="111827"/>
                </a:solidFill>
                <a:latin typeface="Segoe U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5. Việc đầu tiên — Đăng ký linh kiện</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5/17</a:t>
            </a:r>
          </a:p>
        </p:txBody>
      </p:sp>
      <p:sp>
        <p:nvSpPr>
          <p:cNvPr id="5" name="Rounded Rectangle 4"/>
          <p:cNvSpPr/>
          <p:nvPr/>
        </p:nvSpPr>
        <p:spPr>
          <a:xfrm>
            <a:off x="822960" y="1417320"/>
            <a:ext cx="10515600" cy="356616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472184"/>
            <a:ext cx="1691640" cy="3456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563624"/>
            <a:ext cx="1463040" cy="256032"/>
          </a:xfrm>
          <a:prstGeom prst="rect">
            <a:avLst/>
          </a:prstGeom>
          <a:noFill/>
        </p:spPr>
        <p:txBody>
          <a:bodyPr wrap="square" anchor="ctr" lIns="0" rIns="0" tIns="0" bIns="0">
            <a:spAutoFit/>
          </a:bodyPr>
          <a:lstStyle/>
          <a:p>
            <a:pPr algn="l"/>
            <a:r>
              <a:rPr sz="1000" b="0">
                <a:solidFill>
                  <a:srgbClr val="64748B"/>
                </a:solidFill>
                <a:latin typeface="Segoe UI"/>
              </a:rPr>
              <a:t>Trang chủ</a:t>
            </a:r>
          </a:p>
        </p:txBody>
      </p:sp>
      <p:sp>
        <p:nvSpPr>
          <p:cNvPr id="8" name="TextBox 7"/>
          <p:cNvSpPr txBox="1"/>
          <p:nvPr/>
        </p:nvSpPr>
        <p:spPr>
          <a:xfrm>
            <a:off x="1024128" y="1847088"/>
            <a:ext cx="1463040" cy="256032"/>
          </a:xfrm>
          <a:prstGeom prst="rect">
            <a:avLst/>
          </a:prstGeom>
          <a:noFill/>
        </p:spPr>
        <p:txBody>
          <a:bodyPr wrap="square" anchor="ctr" lIns="0" rIns="0" tIns="0" bIns="0">
            <a:spAutoFit/>
          </a:bodyPr>
          <a:lstStyle/>
          <a:p>
            <a:pPr algn="l"/>
            <a:r>
              <a:rPr sz="1000" b="0">
                <a:solidFill>
                  <a:srgbClr val="64748B"/>
                </a:solidFill>
                <a:latin typeface="Segoe UI"/>
              </a:rPr>
              <a:t>Phân tích thao tác</a:t>
            </a:r>
          </a:p>
        </p:txBody>
      </p:sp>
      <p:sp>
        <p:nvSpPr>
          <p:cNvPr id="9" name="TextBox 8"/>
          <p:cNvSpPr txBox="1"/>
          <p:nvPr/>
        </p:nvSpPr>
        <p:spPr>
          <a:xfrm>
            <a:off x="1024128" y="2130552"/>
            <a:ext cx="1463040" cy="256032"/>
          </a:xfrm>
          <a:prstGeom prst="rect">
            <a:avLst/>
          </a:prstGeom>
          <a:noFill/>
        </p:spPr>
        <p:txBody>
          <a:bodyPr wrap="square" anchor="ctr" lIns="0" rIns="0" tIns="0" bIns="0">
            <a:spAutoFit/>
          </a:bodyPr>
          <a:lstStyle/>
          <a:p>
            <a:pPr algn="l"/>
            <a:r>
              <a:rPr sz="1000" b="0">
                <a:solidFill>
                  <a:srgbClr val="64748B"/>
                </a:solidFill>
                <a:latin typeface="Segoe UI"/>
              </a:rPr>
              <a:t>Biểu đồ</a:t>
            </a:r>
          </a:p>
        </p:txBody>
      </p:sp>
      <p:sp>
        <p:nvSpPr>
          <p:cNvPr id="10" name="TextBox 9"/>
          <p:cNvSpPr txBox="1"/>
          <p:nvPr/>
        </p:nvSpPr>
        <p:spPr>
          <a:xfrm>
            <a:off x="1024128" y="2414015"/>
            <a:ext cx="1463040" cy="256032"/>
          </a:xfrm>
          <a:prstGeom prst="rect">
            <a:avLst/>
          </a:prstGeom>
          <a:noFill/>
        </p:spPr>
        <p:txBody>
          <a:bodyPr wrap="square" anchor="ctr" lIns="0" rIns="0" tIns="0" bIns="0">
            <a:spAutoFit/>
          </a:bodyPr>
          <a:lstStyle/>
          <a:p>
            <a:pPr algn="l"/>
            <a:r>
              <a:rPr sz="1000" b="0">
                <a:solidFill>
                  <a:srgbClr val="64748B"/>
                </a:solidFill>
                <a:latin typeface="Segoe UI"/>
              </a:rPr>
              <a:t>Kết quả</a:t>
            </a:r>
          </a:p>
        </p:txBody>
      </p:sp>
      <p:sp>
        <p:nvSpPr>
          <p:cNvPr id="11" name="TextBox 10"/>
          <p:cNvSpPr txBox="1"/>
          <p:nvPr/>
        </p:nvSpPr>
        <p:spPr>
          <a:xfrm>
            <a:off x="1024128" y="2697480"/>
            <a:ext cx="1463040" cy="256032"/>
          </a:xfrm>
          <a:prstGeom prst="rect">
            <a:avLst/>
          </a:prstGeom>
          <a:noFill/>
        </p:spPr>
        <p:txBody>
          <a:bodyPr wrap="square" anchor="ctr" lIns="0" rIns="0" tIns="0" bIns="0">
            <a:spAutoFit/>
          </a:bodyPr>
          <a:lstStyle/>
          <a:p>
            <a:pPr algn="l"/>
            <a:r>
              <a:rPr sz="1000" b="0">
                <a:solidFill>
                  <a:srgbClr val="64748B"/>
                </a:solidFill>
                <a:latin typeface="Segoe UI"/>
              </a:rPr>
              <a:t>So sánh video</a:t>
            </a:r>
          </a:p>
        </p:txBody>
      </p:sp>
      <p:sp>
        <p:nvSpPr>
          <p:cNvPr id="12" name="TextBox 11"/>
          <p:cNvSpPr txBox="1"/>
          <p:nvPr/>
        </p:nvSpPr>
        <p:spPr>
          <a:xfrm>
            <a:off x="1024128" y="2980944"/>
            <a:ext cx="1463040" cy="256032"/>
          </a:xfrm>
          <a:prstGeom prst="rect">
            <a:avLst/>
          </a:prstGeom>
          <a:noFill/>
        </p:spPr>
        <p:txBody>
          <a:bodyPr wrap="square" anchor="ctr" lIns="0" rIns="0" tIns="0" bIns="0">
            <a:spAutoFit/>
          </a:bodyPr>
          <a:lstStyle/>
          <a:p>
            <a:pPr algn="l"/>
            <a:r>
              <a:rPr sz="1000" b="0">
                <a:solidFill>
                  <a:srgbClr val="64748B"/>
                </a:solidFill>
                <a:latin typeface="Segoe UI"/>
              </a:rPr>
              <a:t>Phân tích chuyền</a:t>
            </a:r>
          </a:p>
        </p:txBody>
      </p:sp>
      <p:sp>
        <p:nvSpPr>
          <p:cNvPr id="13" name="TextBox 12"/>
          <p:cNvSpPr txBox="1"/>
          <p:nvPr/>
        </p:nvSpPr>
        <p:spPr>
          <a:xfrm>
            <a:off x="1024128" y="3264408"/>
            <a:ext cx="1463040" cy="256032"/>
          </a:xfrm>
          <a:prstGeom prst="rect">
            <a:avLst/>
          </a:prstGeom>
          <a:noFill/>
        </p:spPr>
        <p:txBody>
          <a:bodyPr wrap="square" anchor="ctr" lIns="0" rIns="0" tIns="0" bIns="0">
            <a:spAutoFit/>
          </a:bodyPr>
          <a:lstStyle/>
          <a:p>
            <a:pPr algn="l"/>
            <a:r>
              <a:rPr sz="1000" b="0">
                <a:solidFill>
                  <a:srgbClr val="64748B"/>
                </a:solidFill>
                <a:latin typeface="Segoe UI"/>
              </a:rPr>
              <a:t>Phân bổ</a:t>
            </a:r>
          </a:p>
        </p:txBody>
      </p:sp>
      <p:sp>
        <p:nvSpPr>
          <p:cNvPr id="14" name="TextBox 13"/>
          <p:cNvSpPr txBox="1"/>
          <p:nvPr/>
        </p:nvSpPr>
        <p:spPr>
          <a:xfrm>
            <a:off x="1024128" y="3547872"/>
            <a:ext cx="1463040" cy="256032"/>
          </a:xfrm>
          <a:prstGeom prst="rect">
            <a:avLst/>
          </a:prstGeom>
          <a:noFill/>
        </p:spPr>
        <p:txBody>
          <a:bodyPr wrap="square" anchor="ctr" lIns="0" rIns="0" tIns="0" bIns="0">
            <a:spAutoFit/>
          </a:bodyPr>
          <a:lstStyle/>
          <a:p>
            <a:pPr algn="l"/>
            <a:r>
              <a:rPr sz="1000" b="0">
                <a:solidFill>
                  <a:srgbClr val="64748B"/>
                </a:solidFill>
                <a:latin typeface="Segoe UI"/>
              </a:rPr>
              <a:t>Mô phỏng</a:t>
            </a:r>
          </a:p>
        </p:txBody>
      </p:sp>
      <p:sp>
        <p:nvSpPr>
          <p:cNvPr id="15" name="Rectangle 14"/>
          <p:cNvSpPr/>
          <p:nvPr/>
        </p:nvSpPr>
        <p:spPr>
          <a:xfrm>
            <a:off x="877824" y="3813048"/>
            <a:ext cx="1691640" cy="27432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7824" y="3813048"/>
            <a:ext cx="45720" cy="274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831335"/>
            <a:ext cx="1463040" cy="256032"/>
          </a:xfrm>
          <a:prstGeom prst="rect">
            <a:avLst/>
          </a:prstGeom>
          <a:noFill/>
        </p:spPr>
        <p:txBody>
          <a:bodyPr wrap="square" anchor="ctr" lIns="0" rIns="0" tIns="0" bIns="0">
            <a:spAutoFit/>
          </a:bodyPr>
          <a:lstStyle/>
          <a:p>
            <a:pPr algn="l"/>
            <a:r>
              <a:rPr sz="1000" b="1">
                <a:solidFill>
                  <a:srgbClr val="FFFFFF"/>
                </a:solidFill>
                <a:latin typeface="Segoe UI"/>
              </a:rPr>
              <a:t>Quản lý linh kiện</a:t>
            </a:r>
          </a:p>
        </p:txBody>
      </p:sp>
      <p:sp>
        <p:nvSpPr>
          <p:cNvPr id="18" name="TextBox 17"/>
          <p:cNvSpPr txBox="1"/>
          <p:nvPr/>
        </p:nvSpPr>
        <p:spPr>
          <a:xfrm>
            <a:off x="1024128" y="4114800"/>
            <a:ext cx="1463040" cy="256032"/>
          </a:xfrm>
          <a:prstGeom prst="rect">
            <a:avLst/>
          </a:prstGeom>
          <a:noFill/>
        </p:spPr>
        <p:txBody>
          <a:bodyPr wrap="square" anchor="ctr" lIns="0" rIns="0" tIns="0" bIns="0">
            <a:spAutoFit/>
          </a:bodyPr>
          <a:lstStyle/>
          <a:p>
            <a:pPr algn="l"/>
            <a:r>
              <a:rPr sz="1000" b="0">
                <a:solidFill>
                  <a:srgbClr val="64748B"/>
                </a:solidFill>
                <a:latin typeface="Segoe UI"/>
              </a:rPr>
              <a:t>Dự đoán chuyền</a:t>
            </a:r>
          </a:p>
        </p:txBody>
      </p:sp>
      <p:sp>
        <p:nvSpPr>
          <p:cNvPr id="19" name="Rounded Rectangle 18"/>
          <p:cNvSpPr/>
          <p:nvPr/>
        </p:nvSpPr>
        <p:spPr>
          <a:xfrm>
            <a:off x="2724912" y="1545336"/>
            <a:ext cx="2148840" cy="310896"/>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24912" y="1545336"/>
            <a:ext cx="2148840" cy="310896"/>
          </a:xfrm>
          <a:prstGeom prst="rect">
            <a:avLst/>
          </a:prstGeom>
          <a:noFill/>
        </p:spPr>
        <p:txBody>
          <a:bodyPr wrap="square" anchor="ctr" lIns="0" rIns="0" tIns="0" bIns="0">
            <a:spAutoFit/>
          </a:bodyPr>
          <a:lstStyle/>
          <a:p>
            <a:pPr algn="ctr"/>
            <a:r>
              <a:rPr sz="1050" b="1">
                <a:solidFill>
                  <a:srgbClr val="FFFFFF"/>
                </a:solidFill>
                <a:latin typeface="Segoe UI"/>
              </a:rPr>
              <a:t>📋 Nhập BOM</a:t>
            </a:r>
          </a:p>
        </p:txBody>
      </p:sp>
      <p:sp>
        <p:nvSpPr>
          <p:cNvPr id="21" name="Rounded Rectangle 20"/>
          <p:cNvSpPr/>
          <p:nvPr/>
        </p:nvSpPr>
        <p:spPr>
          <a:xfrm>
            <a:off x="5010912" y="1545336"/>
            <a:ext cx="2148840" cy="310896"/>
          </a:xfrm>
          <a:prstGeom prst="roundRect">
            <a:avLst>
              <a:gd name="adj" fmla="val 8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10912" y="1545336"/>
            <a:ext cx="2148840" cy="310896"/>
          </a:xfrm>
          <a:prstGeom prst="rect">
            <a:avLst/>
          </a:prstGeom>
          <a:noFill/>
        </p:spPr>
        <p:txBody>
          <a:bodyPr wrap="square" anchor="ctr" lIns="0" rIns="0" tIns="0" bIns="0">
            <a:spAutoFit/>
          </a:bodyPr>
          <a:lstStyle/>
          <a:p>
            <a:pPr algn="ctr"/>
            <a:r>
              <a:rPr sz="1050" b="1">
                <a:solidFill>
                  <a:srgbClr val="FFFFFF"/>
                </a:solidFill>
                <a:latin typeface="Segoe UI"/>
              </a:rPr>
              <a:t>🧹 Dọn linh kiện thiếu tên</a:t>
            </a:r>
          </a:p>
        </p:txBody>
      </p:sp>
      <p:sp>
        <p:nvSpPr>
          <p:cNvPr id="23" name="Rounded Rectangle 22"/>
          <p:cNvSpPr/>
          <p:nvPr/>
        </p:nvSpPr>
        <p:spPr>
          <a:xfrm>
            <a:off x="7296912" y="1545336"/>
            <a:ext cx="2148840" cy="310896"/>
          </a:xfrm>
          <a:prstGeom prst="roundRect">
            <a:avLst>
              <a:gd name="adj" fmla="val 8000"/>
            </a:avLst>
          </a:prstGeom>
          <a:solidFill>
            <a:srgbClr val="7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6912" y="1545336"/>
            <a:ext cx="2148840" cy="310896"/>
          </a:xfrm>
          <a:prstGeom prst="rect">
            <a:avLst/>
          </a:prstGeom>
          <a:noFill/>
        </p:spPr>
        <p:txBody>
          <a:bodyPr wrap="square" anchor="ctr" lIns="0" rIns="0" tIns="0" bIns="0">
            <a:spAutoFit/>
          </a:bodyPr>
          <a:lstStyle/>
          <a:p>
            <a:pPr algn="ctr"/>
            <a:r>
              <a:rPr sz="1050" b="1">
                <a:solidFill>
                  <a:srgbClr val="FFFFFF"/>
                </a:solidFill>
                <a:latin typeface="Segoe UI"/>
              </a:rPr>
              <a:t>🗑 Xóa toàn bộ</a:t>
            </a:r>
          </a:p>
        </p:txBody>
      </p:sp>
      <p:sp>
        <p:nvSpPr>
          <p:cNvPr id="25" name="Rectangle 24"/>
          <p:cNvSpPr/>
          <p:nvPr/>
        </p:nvSpPr>
        <p:spPr>
          <a:xfrm>
            <a:off x="2724912" y="1984248"/>
            <a:ext cx="2651760" cy="2852928"/>
          </a:xfrm>
          <a:prstGeom prst="rect">
            <a:avLst/>
          </a:prstGeom>
          <a:solidFill>
            <a:srgbClr val="0B1220"/>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816352" y="2093976"/>
            <a:ext cx="2468880" cy="566928"/>
          </a:xfrm>
          <a:prstGeom prst="roundRect">
            <a:avLst>
              <a:gd name="adj" fmla="val 8000"/>
            </a:avLst>
          </a:prstGeom>
          <a:solidFill>
            <a:srgbClr val="12233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79" y="2121408"/>
            <a:ext cx="2286000" cy="256032"/>
          </a:xfrm>
          <a:prstGeom prst="rect">
            <a:avLst/>
          </a:prstGeom>
          <a:noFill/>
        </p:spPr>
        <p:txBody>
          <a:bodyPr wrap="square" anchor="ctr" lIns="0" rIns="0" tIns="0" bIns="0">
            <a:spAutoFit/>
          </a:bodyPr>
          <a:lstStyle/>
          <a:p>
            <a:pPr algn="l"/>
            <a:r>
              <a:rPr sz="1050" b="1">
                <a:solidFill>
                  <a:srgbClr val="FFFFFF"/>
                </a:solidFill>
                <a:latin typeface="Segoe UI"/>
              </a:rPr>
              <a:t>A-1001(CAP-ELEC)</a:t>
            </a:r>
          </a:p>
        </p:txBody>
      </p:sp>
      <p:sp>
        <p:nvSpPr>
          <p:cNvPr id="28" name="TextBox 27"/>
          <p:cNvSpPr txBox="1"/>
          <p:nvPr/>
        </p:nvSpPr>
        <p:spPr>
          <a:xfrm>
            <a:off x="2926079" y="2368296"/>
            <a:ext cx="2286000" cy="237744"/>
          </a:xfrm>
          <a:prstGeom prst="rect">
            <a:avLst/>
          </a:prstGeom>
          <a:noFill/>
        </p:spPr>
        <p:txBody>
          <a:bodyPr wrap="square" anchor="ctr" lIns="0" rIns="0" tIns="0" bIns="0">
            <a:spAutoFit/>
          </a:bodyPr>
          <a:lstStyle/>
          <a:p>
            <a:pPr algn="l"/>
            <a:r>
              <a:rPr sz="900" b="0">
                <a:solidFill>
                  <a:srgbClr val="64748B"/>
                </a:solidFill>
                <a:latin typeface="Segoe UI"/>
              </a:rPr>
              <a:t>400V,10uF,105C</a:t>
            </a:r>
          </a:p>
        </p:txBody>
      </p:sp>
      <p:sp>
        <p:nvSpPr>
          <p:cNvPr id="29" name="Rounded Rectangle 28"/>
          <p:cNvSpPr/>
          <p:nvPr/>
        </p:nvSpPr>
        <p:spPr>
          <a:xfrm>
            <a:off x="2816352" y="2752344"/>
            <a:ext cx="2468880" cy="566928"/>
          </a:xfrm>
          <a:prstGeom prst="roundRect">
            <a:avLst>
              <a:gd name="adj" fmla="val 8000"/>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79" y="2779775"/>
            <a:ext cx="2286000" cy="256032"/>
          </a:xfrm>
          <a:prstGeom prst="rect">
            <a:avLst/>
          </a:prstGeom>
          <a:noFill/>
        </p:spPr>
        <p:txBody>
          <a:bodyPr wrap="square" anchor="ctr" lIns="0" rIns="0" tIns="0" bIns="0">
            <a:spAutoFit/>
          </a:bodyPr>
          <a:lstStyle/>
          <a:p>
            <a:pPr algn="l"/>
            <a:r>
              <a:rPr sz="1050" b="1">
                <a:solidFill>
                  <a:srgbClr val="94A3B8"/>
                </a:solidFill>
                <a:latin typeface="Segoe UI"/>
              </a:rPr>
              <a:t>A-1002(CAP-ELEC)</a:t>
            </a:r>
          </a:p>
        </p:txBody>
      </p:sp>
      <p:sp>
        <p:nvSpPr>
          <p:cNvPr id="31" name="TextBox 30"/>
          <p:cNvSpPr txBox="1"/>
          <p:nvPr/>
        </p:nvSpPr>
        <p:spPr>
          <a:xfrm>
            <a:off x="2926079" y="3026663"/>
            <a:ext cx="2286000" cy="237744"/>
          </a:xfrm>
          <a:prstGeom prst="rect">
            <a:avLst/>
          </a:prstGeom>
          <a:noFill/>
        </p:spPr>
        <p:txBody>
          <a:bodyPr wrap="square" anchor="ctr" lIns="0" rIns="0" tIns="0" bIns="0">
            <a:spAutoFit/>
          </a:bodyPr>
          <a:lstStyle/>
          <a:p>
            <a:pPr algn="l"/>
            <a:r>
              <a:rPr sz="900" b="0">
                <a:solidFill>
                  <a:srgbClr val="64748B"/>
                </a:solidFill>
                <a:latin typeface="Segoe UI"/>
              </a:rPr>
              <a:t>400V,10uF,105C</a:t>
            </a:r>
          </a:p>
        </p:txBody>
      </p:sp>
      <p:sp>
        <p:nvSpPr>
          <p:cNvPr id="32" name="Rounded Rectangle 31"/>
          <p:cNvSpPr/>
          <p:nvPr/>
        </p:nvSpPr>
        <p:spPr>
          <a:xfrm>
            <a:off x="2816352" y="3410712"/>
            <a:ext cx="2468880" cy="566928"/>
          </a:xfrm>
          <a:prstGeom prst="roundRect">
            <a:avLst>
              <a:gd name="adj" fmla="val 8000"/>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79" y="3438144"/>
            <a:ext cx="2286000" cy="256032"/>
          </a:xfrm>
          <a:prstGeom prst="rect">
            <a:avLst/>
          </a:prstGeom>
          <a:noFill/>
        </p:spPr>
        <p:txBody>
          <a:bodyPr wrap="square" anchor="ctr" lIns="0" rIns="0" tIns="0" bIns="0">
            <a:spAutoFit/>
          </a:bodyPr>
          <a:lstStyle/>
          <a:p>
            <a:pPr algn="l"/>
            <a:r>
              <a:rPr sz="1050" b="1">
                <a:solidFill>
                  <a:srgbClr val="94A3B8"/>
                </a:solidFill>
                <a:latin typeface="Segoe UI"/>
              </a:rPr>
              <a:t>A-1003(CAP-ELEC)</a:t>
            </a:r>
          </a:p>
        </p:txBody>
      </p:sp>
      <p:sp>
        <p:nvSpPr>
          <p:cNvPr id="34" name="TextBox 33"/>
          <p:cNvSpPr txBox="1"/>
          <p:nvPr/>
        </p:nvSpPr>
        <p:spPr>
          <a:xfrm>
            <a:off x="2926079" y="3685032"/>
            <a:ext cx="2286000" cy="237744"/>
          </a:xfrm>
          <a:prstGeom prst="rect">
            <a:avLst/>
          </a:prstGeom>
          <a:noFill/>
        </p:spPr>
        <p:txBody>
          <a:bodyPr wrap="square" anchor="ctr" lIns="0" rIns="0" tIns="0" bIns="0">
            <a:spAutoFit/>
          </a:bodyPr>
          <a:lstStyle/>
          <a:p>
            <a:pPr algn="l"/>
            <a:r>
              <a:rPr sz="900" b="0">
                <a:solidFill>
                  <a:srgbClr val="64748B"/>
                </a:solidFill>
                <a:latin typeface="Segoe UI"/>
              </a:rPr>
              <a:t>400V,10uF,105C</a:t>
            </a:r>
          </a:p>
        </p:txBody>
      </p:sp>
      <p:sp>
        <p:nvSpPr>
          <p:cNvPr id="35" name="Rounded Rectangle 34"/>
          <p:cNvSpPr/>
          <p:nvPr/>
        </p:nvSpPr>
        <p:spPr>
          <a:xfrm>
            <a:off x="2816352" y="4069080"/>
            <a:ext cx="2468880" cy="566928"/>
          </a:xfrm>
          <a:prstGeom prst="roundRect">
            <a:avLst>
              <a:gd name="adj" fmla="val 8000"/>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26079" y="4096512"/>
            <a:ext cx="2286000" cy="256032"/>
          </a:xfrm>
          <a:prstGeom prst="rect">
            <a:avLst/>
          </a:prstGeom>
          <a:noFill/>
        </p:spPr>
        <p:txBody>
          <a:bodyPr wrap="square" anchor="ctr" lIns="0" rIns="0" tIns="0" bIns="0">
            <a:spAutoFit/>
          </a:bodyPr>
          <a:lstStyle/>
          <a:p>
            <a:pPr algn="l"/>
            <a:r>
              <a:rPr sz="1050" b="1">
                <a:solidFill>
                  <a:srgbClr val="94A3B8"/>
                </a:solidFill>
                <a:latin typeface="Segoe UI"/>
              </a:rPr>
              <a:t>A-1004(CAP-ELEC)</a:t>
            </a:r>
          </a:p>
        </p:txBody>
      </p:sp>
      <p:sp>
        <p:nvSpPr>
          <p:cNvPr id="37" name="TextBox 36"/>
          <p:cNvSpPr txBox="1"/>
          <p:nvPr/>
        </p:nvSpPr>
        <p:spPr>
          <a:xfrm>
            <a:off x="2926079" y="4343400"/>
            <a:ext cx="2286000" cy="237744"/>
          </a:xfrm>
          <a:prstGeom prst="rect">
            <a:avLst/>
          </a:prstGeom>
          <a:noFill/>
        </p:spPr>
        <p:txBody>
          <a:bodyPr wrap="square" anchor="ctr" lIns="0" rIns="0" tIns="0" bIns="0">
            <a:spAutoFit/>
          </a:bodyPr>
          <a:lstStyle/>
          <a:p>
            <a:pPr algn="l"/>
            <a:r>
              <a:rPr sz="900" b="0">
                <a:solidFill>
                  <a:srgbClr val="64748B"/>
                </a:solidFill>
                <a:latin typeface="Segoe UI"/>
              </a:rPr>
              <a:t>400V,10uF,105C</a:t>
            </a:r>
          </a:p>
        </p:txBody>
      </p:sp>
      <p:sp>
        <p:nvSpPr>
          <p:cNvPr id="38" name="Rectangle 37"/>
          <p:cNvSpPr/>
          <p:nvPr/>
        </p:nvSpPr>
        <p:spPr>
          <a:xfrm>
            <a:off x="5513831" y="1984248"/>
            <a:ext cx="5687568" cy="2852928"/>
          </a:xfrm>
          <a:prstGeom prst="rect">
            <a:avLst/>
          </a:prstGeom>
          <a:solidFill>
            <a:srgbClr val="0B1220"/>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50992" y="2103120"/>
            <a:ext cx="3657600" cy="292608"/>
          </a:xfrm>
          <a:prstGeom prst="rect">
            <a:avLst/>
          </a:prstGeom>
          <a:noFill/>
        </p:spPr>
        <p:txBody>
          <a:bodyPr wrap="square" anchor="ctr" lIns="0" rIns="0" tIns="0" bIns="0">
            <a:spAutoFit/>
          </a:bodyPr>
          <a:lstStyle/>
          <a:p>
            <a:pPr algn="l"/>
            <a:r>
              <a:rPr sz="1300" b="1">
                <a:solidFill>
                  <a:srgbClr val="FFFFFF"/>
                </a:solidFill>
                <a:latin typeface="Segoe UI"/>
              </a:rPr>
              <a:t>A-1001(CAP-ELEC)</a:t>
            </a:r>
          </a:p>
        </p:txBody>
      </p:sp>
      <p:sp>
        <p:nvSpPr>
          <p:cNvPr id="40" name="Rounded Rectangle 39"/>
          <p:cNvSpPr/>
          <p:nvPr/>
        </p:nvSpPr>
        <p:spPr>
          <a:xfrm>
            <a:off x="5623559" y="2459736"/>
            <a:ext cx="5458968" cy="45720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42431" y="2459736"/>
            <a:ext cx="731520" cy="457200"/>
          </a:xfrm>
          <a:prstGeom prst="rect">
            <a:avLst/>
          </a:prstGeom>
          <a:noFill/>
        </p:spPr>
        <p:txBody>
          <a:bodyPr wrap="square" anchor="ctr" lIns="0" rIns="0" tIns="0" bIns="0">
            <a:spAutoFit/>
          </a:bodyPr>
          <a:lstStyle/>
          <a:p>
            <a:pPr algn="l"/>
            <a:r>
              <a:rPr sz="950" b="0">
                <a:solidFill>
                  <a:srgbClr val="64748B"/>
                </a:solidFill>
                <a:latin typeface="Segoe UI"/>
              </a:rPr>
              <a:t>Mã</a:t>
            </a:r>
          </a:p>
        </p:txBody>
      </p:sp>
      <p:sp>
        <p:nvSpPr>
          <p:cNvPr id="42" name="TextBox 41"/>
          <p:cNvSpPr txBox="1"/>
          <p:nvPr/>
        </p:nvSpPr>
        <p:spPr>
          <a:xfrm>
            <a:off x="6400799" y="2459736"/>
            <a:ext cx="1463040" cy="457200"/>
          </a:xfrm>
          <a:prstGeom prst="rect">
            <a:avLst/>
          </a:prstGeom>
          <a:noFill/>
        </p:spPr>
        <p:txBody>
          <a:bodyPr wrap="square" anchor="ctr" lIns="0" rIns="0" tIns="0" bIns="0">
            <a:spAutoFit/>
          </a:bodyPr>
          <a:lstStyle/>
          <a:p>
            <a:pPr algn="l"/>
            <a:r>
              <a:rPr sz="1000" b="1">
                <a:solidFill>
                  <a:srgbClr val="FFFFFF"/>
                </a:solidFill>
                <a:latin typeface="Segoe UI"/>
              </a:rPr>
              <a:t>A-1001</a:t>
            </a:r>
          </a:p>
        </p:txBody>
      </p:sp>
      <p:sp>
        <p:nvSpPr>
          <p:cNvPr id="43" name="TextBox 42"/>
          <p:cNvSpPr txBox="1"/>
          <p:nvPr/>
        </p:nvSpPr>
        <p:spPr>
          <a:xfrm>
            <a:off x="7845551" y="2459736"/>
            <a:ext cx="731520" cy="457200"/>
          </a:xfrm>
          <a:prstGeom prst="rect">
            <a:avLst/>
          </a:prstGeom>
          <a:noFill/>
        </p:spPr>
        <p:txBody>
          <a:bodyPr wrap="square" anchor="ctr" lIns="0" rIns="0" tIns="0" bIns="0">
            <a:spAutoFit/>
          </a:bodyPr>
          <a:lstStyle/>
          <a:p>
            <a:pPr algn="l"/>
            <a:r>
              <a:rPr sz="950" b="0">
                <a:solidFill>
                  <a:srgbClr val="64748B"/>
                </a:solidFill>
                <a:latin typeface="Segoe UI"/>
              </a:rPr>
              <a:t>Tên</a:t>
            </a:r>
          </a:p>
        </p:txBody>
      </p:sp>
      <p:sp>
        <p:nvSpPr>
          <p:cNvPr id="44" name="TextBox 43"/>
          <p:cNvSpPr txBox="1"/>
          <p:nvPr/>
        </p:nvSpPr>
        <p:spPr>
          <a:xfrm>
            <a:off x="8503919" y="2459736"/>
            <a:ext cx="1463040" cy="457200"/>
          </a:xfrm>
          <a:prstGeom prst="rect">
            <a:avLst/>
          </a:prstGeom>
          <a:noFill/>
        </p:spPr>
        <p:txBody>
          <a:bodyPr wrap="square" anchor="ctr" lIns="0" rIns="0" tIns="0" bIns="0">
            <a:spAutoFit/>
          </a:bodyPr>
          <a:lstStyle/>
          <a:p>
            <a:pPr algn="l"/>
            <a:r>
              <a:rPr sz="1000" b="1">
                <a:solidFill>
                  <a:srgbClr val="FFFFFF"/>
                </a:solidFill>
                <a:latin typeface="Segoe UI"/>
              </a:rPr>
              <a:t>CAP-ELEC</a:t>
            </a:r>
          </a:p>
        </p:txBody>
      </p:sp>
      <p:sp>
        <p:nvSpPr>
          <p:cNvPr id="45" name="TextBox 44"/>
          <p:cNvSpPr txBox="1"/>
          <p:nvPr/>
        </p:nvSpPr>
        <p:spPr>
          <a:xfrm>
            <a:off x="9948672" y="2459736"/>
            <a:ext cx="731520" cy="457200"/>
          </a:xfrm>
          <a:prstGeom prst="rect">
            <a:avLst/>
          </a:prstGeom>
          <a:noFill/>
        </p:spPr>
        <p:txBody>
          <a:bodyPr wrap="square" anchor="ctr" lIns="0" rIns="0" tIns="0" bIns="0">
            <a:spAutoFit/>
          </a:bodyPr>
          <a:lstStyle/>
          <a:p>
            <a:pPr algn="l"/>
            <a:r>
              <a:rPr sz="950" b="0">
                <a:solidFill>
                  <a:srgbClr val="64748B"/>
                </a:solidFill>
                <a:latin typeface="Segoe UI"/>
              </a:rPr>
              <a:t>Quy cách</a:t>
            </a:r>
          </a:p>
        </p:txBody>
      </p:sp>
      <p:sp>
        <p:nvSpPr>
          <p:cNvPr id="46" name="TextBox 45"/>
          <p:cNvSpPr txBox="1"/>
          <p:nvPr/>
        </p:nvSpPr>
        <p:spPr>
          <a:xfrm>
            <a:off x="10607040" y="2459736"/>
            <a:ext cx="1463040" cy="457200"/>
          </a:xfrm>
          <a:prstGeom prst="rect">
            <a:avLst/>
          </a:prstGeom>
          <a:noFill/>
        </p:spPr>
        <p:txBody>
          <a:bodyPr wrap="square" anchor="ctr" lIns="0" rIns="0" tIns="0" bIns="0">
            <a:spAutoFit/>
          </a:bodyPr>
          <a:lstStyle/>
          <a:p>
            <a:pPr algn="l"/>
            <a:r>
              <a:rPr sz="1000" b="1">
                <a:solidFill>
                  <a:srgbClr val="FFFFFF"/>
                </a:solidFill>
                <a:latin typeface="Segoe UI"/>
              </a:rPr>
              <a:t>400V,10uF</a:t>
            </a:r>
          </a:p>
        </p:txBody>
      </p:sp>
      <p:sp>
        <p:nvSpPr>
          <p:cNvPr id="47" name="TextBox 46"/>
          <p:cNvSpPr txBox="1"/>
          <p:nvPr/>
        </p:nvSpPr>
        <p:spPr>
          <a:xfrm>
            <a:off x="822960" y="5093208"/>
            <a:ext cx="11064240" cy="365760"/>
          </a:xfrm>
          <a:prstGeom prst="rect">
            <a:avLst/>
          </a:prstGeom>
          <a:noFill/>
        </p:spPr>
        <p:txBody>
          <a:bodyPr wrap="square" anchor="ctr" lIns="0" rIns="0" tIns="0" bIns="0">
            <a:spAutoFit/>
          </a:bodyPr>
          <a:lstStyle/>
          <a:p>
            <a:pPr algn="l"/>
            <a:r>
              <a:rPr sz="1250" b="1">
                <a:solidFill>
                  <a:srgbClr val="B45309"/>
                </a:solidFill>
                <a:latin typeface="Segoe UI"/>
              </a:rPr>
              <a:t>① Nhập BOM    ② Danh sách linh kiện    ③ Thông tin BOM</a:t>
            </a:r>
          </a:p>
        </p:txBody>
      </p:sp>
      <p:sp>
        <p:nvSpPr>
          <p:cNvPr id="48" name="TextBox 47"/>
          <p:cNvSpPr txBox="1"/>
          <p:nvPr/>
        </p:nvSpPr>
        <p:spPr>
          <a:xfrm>
            <a:off x="548640" y="534924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quản lý linh kiện — trái là danh sách, phải là chi tiết linh kiện đã chọn.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5. Việc đầu tiên — Đăng ký linh kiện</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5/17</a:t>
            </a:r>
          </a:p>
        </p:txBody>
      </p:sp>
      <p:sp>
        <p:nvSpPr>
          <p:cNvPr id="5" name="Rounded Rectangle 4"/>
          <p:cNvSpPr/>
          <p:nvPr/>
        </p:nvSpPr>
        <p:spPr>
          <a:xfrm>
            <a:off x="640080" y="1143000"/>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43000"/>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BOM của model khác cũng cứ nhập vào.</a:t>
            </a:r>
            <a:r>
              <a:rPr sz="1250" b="0">
                <a:solidFill>
                  <a:srgbClr val="111827"/>
                </a:solidFill>
                <a:latin typeface="Segoe UI"/>
              </a:rPr>
              <a:t> Mã đã có sẽ tự động bỏ qua, và nếu thiếu thông tin quy cách·nhà sản xuất thì sẽ được bổ sung.</a:t>
            </a:r>
          </a:p>
        </p:txBody>
      </p:sp>
      <p:sp>
        <p:nvSpPr>
          <p:cNvPr id="7" name="TextBox 6"/>
          <p:cNvSpPr txBox="1"/>
          <p:nvPr/>
        </p:nvSpPr>
        <p:spPr>
          <a:xfrm>
            <a:off x="640080" y="1856232"/>
            <a:ext cx="10881360" cy="457200"/>
          </a:xfrm>
          <a:prstGeom prst="rect">
            <a:avLst/>
          </a:prstGeom>
          <a:noFill/>
        </p:spPr>
        <p:txBody>
          <a:bodyPr wrap="square" anchor="t" lIns="0" rIns="0" tIns="0" bIns="0">
            <a:spAutoFit/>
          </a:bodyPr>
          <a:lstStyle/>
          <a:p>
            <a:pPr algn="l"/>
            <a:r>
              <a:rPr sz="1350" b="0">
                <a:solidFill>
                  <a:srgbClr val="111827"/>
                </a:solidFill>
                <a:latin typeface="Segoe UI"/>
              </a:rPr>
              <a:t>Nhấn vào linh kiện để xem </a:t>
            </a:r>
            <a:r>
              <a:rPr sz="1350" b="1">
                <a:solidFill>
                  <a:srgbClr val="111827"/>
                </a:solidFill>
                <a:latin typeface="Segoe UI"/>
              </a:rPr>
              <a:t>thông tin BOM</a:t>
            </a:r>
            <a:r>
              <a:rPr sz="1350" b="0">
                <a:solidFill>
                  <a:srgbClr val="111827"/>
                </a:solidFill>
                <a:latin typeface="Segoe UI"/>
              </a:rPr>
              <a:t> (mã·tên·quy cách·số lượng·nhà sản xuất·mã khách hàng), </a:t>
            </a:r>
            <a:r>
              <a:rPr sz="1350" b="1">
                <a:solidFill>
                  <a:srgbClr val="111827"/>
                </a:solidFill>
                <a:latin typeface="Segoe UI"/>
              </a:rPr>
              <a:t>lịch sử phân tích video</a:t>
            </a:r>
            <a:r>
              <a:rPr sz="1350" b="0">
                <a:solidFill>
                  <a:srgbClr val="111827"/>
                </a:solidFill>
                <a:latin typeface="Segoe UI"/>
              </a:rPr>
              <a:t> và </a:t>
            </a:r>
            <a:r>
              <a:rPr sz="1350" b="1">
                <a:solidFill>
                  <a:srgbClr val="111827"/>
                </a:solidFill>
                <a:latin typeface="Segoe UI"/>
              </a:rPr>
              <a:t>DB thời gian chuẩn</a:t>
            </a:r>
            <a:r>
              <a:rPr sz="1350" b="0">
                <a:solidFill>
                  <a:srgbClr val="111827"/>
                </a:solidFill>
                <a:latin typeface="Segoe UI"/>
              </a:rPr>
              <a:t>.</a:t>
            </a:r>
          </a:p>
        </p:txBody>
      </p:sp>
      <p:graphicFrame>
        <p:nvGraphicFramePr>
          <p:cNvPr id="8" name="Table 7"/>
          <p:cNvGraphicFramePr>
            <a:graphicFrameLocks noGrp="1"/>
          </p:cNvGraphicFramePr>
          <p:nvPr/>
        </p:nvGraphicFramePr>
        <p:xfrm>
          <a:off x="640080" y="2423160"/>
          <a:ext cx="10881360" cy="1481328"/>
        </p:xfrm>
        <a:graphic>
          <a:graphicData uri="http://schemas.openxmlformats.org/drawingml/2006/table">
            <a:tbl>
              <a:tblPr firstRow="1" bandRow="1">
                <a:tableStyleId>{5C22544A-7EE6-4342-B048-85BDC9FD1C3A}</a:tableStyleId>
              </a:tblPr>
              <a:tblGrid>
                <a:gridCol w="5440680"/>
                <a:gridCol w="5440680"/>
              </a:tblGrid>
              <a:tr h="296265">
                <a:tc>
                  <a:txBody>
                    <a:bodyPr/>
                    <a:lstStyle/>
                    <a:p>
                      <a:r>
                        <a:rPr sz="1100" b="1">
                          <a:solidFill>
                            <a:srgbClr val="FFFFFF"/>
                          </a:solidFill>
                          <a:latin typeface="Segoe UI"/>
                        </a:rPr>
                        <a:t>Nút</a:t>
                      </a:r>
                    </a:p>
                  </a:txBody>
                  <a:tcPr marL="54864" marR="54864">
                    <a:solidFill>
                      <a:srgbClr val="1E3A5F"/>
                    </a:solidFill>
                  </a:tcPr>
                </a:tc>
                <a:tc>
                  <a:txBody>
                    <a:bodyPr/>
                    <a:lstStyle/>
                    <a:p>
                      <a:r>
                        <a:rPr sz="1100" b="1">
                          <a:solidFill>
                            <a:srgbClr val="FFFFFF"/>
                          </a:solidFill>
                          <a:latin typeface="Segoe UI"/>
                        </a:rPr>
                        <a:t>Chức năng</a:t>
                      </a:r>
                    </a:p>
                  </a:txBody>
                  <a:tcPr marL="54864" marR="54864">
                    <a:solidFill>
                      <a:srgbClr val="1E3A5F"/>
                    </a:solidFill>
                  </a:tcPr>
                </a:tc>
              </a:tr>
              <a:tr h="296265">
                <a:tc>
                  <a:txBody>
                    <a:bodyPr/>
                    <a:lstStyle/>
                    <a:p>
                      <a:pPr>
                        <a:lnSpc>
                          <a:spcPct val="95000"/>
                        </a:lnSpc>
                      </a:pPr>
                      <a:r>
                        <a:rPr sz="1100" b="0">
                          <a:solidFill>
                            <a:srgbClr val="111827"/>
                          </a:solidFill>
                          <a:latin typeface="Segoe UI"/>
                        </a:rPr>
                        <a:t>📋 Nhập BOM</a:t>
                      </a:r>
                    </a:p>
                  </a:txBody>
                  <a:tcPr marL="54864" marR="54864" marT="18288" marB="18288">
                    <a:solidFill>
                      <a:srgbClr val="F1F5F9"/>
                    </a:solidFill>
                  </a:tcPr>
                </a:tc>
                <a:tc>
                  <a:txBody>
                    <a:bodyPr/>
                    <a:lstStyle/>
                    <a:p>
                      <a:pPr>
                        <a:lnSpc>
                          <a:spcPct val="95000"/>
                        </a:lnSpc>
                      </a:pPr>
                      <a:r>
                        <a:rPr sz="1100" b="0">
                          <a:solidFill>
                            <a:srgbClr val="111827"/>
                          </a:solidFill>
                          <a:latin typeface="Segoe UI"/>
                        </a:rPr>
                        <a:t>Trích linh kiện MI từ file BOM và thêm vào danh sách (tự loại trùng)</a:t>
                      </a:r>
                    </a:p>
                  </a:txBody>
                  <a:tcPr marL="54864" marR="54864" marT="18288" marB="18288">
                    <a:solidFill>
                      <a:srgbClr val="F1F5F9"/>
                    </a:solidFill>
                  </a:tcPr>
                </a:tc>
              </a:tr>
              <a:tr h="296265">
                <a:tc>
                  <a:txBody>
                    <a:bodyPr/>
                    <a:lstStyle/>
                    <a:p>
                      <a:pPr>
                        <a:lnSpc>
                          <a:spcPct val="95000"/>
                        </a:lnSpc>
                      </a:pPr>
                      <a:r>
                        <a:rPr sz="1100" b="0">
                          <a:solidFill>
                            <a:srgbClr val="111827"/>
                          </a:solidFill>
                          <a:latin typeface="Segoe UI"/>
                        </a:rPr>
                        <a:t>🧹 Dọn linh kiện thiếu tên</a:t>
                      </a:r>
                    </a:p>
                  </a:txBody>
                  <a:tcPr marL="54864" marR="54864" marT="18288" marB="18288">
                    <a:solidFill>
                      <a:srgbClr val="FFFFFF"/>
                    </a:solidFill>
                  </a:tcPr>
                </a:tc>
                <a:tc>
                  <a:txBody>
                    <a:bodyPr/>
                    <a:lstStyle/>
                    <a:p>
                      <a:pPr>
                        <a:lnSpc>
                          <a:spcPct val="95000"/>
                        </a:lnSpc>
                      </a:pPr>
                      <a:r>
                        <a:rPr sz="1100" b="0">
                          <a:solidFill>
                            <a:srgbClr val="111827"/>
                          </a:solidFill>
                          <a:latin typeface="Segoe UI"/>
                        </a:rPr>
                        <a:t>Chỉ xóa linh kiện đăng ký sai trước đây mà thiếu tên. Linh kiện đã có dữ liệu đo sẽ được giữ lại.</a:t>
                      </a:r>
                    </a:p>
                  </a:txBody>
                  <a:tcPr marL="54864" marR="54864" marT="18288" marB="18288">
                    <a:solidFill>
                      <a:srgbClr val="FFFFFF"/>
                    </a:solidFill>
                  </a:tcPr>
                </a:tc>
              </a:tr>
              <a:tr h="296265">
                <a:tc>
                  <a:txBody>
                    <a:bodyPr/>
                    <a:lstStyle/>
                    <a:p>
                      <a:pPr>
                        <a:lnSpc>
                          <a:spcPct val="95000"/>
                        </a:lnSpc>
                      </a:pPr>
                      <a:r>
                        <a:rPr sz="1100" b="0">
                          <a:solidFill>
                            <a:srgbClr val="111827"/>
                          </a:solidFill>
                          <a:latin typeface="Segoe UI"/>
                        </a:rPr>
                        <a:t>🗑 Xóa toàn bộ</a:t>
                      </a:r>
                    </a:p>
                  </a:txBody>
                  <a:tcPr marL="54864" marR="54864" marT="18288" marB="18288">
                    <a:solidFill>
                      <a:srgbClr val="F1F5F9"/>
                    </a:solidFill>
                  </a:tcPr>
                </a:tc>
                <a:tc>
                  <a:txBody>
                    <a:bodyPr/>
                    <a:lstStyle/>
                    <a:p>
                      <a:pPr>
                        <a:lnSpc>
                          <a:spcPct val="95000"/>
                        </a:lnSpc>
                      </a:pPr>
                      <a:r>
                        <a:rPr sz="1100" b="0">
                          <a:solidFill>
                            <a:srgbClr val="111827"/>
                          </a:solidFill>
                          <a:latin typeface="Segoe UI"/>
                        </a:rPr>
                        <a:t>Xóa </a:t>
                      </a:r>
                      <a:r>
                        <a:rPr sz="1100" b="1">
                          <a:solidFill>
                            <a:srgbClr val="111827"/>
                          </a:solidFill>
                          <a:latin typeface="Segoe UI"/>
                        </a:rPr>
                        <a:t>tất cả</a:t>
                      </a:r>
                      <a:r>
                        <a:rPr sz="1100" b="0">
                          <a:solidFill>
                            <a:srgbClr val="111827"/>
                          </a:solidFill>
                          <a:latin typeface="Segoe UI"/>
                        </a:rPr>
                        <a:t> danh sách linh kiện và thời gian chuẩn. Không thể hoàn tác.</a:t>
                      </a:r>
                    </a:p>
                  </a:txBody>
                  <a:tcPr marL="54864" marR="54864" marT="18288" marB="18288">
                    <a:solidFill>
                      <a:srgbClr val="F1F5F9"/>
                    </a:solidFill>
                  </a:tcPr>
                </a:tc>
              </a:tr>
              <a:tr h="296268">
                <a:tc>
                  <a:txBody>
                    <a:bodyPr/>
                    <a:lstStyle/>
                    <a:p>
                      <a:pPr>
                        <a:lnSpc>
                          <a:spcPct val="95000"/>
                        </a:lnSpc>
                      </a:pPr>
                      <a:r>
                        <a:rPr sz="1100" b="0">
                          <a:solidFill>
                            <a:srgbClr val="111827"/>
                          </a:solidFill>
                          <a:latin typeface="Segoe UI"/>
                        </a:rPr>
                        <a:t>⬆ Xuất ra tệp / ⬇ Nhập</a:t>
                      </a:r>
                    </a:p>
                  </a:txBody>
                  <a:tcPr marL="54864" marR="54864" marT="18288" marB="18288">
                    <a:solidFill>
                      <a:srgbClr val="FFFFFF"/>
                    </a:solidFill>
                  </a:tcPr>
                </a:tc>
                <a:tc>
                  <a:txBody>
                    <a:bodyPr/>
                    <a:lstStyle/>
                    <a:p>
                      <a:pPr>
                        <a:lnSpc>
                          <a:spcPct val="95000"/>
                        </a:lnSpc>
                      </a:pPr>
                      <a:r>
                        <a:rPr sz="1100" b="0">
                          <a:solidFill>
                            <a:srgbClr val="111827"/>
                          </a:solidFill>
                          <a:latin typeface="Segoe UI"/>
                        </a:rPr>
                        <a:t>Dùng khi chuyển nguyên DB linh kiện sang máy khác.</a:t>
                      </a:r>
                    </a:p>
                  </a:txBody>
                  <a:tcPr marL="54864" marR="54864" marT="18288" marB="18288">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6. Phân tích thao tác — Đo thời gian bằng video</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Đây là phần cốt lõi. Vừa xem video vừa nhấp một lần khi động tác bắt đầu và một lần khi kết thúc.</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6/17</a:t>
            </a:r>
          </a:p>
        </p:txBody>
      </p:sp>
      <p:sp>
        <p:nvSpPr>
          <p:cNvPr id="6" name="Oval 5"/>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8" name="TextBox 7"/>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Nhấn menu </a:t>
            </a:r>
            <a:r>
              <a:rPr sz="1300" b="1">
                <a:solidFill>
                  <a:srgbClr val="111827"/>
                </a:solidFill>
                <a:latin typeface="Segoe UI"/>
              </a:rPr>
              <a:t>📹 Phân tích thao tác</a:t>
            </a:r>
            <a:r>
              <a:rPr sz="1300" b="0">
                <a:solidFill>
                  <a:srgbClr val="111827"/>
                </a:solidFill>
                <a:latin typeface="Segoe UI"/>
              </a:rPr>
              <a:t> và mở video bằng </a:t>
            </a:r>
            <a:r>
              <a:rPr sz="1300" b="1">
                <a:solidFill>
                  <a:srgbClr val="111827"/>
                </a:solidFill>
                <a:latin typeface="Segoe UI"/>
              </a:rPr>
              <a:t>[Tải video]</a:t>
            </a:r>
            <a:r>
              <a:rPr sz="1300" b="0">
                <a:solidFill>
                  <a:srgbClr val="111827"/>
                </a:solidFill>
                <a:latin typeface="Segoe UI"/>
              </a:rPr>
              <a:t>.</a:t>
            </a:r>
          </a:p>
        </p:txBody>
      </p:sp>
      <p:sp>
        <p:nvSpPr>
          <p:cNvPr id="9" name="Oval 8"/>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1" name="TextBox 10"/>
          <p:cNvSpPr txBox="1"/>
          <p:nvPr/>
        </p:nvSpPr>
        <p:spPr>
          <a:xfrm>
            <a:off x="1097280" y="1472184"/>
            <a:ext cx="10424160" cy="310896"/>
          </a:xfrm>
          <a:prstGeom prst="rect">
            <a:avLst/>
          </a:prstGeom>
          <a:noFill/>
        </p:spPr>
        <p:txBody>
          <a:bodyPr wrap="square" anchor="ctr" lIns="0" rIns="0" tIns="0" bIns="0">
            <a:spAutoFit/>
          </a:bodyPr>
          <a:lstStyle/>
          <a:p>
            <a:pPr algn="l"/>
            <a:r>
              <a:rPr sz="1300" b="0">
                <a:solidFill>
                  <a:srgbClr val="111827"/>
                </a:solidFill>
                <a:latin typeface="Segoe UI"/>
              </a:rPr>
              <a:t>Chọn </a:t>
            </a:r>
            <a:r>
              <a:rPr sz="1300" b="1">
                <a:solidFill>
                  <a:srgbClr val="111827"/>
                </a:solidFill>
                <a:latin typeface="Segoe UI"/>
              </a:rPr>
              <a:t>linh kiện</a:t>
            </a:r>
            <a:r>
              <a:rPr sz="1300" b="0">
                <a:solidFill>
                  <a:srgbClr val="111827"/>
                </a:solidFill>
                <a:latin typeface="Segoe UI"/>
              </a:rPr>
              <a:t> đang đo ở phía trên bên phải.</a:t>
            </a:r>
          </a:p>
        </p:txBody>
      </p:sp>
      <p:sp>
        <p:nvSpPr>
          <p:cNvPr id="12" name="Oval 11"/>
          <p:cNvSpPr/>
          <p:nvPr/>
        </p:nvSpPr>
        <p:spPr>
          <a:xfrm>
            <a:off x="685800" y="182879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28799"/>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4" name="TextBox 13"/>
          <p:cNvSpPr txBox="1"/>
          <p:nvPr/>
        </p:nvSpPr>
        <p:spPr>
          <a:xfrm>
            <a:off x="1097280" y="1801367"/>
            <a:ext cx="10424160" cy="310896"/>
          </a:xfrm>
          <a:prstGeom prst="rect">
            <a:avLst/>
          </a:prstGeom>
          <a:noFill/>
        </p:spPr>
        <p:txBody>
          <a:bodyPr wrap="square" anchor="ctr" lIns="0" rIns="0" tIns="0" bIns="0">
            <a:spAutoFit/>
          </a:bodyPr>
          <a:lstStyle/>
          <a:p>
            <a:pPr algn="l"/>
            <a:r>
              <a:rPr sz="1300" b="0">
                <a:solidFill>
                  <a:srgbClr val="111827"/>
                </a:solidFill>
                <a:latin typeface="Segoe UI"/>
              </a:rPr>
              <a:t>Chọn </a:t>
            </a:r>
            <a:r>
              <a:rPr sz="1300" b="1">
                <a:solidFill>
                  <a:srgbClr val="111827"/>
                </a:solidFill>
                <a:latin typeface="Segoe UI"/>
              </a:rPr>
              <a:t>tay</a:t>
            </a:r>
            <a:r>
              <a:rPr sz="1300" b="0">
                <a:solidFill>
                  <a:srgbClr val="111827"/>
                </a:solidFill>
                <a:latin typeface="Segoe UI"/>
              </a:rPr>
              <a:t> — </a:t>
            </a:r>
            <a:r>
              <a:rPr sz="1300" b="0">
                <a:solidFill>
                  <a:srgbClr val="111827"/>
                </a:solidFill>
                <a:latin typeface="Segoe UI"/>
              </a:rPr>
              <a:t>🤚 LH</a:t>
            </a:r>
            <a:r>
              <a:rPr sz="1300" b="0">
                <a:solidFill>
                  <a:srgbClr val="111827"/>
                </a:solidFill>
                <a:latin typeface="Segoe UI"/>
              </a:rPr>
              <a:t>(tay trái) / </a:t>
            </a:r>
            <a:r>
              <a:rPr sz="1300" b="0">
                <a:solidFill>
                  <a:srgbClr val="111827"/>
                </a:solidFill>
                <a:latin typeface="Segoe UI"/>
              </a:rPr>
              <a:t>✋ RH</a:t>
            </a:r>
            <a:r>
              <a:rPr sz="1300" b="0">
                <a:solidFill>
                  <a:srgbClr val="111827"/>
                </a:solidFill>
                <a:latin typeface="Segoe UI"/>
              </a:rPr>
              <a:t>(tay phải) / </a:t>
            </a:r>
            <a:r>
              <a:rPr sz="1300" b="0">
                <a:solidFill>
                  <a:srgbClr val="111827"/>
                </a:solidFill>
                <a:latin typeface="Segoe UI"/>
              </a:rPr>
              <a:t>🖐 một tay</a:t>
            </a:r>
            <a:r>
              <a:rPr sz="1300" b="0">
                <a:solidFill>
                  <a:srgbClr val="111827"/>
                </a:solidFill>
                <a:latin typeface="Segoe UI"/>
              </a:rPr>
              <a:t>(thao tác chỉ dùng một tay).</a:t>
            </a:r>
          </a:p>
        </p:txBody>
      </p:sp>
      <p:sp>
        <p:nvSpPr>
          <p:cNvPr id="15" name="Oval 14"/>
          <p:cNvSpPr/>
          <p:nvPr/>
        </p:nvSpPr>
        <p:spPr>
          <a:xfrm>
            <a:off x="685800" y="2157983"/>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57983"/>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17" name="TextBox 16"/>
          <p:cNvSpPr txBox="1"/>
          <p:nvPr/>
        </p:nvSpPr>
        <p:spPr>
          <a:xfrm>
            <a:off x="1097280" y="2130551"/>
            <a:ext cx="10424160" cy="310896"/>
          </a:xfrm>
          <a:prstGeom prst="rect">
            <a:avLst/>
          </a:prstGeom>
          <a:noFill/>
        </p:spPr>
        <p:txBody>
          <a:bodyPr wrap="square" anchor="ctr" lIns="0" rIns="0" tIns="0" bIns="0">
            <a:spAutoFit/>
          </a:bodyPr>
          <a:lstStyle/>
          <a:p>
            <a:pPr algn="l"/>
            <a:r>
              <a:rPr sz="1300" b="0">
                <a:solidFill>
                  <a:srgbClr val="111827"/>
                </a:solidFill>
                <a:latin typeface="Segoe UI"/>
              </a:rPr>
              <a:t>Phát video và </a:t>
            </a:r>
            <a:r>
              <a:rPr sz="1300" b="1">
                <a:solidFill>
                  <a:srgbClr val="111827"/>
                </a:solidFill>
                <a:latin typeface="Segoe UI"/>
              </a:rPr>
              <a:t>nhấp lên màn hình video ngay khi động tác bắt đầu</a:t>
            </a:r>
            <a:r>
              <a:rPr sz="1300" b="0">
                <a:solidFill>
                  <a:srgbClr val="111827"/>
                </a:solidFill>
                <a:latin typeface="Segoe UI"/>
              </a:rPr>
              <a:t>. (Dấu bắt đầu)</a:t>
            </a:r>
          </a:p>
        </p:txBody>
      </p:sp>
      <p:sp>
        <p:nvSpPr>
          <p:cNvPr id="18" name="Oval 17"/>
          <p:cNvSpPr/>
          <p:nvPr/>
        </p:nvSpPr>
        <p:spPr>
          <a:xfrm>
            <a:off x="685800" y="2487167"/>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87167"/>
            <a:ext cx="274320" cy="274320"/>
          </a:xfrm>
          <a:prstGeom prst="rect">
            <a:avLst/>
          </a:prstGeom>
          <a:noFill/>
        </p:spPr>
        <p:txBody>
          <a:bodyPr wrap="square" anchor="ctr" lIns="0" rIns="0" tIns="0" bIns="0">
            <a:spAutoFit/>
          </a:bodyPr>
          <a:lstStyle/>
          <a:p>
            <a:pPr algn="ctr"/>
            <a:r>
              <a:rPr sz="1200" b="1">
                <a:solidFill>
                  <a:srgbClr val="FFFFFF"/>
                </a:solidFill>
                <a:latin typeface="Segoe UI"/>
              </a:rPr>
              <a:t>5</a:t>
            </a:r>
          </a:p>
        </p:txBody>
      </p:sp>
      <p:sp>
        <p:nvSpPr>
          <p:cNvPr id="20" name="TextBox 19"/>
          <p:cNvSpPr txBox="1"/>
          <p:nvPr/>
        </p:nvSpPr>
        <p:spPr>
          <a:xfrm>
            <a:off x="1097280" y="2459735"/>
            <a:ext cx="10424160" cy="310896"/>
          </a:xfrm>
          <a:prstGeom prst="rect">
            <a:avLst/>
          </a:prstGeom>
          <a:noFill/>
        </p:spPr>
        <p:txBody>
          <a:bodyPr wrap="square" anchor="ctr" lIns="0" rIns="0" tIns="0" bIns="0">
            <a:spAutoFit/>
          </a:bodyPr>
          <a:lstStyle/>
          <a:p>
            <a:pPr algn="l"/>
            <a:r>
              <a:rPr sz="1300" b="1">
                <a:solidFill>
                  <a:srgbClr val="111827"/>
                </a:solidFill>
                <a:latin typeface="Segoe UI"/>
              </a:rPr>
              <a:t>Nhấp lần nữa ngay khi động tác kết thúc</a:t>
            </a:r>
            <a:r>
              <a:rPr sz="1300" b="0">
                <a:solidFill>
                  <a:srgbClr val="111827"/>
                </a:solidFill>
                <a:latin typeface="Segoe UI"/>
              </a:rPr>
              <a:t>. Một dòng được thêm vào bảng. (Dấu kết thúc)</a:t>
            </a:r>
          </a:p>
        </p:txBody>
      </p:sp>
      <p:sp>
        <p:nvSpPr>
          <p:cNvPr id="21" name="Oval 20"/>
          <p:cNvSpPr/>
          <p:nvPr/>
        </p:nvSpPr>
        <p:spPr>
          <a:xfrm>
            <a:off x="685800" y="2816351"/>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16351"/>
            <a:ext cx="274320" cy="274320"/>
          </a:xfrm>
          <a:prstGeom prst="rect">
            <a:avLst/>
          </a:prstGeom>
          <a:noFill/>
        </p:spPr>
        <p:txBody>
          <a:bodyPr wrap="square" anchor="ctr" lIns="0" rIns="0" tIns="0" bIns="0">
            <a:spAutoFit/>
          </a:bodyPr>
          <a:lstStyle/>
          <a:p>
            <a:pPr algn="ctr"/>
            <a:r>
              <a:rPr sz="1200" b="1">
                <a:solidFill>
                  <a:srgbClr val="FFFFFF"/>
                </a:solidFill>
                <a:latin typeface="Segoe UI"/>
              </a:rPr>
              <a:t>6</a:t>
            </a:r>
          </a:p>
        </p:txBody>
      </p:sp>
      <p:sp>
        <p:nvSpPr>
          <p:cNvPr id="23" name="TextBox 22"/>
          <p:cNvSpPr txBox="1"/>
          <p:nvPr/>
        </p:nvSpPr>
        <p:spPr>
          <a:xfrm>
            <a:off x="1097280" y="2788919"/>
            <a:ext cx="10424160" cy="310896"/>
          </a:xfrm>
          <a:prstGeom prst="rect">
            <a:avLst/>
          </a:prstGeom>
          <a:noFill/>
        </p:spPr>
        <p:txBody>
          <a:bodyPr wrap="square" anchor="ctr" lIns="0" rIns="0" tIns="0" bIns="0">
            <a:spAutoFit/>
          </a:bodyPr>
          <a:lstStyle/>
          <a:p>
            <a:pPr algn="l"/>
            <a:r>
              <a:rPr sz="1300" b="0">
                <a:solidFill>
                  <a:srgbClr val="111827"/>
                </a:solidFill>
                <a:latin typeface="Segoe UI"/>
              </a:rPr>
              <a:t>Ghi tên thao tác và chọn phân loại (giá trị/phụ trợ/lãng phí).</a:t>
            </a:r>
          </a:p>
        </p:txBody>
      </p:sp>
      <p:sp>
        <p:nvSpPr>
          <p:cNvPr id="24" name="Oval 23"/>
          <p:cNvSpPr/>
          <p:nvPr/>
        </p:nvSpPr>
        <p:spPr>
          <a:xfrm>
            <a:off x="685800" y="3145535"/>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145535"/>
            <a:ext cx="274320" cy="274320"/>
          </a:xfrm>
          <a:prstGeom prst="rect">
            <a:avLst/>
          </a:prstGeom>
          <a:noFill/>
        </p:spPr>
        <p:txBody>
          <a:bodyPr wrap="square" anchor="ctr" lIns="0" rIns="0" tIns="0" bIns="0">
            <a:spAutoFit/>
          </a:bodyPr>
          <a:lstStyle/>
          <a:p>
            <a:pPr algn="ctr"/>
            <a:r>
              <a:rPr sz="1200" b="1">
                <a:solidFill>
                  <a:srgbClr val="FFFFFF"/>
                </a:solidFill>
                <a:latin typeface="Segoe UI"/>
              </a:rPr>
              <a:t>7</a:t>
            </a:r>
          </a:p>
        </p:txBody>
      </p:sp>
      <p:sp>
        <p:nvSpPr>
          <p:cNvPr id="26" name="TextBox 25"/>
          <p:cNvSpPr txBox="1"/>
          <p:nvPr/>
        </p:nvSpPr>
        <p:spPr>
          <a:xfrm>
            <a:off x="1097280" y="3118103"/>
            <a:ext cx="10424160" cy="310896"/>
          </a:xfrm>
          <a:prstGeom prst="rect">
            <a:avLst/>
          </a:prstGeom>
          <a:noFill/>
        </p:spPr>
        <p:txBody>
          <a:bodyPr wrap="square" anchor="ctr" lIns="0" rIns="0" tIns="0" bIns="0">
            <a:spAutoFit/>
          </a:bodyPr>
          <a:lstStyle/>
          <a:p>
            <a:pPr algn="l"/>
            <a:r>
              <a:rPr sz="1300" b="0">
                <a:solidFill>
                  <a:srgbClr val="111827"/>
                </a:solidFill>
                <a:latin typeface="Segoe UI"/>
              </a:rPr>
              <a:t>Hết một chu kỳ thì nhấn </a:t>
            </a:r>
            <a:r>
              <a:rPr sz="1300" b="1">
                <a:solidFill>
                  <a:srgbClr val="111827"/>
                </a:solidFill>
                <a:latin typeface="Segoe UI"/>
              </a:rPr>
              <a:t>[Chu kỳ tiếp theo]</a:t>
            </a:r>
            <a:r>
              <a:rPr sz="1300" b="0">
                <a:solidFill>
                  <a:srgbClr val="111827"/>
                </a:solidFill>
                <a:latin typeface="Segoe UI"/>
              </a:rPr>
              <a:t> và lặp lại 3~5 lần.</a:t>
            </a:r>
          </a:p>
        </p:txBody>
      </p:sp>
      <p:sp>
        <p:nvSpPr>
          <p:cNvPr id="27" name="Oval 26"/>
          <p:cNvSpPr/>
          <p:nvPr/>
        </p:nvSpPr>
        <p:spPr>
          <a:xfrm>
            <a:off x="685800" y="347471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474719"/>
            <a:ext cx="274320" cy="274320"/>
          </a:xfrm>
          <a:prstGeom prst="rect">
            <a:avLst/>
          </a:prstGeom>
          <a:noFill/>
        </p:spPr>
        <p:txBody>
          <a:bodyPr wrap="square" anchor="ctr" lIns="0" rIns="0" tIns="0" bIns="0">
            <a:spAutoFit/>
          </a:bodyPr>
          <a:lstStyle/>
          <a:p>
            <a:pPr algn="ctr"/>
            <a:r>
              <a:rPr sz="1200" b="1">
                <a:solidFill>
                  <a:srgbClr val="FFFFFF"/>
                </a:solidFill>
                <a:latin typeface="Segoe UI"/>
              </a:rPr>
              <a:t>8</a:t>
            </a:r>
          </a:p>
        </p:txBody>
      </p:sp>
      <p:sp>
        <p:nvSpPr>
          <p:cNvPr id="29" name="TextBox 28"/>
          <p:cNvSpPr txBox="1"/>
          <p:nvPr/>
        </p:nvSpPr>
        <p:spPr>
          <a:xfrm>
            <a:off x="1097280" y="3447287"/>
            <a:ext cx="10424160" cy="310896"/>
          </a:xfrm>
          <a:prstGeom prst="rect">
            <a:avLst/>
          </a:prstGeom>
          <a:noFill/>
        </p:spPr>
        <p:txBody>
          <a:bodyPr wrap="square" anchor="ctr" lIns="0" rIns="0" tIns="0" bIns="0">
            <a:spAutoFit/>
          </a:bodyPr>
          <a:lstStyle/>
          <a:p>
            <a:pPr algn="l"/>
            <a:r>
              <a:rPr sz="1300" b="0">
                <a:solidFill>
                  <a:srgbClr val="111827"/>
                </a:solidFill>
                <a:latin typeface="Segoe UI"/>
              </a:rPr>
              <a:t>Xong thì nhấn </a:t>
            </a:r>
            <a:r>
              <a:rPr sz="1300" b="1">
                <a:solidFill>
                  <a:srgbClr val="111827"/>
                </a:solidFill>
                <a:latin typeface="Segoe UI"/>
              </a:rPr>
              <a:t>[💾 Lưu ST linh kiện]</a:t>
            </a:r>
            <a:r>
              <a:rPr sz="1300" b="0">
                <a:solidFill>
                  <a:srgbClr val="111827"/>
                </a:solidFill>
                <a:latin typeface="Segoe UI"/>
              </a:rPr>
              <a:t> để lưu thời gian chuẩn vào Quản lý linh kiện.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6. Phân tích thao tác — Đo thời gian bằng video</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6/17</a:t>
            </a:r>
          </a:p>
        </p:txBody>
      </p:sp>
      <p:sp>
        <p:nvSpPr>
          <p:cNvPr id="5" name="Rounded Rectangle 4"/>
          <p:cNvSpPr/>
          <p:nvPr/>
        </p:nvSpPr>
        <p:spPr>
          <a:xfrm>
            <a:off x="548640" y="1417320"/>
            <a:ext cx="5120640" cy="274320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468880"/>
            <a:ext cx="5120640" cy="457200"/>
          </a:xfrm>
          <a:prstGeom prst="rect">
            <a:avLst/>
          </a:prstGeom>
          <a:noFill/>
        </p:spPr>
        <p:txBody>
          <a:bodyPr wrap="square" anchor="ctr" lIns="0" rIns="0" tIns="0" bIns="0">
            <a:spAutoFit/>
          </a:bodyPr>
          <a:lstStyle/>
          <a:p>
            <a:pPr algn="ctr"/>
            <a:r>
              <a:rPr sz="3000" b="0">
                <a:solidFill>
                  <a:srgbClr val="1E3A5F"/>
                </a:solidFill>
                <a:latin typeface="Segoe UI"/>
              </a:rPr>
              <a:t>▶</a:t>
            </a:r>
          </a:p>
        </p:txBody>
      </p:sp>
      <p:sp>
        <p:nvSpPr>
          <p:cNvPr id="7" name="TextBox 6"/>
          <p:cNvSpPr txBox="1"/>
          <p:nvPr/>
        </p:nvSpPr>
        <p:spPr>
          <a:xfrm>
            <a:off x="822960" y="3154680"/>
            <a:ext cx="4572000" cy="320040"/>
          </a:xfrm>
          <a:prstGeom prst="rect">
            <a:avLst/>
          </a:prstGeom>
          <a:noFill/>
        </p:spPr>
        <p:txBody>
          <a:bodyPr wrap="square" anchor="ctr" lIns="0" rIns="0" tIns="0" bIns="0">
            <a:spAutoFit/>
          </a:bodyPr>
          <a:lstStyle/>
          <a:p>
            <a:pPr algn="ctr"/>
            <a:r>
              <a:rPr sz="1200" b="0">
                <a:solidFill>
                  <a:srgbClr val="94A3B8"/>
                </a:solidFill>
                <a:latin typeface="Segoe UI"/>
              </a:rPr>
              <a:t>Video thao tác hiển thị ở đây</a:t>
            </a:r>
          </a:p>
        </p:txBody>
      </p:sp>
      <p:sp>
        <p:nvSpPr>
          <p:cNvPr id="8" name="Oval 7"/>
          <p:cNvSpPr/>
          <p:nvPr/>
        </p:nvSpPr>
        <p:spPr>
          <a:xfrm>
            <a:off x="2011680" y="2286000"/>
            <a:ext cx="310896" cy="310896"/>
          </a:xfrm>
          <a:prstGeom prst="ellipse">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286000"/>
            <a:ext cx="310896" cy="310896"/>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10" name="TextBox 9"/>
          <p:cNvSpPr txBox="1"/>
          <p:nvPr/>
        </p:nvSpPr>
        <p:spPr>
          <a:xfrm>
            <a:off x="1097280" y="1901952"/>
            <a:ext cx="2194560" cy="274320"/>
          </a:xfrm>
          <a:prstGeom prst="rect">
            <a:avLst/>
          </a:prstGeom>
          <a:noFill/>
        </p:spPr>
        <p:txBody>
          <a:bodyPr wrap="square" anchor="ctr" lIns="0" rIns="0" tIns="0" bIns="0">
            <a:spAutoFit/>
          </a:bodyPr>
          <a:lstStyle/>
          <a:p>
            <a:pPr algn="ctr"/>
            <a:r>
              <a:rPr sz="1150" b="1">
                <a:solidFill>
                  <a:srgbClr val="159E4E"/>
                </a:solidFill>
                <a:latin typeface="Segoe UI"/>
              </a:rPr>
              <a:t>① Nhấp khi bắt đầu</a:t>
            </a:r>
          </a:p>
        </p:txBody>
      </p:sp>
      <p:sp>
        <p:nvSpPr>
          <p:cNvPr id="11" name="Oval 10"/>
          <p:cNvSpPr/>
          <p:nvPr/>
        </p:nvSpPr>
        <p:spPr>
          <a:xfrm>
            <a:off x="4206240" y="3291839"/>
            <a:ext cx="310896" cy="310896"/>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3291839"/>
            <a:ext cx="310896" cy="310896"/>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3" name="TextBox 12"/>
          <p:cNvSpPr txBox="1"/>
          <p:nvPr/>
        </p:nvSpPr>
        <p:spPr>
          <a:xfrm>
            <a:off x="3291839" y="2907791"/>
            <a:ext cx="2194560" cy="274320"/>
          </a:xfrm>
          <a:prstGeom prst="rect">
            <a:avLst/>
          </a:prstGeom>
          <a:noFill/>
        </p:spPr>
        <p:txBody>
          <a:bodyPr wrap="square" anchor="ctr" lIns="0" rIns="0" tIns="0" bIns="0">
            <a:spAutoFit/>
          </a:bodyPr>
          <a:lstStyle/>
          <a:p>
            <a:pPr algn="ctr"/>
            <a:r>
              <a:rPr sz="1150" b="1">
                <a:solidFill>
                  <a:srgbClr val="DC2626"/>
                </a:solidFill>
                <a:latin typeface="Segoe UI"/>
              </a:rPr>
              <a:t>② Nhấp khi kết thúc</a:t>
            </a:r>
          </a:p>
        </p:txBody>
      </p:sp>
      <p:sp>
        <p:nvSpPr>
          <p:cNvPr id="14" name="TextBox 13"/>
          <p:cNvSpPr txBox="1"/>
          <p:nvPr/>
        </p:nvSpPr>
        <p:spPr>
          <a:xfrm>
            <a:off x="548640" y="4297680"/>
            <a:ext cx="548640" cy="274320"/>
          </a:xfrm>
          <a:prstGeom prst="rect">
            <a:avLst/>
          </a:prstGeom>
          <a:noFill/>
        </p:spPr>
        <p:txBody>
          <a:bodyPr wrap="square" anchor="ctr" lIns="0" rIns="0" tIns="0" bIns="0">
            <a:spAutoFit/>
          </a:bodyPr>
          <a:lstStyle/>
          <a:p>
            <a:pPr algn="l"/>
            <a:r>
              <a:rPr sz="1200" b="0">
                <a:solidFill>
                  <a:srgbClr val="475569"/>
                </a:solidFill>
                <a:latin typeface="Segoe UI"/>
              </a:rPr>
              <a:t>Tay:</a:t>
            </a:r>
          </a:p>
        </p:txBody>
      </p:sp>
      <p:sp>
        <p:nvSpPr>
          <p:cNvPr id="15" name="Rounded Rectangle 14"/>
          <p:cNvSpPr/>
          <p:nvPr/>
        </p:nvSpPr>
        <p:spPr>
          <a:xfrm>
            <a:off x="1143000" y="4270248"/>
            <a:ext cx="1481328" cy="329184"/>
          </a:xfrm>
          <a:prstGeom prst="roundRect">
            <a:avLst>
              <a:gd name="adj" fmla="val 8000"/>
            </a:avLst>
          </a:prstGeom>
          <a:solidFill>
            <a:srgbClr val="2563EB"/>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270248"/>
            <a:ext cx="1481328" cy="329184"/>
          </a:xfrm>
          <a:prstGeom prst="rect">
            <a:avLst/>
          </a:prstGeom>
          <a:noFill/>
        </p:spPr>
        <p:txBody>
          <a:bodyPr wrap="square" anchor="ctr" lIns="0" rIns="0" tIns="0" bIns="0">
            <a:spAutoFit/>
          </a:bodyPr>
          <a:lstStyle/>
          <a:p>
            <a:pPr algn="ctr"/>
            <a:r>
              <a:rPr sz="1100" b="1">
                <a:solidFill>
                  <a:srgbClr val="FFFFFF"/>
                </a:solidFill>
                <a:latin typeface="Segoe UI"/>
              </a:rPr>
              <a:t>🤚 LH Tay trái</a:t>
            </a:r>
          </a:p>
        </p:txBody>
      </p:sp>
      <p:sp>
        <p:nvSpPr>
          <p:cNvPr id="17" name="Rounded Rectangle 16"/>
          <p:cNvSpPr/>
          <p:nvPr/>
        </p:nvSpPr>
        <p:spPr>
          <a:xfrm>
            <a:off x="2715768" y="4270248"/>
            <a:ext cx="1481328" cy="329184"/>
          </a:xfrm>
          <a:prstGeom prst="roundRect">
            <a:avLst>
              <a:gd name="adj" fmla="val 8000"/>
            </a:avLst>
          </a:prstGeom>
          <a:no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15768" y="4270248"/>
            <a:ext cx="1481328" cy="329184"/>
          </a:xfrm>
          <a:prstGeom prst="rect">
            <a:avLst/>
          </a:prstGeom>
          <a:noFill/>
        </p:spPr>
        <p:txBody>
          <a:bodyPr wrap="square" anchor="ctr" lIns="0" rIns="0" tIns="0" bIns="0">
            <a:spAutoFit/>
          </a:bodyPr>
          <a:lstStyle/>
          <a:p>
            <a:pPr algn="ctr"/>
            <a:r>
              <a:rPr sz="1100" b="1">
                <a:solidFill>
                  <a:srgbClr val="159E4E"/>
                </a:solidFill>
                <a:latin typeface="Segoe UI"/>
              </a:rPr>
              <a:t>✋ RH Tay phải</a:t>
            </a:r>
          </a:p>
        </p:txBody>
      </p:sp>
      <p:sp>
        <p:nvSpPr>
          <p:cNvPr id="19" name="Rounded Rectangle 18"/>
          <p:cNvSpPr/>
          <p:nvPr/>
        </p:nvSpPr>
        <p:spPr>
          <a:xfrm>
            <a:off x="4288536" y="4270248"/>
            <a:ext cx="1481328" cy="329184"/>
          </a:xfrm>
          <a:prstGeom prst="roundRect">
            <a:avLst>
              <a:gd name="adj" fmla="val 8000"/>
            </a:avLst>
          </a:prstGeom>
          <a:no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88536" y="4270248"/>
            <a:ext cx="1481328" cy="329184"/>
          </a:xfrm>
          <a:prstGeom prst="rect">
            <a:avLst/>
          </a:prstGeom>
          <a:noFill/>
        </p:spPr>
        <p:txBody>
          <a:bodyPr wrap="square" anchor="ctr" lIns="0" rIns="0" tIns="0" bIns="0">
            <a:spAutoFit/>
          </a:bodyPr>
          <a:lstStyle/>
          <a:p>
            <a:pPr algn="ctr"/>
            <a:r>
              <a:rPr sz="1100" b="1">
                <a:solidFill>
                  <a:srgbClr val="B45309"/>
                </a:solidFill>
                <a:latin typeface="Segoe UI"/>
              </a:rPr>
              <a:t>🖐 Một tay</a:t>
            </a:r>
          </a:p>
        </p:txBody>
      </p:sp>
      <p:sp>
        <p:nvSpPr>
          <p:cNvPr id="21" name="Rounded Rectangle 20"/>
          <p:cNvSpPr/>
          <p:nvPr/>
        </p:nvSpPr>
        <p:spPr>
          <a:xfrm>
            <a:off x="5989320" y="1417320"/>
            <a:ext cx="5669280" cy="324612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80759" y="1508760"/>
            <a:ext cx="5486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1508760"/>
            <a:ext cx="1645920" cy="292608"/>
          </a:xfrm>
          <a:prstGeom prst="rect">
            <a:avLst/>
          </a:prstGeom>
          <a:noFill/>
        </p:spPr>
        <p:txBody>
          <a:bodyPr wrap="square" anchor="ctr" lIns="0" rIns="0" tIns="0" bIns="0">
            <a:spAutoFit/>
          </a:bodyPr>
          <a:lstStyle/>
          <a:p>
            <a:pPr algn="l"/>
            <a:r>
              <a:rPr sz="1000" b="1">
                <a:solidFill>
                  <a:srgbClr val="93C5FD"/>
                </a:solidFill>
                <a:latin typeface="Segoe UI"/>
              </a:rPr>
              <a:t>Tên thao tác</a:t>
            </a:r>
          </a:p>
        </p:txBody>
      </p:sp>
      <p:sp>
        <p:nvSpPr>
          <p:cNvPr id="24" name="TextBox 23"/>
          <p:cNvSpPr txBox="1"/>
          <p:nvPr/>
        </p:nvSpPr>
        <p:spPr>
          <a:xfrm>
            <a:off x="7909560" y="1508760"/>
            <a:ext cx="1645920" cy="292608"/>
          </a:xfrm>
          <a:prstGeom prst="rect">
            <a:avLst/>
          </a:prstGeom>
          <a:noFill/>
        </p:spPr>
        <p:txBody>
          <a:bodyPr wrap="square" anchor="ctr" lIns="0" rIns="0" tIns="0" bIns="0">
            <a:spAutoFit/>
          </a:bodyPr>
          <a:lstStyle/>
          <a:p>
            <a:pPr algn="l"/>
            <a:r>
              <a:rPr sz="1000" b="1">
                <a:solidFill>
                  <a:srgbClr val="93C5FD"/>
                </a:solidFill>
                <a:latin typeface="Segoe UI"/>
              </a:rPr>
              <a:t>Linh kiện</a:t>
            </a:r>
          </a:p>
        </p:txBody>
      </p:sp>
      <p:sp>
        <p:nvSpPr>
          <p:cNvPr id="25" name="TextBox 24"/>
          <p:cNvSpPr txBox="1"/>
          <p:nvPr/>
        </p:nvSpPr>
        <p:spPr>
          <a:xfrm>
            <a:off x="9372600" y="1508760"/>
            <a:ext cx="1645920" cy="292608"/>
          </a:xfrm>
          <a:prstGeom prst="rect">
            <a:avLst/>
          </a:prstGeom>
          <a:noFill/>
        </p:spPr>
        <p:txBody>
          <a:bodyPr wrap="square" anchor="ctr" lIns="0" rIns="0" tIns="0" bIns="0">
            <a:spAutoFit/>
          </a:bodyPr>
          <a:lstStyle/>
          <a:p>
            <a:pPr algn="l"/>
            <a:r>
              <a:rPr sz="1000" b="1">
                <a:solidFill>
                  <a:srgbClr val="93C5FD"/>
                </a:solidFill>
                <a:latin typeface="Segoe UI"/>
              </a:rPr>
              <a:t>Phân loại</a:t>
            </a:r>
          </a:p>
        </p:txBody>
      </p:sp>
      <p:sp>
        <p:nvSpPr>
          <p:cNvPr id="26" name="TextBox 25"/>
          <p:cNvSpPr txBox="1"/>
          <p:nvPr/>
        </p:nvSpPr>
        <p:spPr>
          <a:xfrm>
            <a:off x="10469880" y="1508760"/>
            <a:ext cx="1645920" cy="292608"/>
          </a:xfrm>
          <a:prstGeom prst="rect">
            <a:avLst/>
          </a:prstGeom>
          <a:noFill/>
        </p:spPr>
        <p:txBody>
          <a:bodyPr wrap="square" anchor="ctr" lIns="0" rIns="0" tIns="0" bIns="0">
            <a:spAutoFit/>
          </a:bodyPr>
          <a:lstStyle/>
          <a:p>
            <a:pPr algn="l"/>
            <a:r>
              <a:rPr sz="1000" b="1">
                <a:solidFill>
                  <a:srgbClr val="93C5FD"/>
                </a:solidFill>
                <a:latin typeface="Segoe UI"/>
              </a:rPr>
              <a:t>Bắt đầu</a:t>
            </a:r>
          </a:p>
        </p:txBody>
      </p:sp>
      <p:sp>
        <p:nvSpPr>
          <p:cNvPr id="27" name="TextBox 26"/>
          <p:cNvSpPr txBox="1"/>
          <p:nvPr/>
        </p:nvSpPr>
        <p:spPr>
          <a:xfrm>
            <a:off x="6217920" y="1874519"/>
            <a:ext cx="1645920" cy="310896"/>
          </a:xfrm>
          <a:prstGeom prst="rect">
            <a:avLst/>
          </a:prstGeom>
          <a:noFill/>
        </p:spPr>
        <p:txBody>
          <a:bodyPr wrap="square" anchor="ctr" lIns="0" rIns="0" tIns="0" bIns="0">
            <a:spAutoFit/>
          </a:bodyPr>
          <a:lstStyle/>
          <a:p>
            <a:pPr algn="l"/>
            <a:r>
              <a:rPr sz="1100" b="0">
                <a:solidFill>
                  <a:srgbClr val="FFFFFF"/>
                </a:solidFill>
                <a:latin typeface="Segoe UI"/>
              </a:rPr>
              <a:t>Nhặt linh kiện</a:t>
            </a:r>
          </a:p>
        </p:txBody>
      </p:sp>
      <p:sp>
        <p:nvSpPr>
          <p:cNvPr id="28" name="TextBox 27"/>
          <p:cNvSpPr txBox="1"/>
          <p:nvPr/>
        </p:nvSpPr>
        <p:spPr>
          <a:xfrm>
            <a:off x="7909560" y="1874519"/>
            <a:ext cx="1371600" cy="310896"/>
          </a:xfrm>
          <a:prstGeom prst="rect">
            <a:avLst/>
          </a:prstGeom>
          <a:noFill/>
        </p:spPr>
        <p:txBody>
          <a:bodyPr wrap="square" anchor="ctr" lIns="0" rIns="0" tIns="0" bIns="0">
            <a:spAutoFit/>
          </a:bodyPr>
          <a:lstStyle/>
          <a:p>
            <a:pPr algn="l"/>
            <a:r>
              <a:rPr sz="1050" b="0">
                <a:solidFill>
                  <a:srgbClr val="86EFAC"/>
                </a:solidFill>
                <a:latin typeface="Segoe UI"/>
              </a:rPr>
              <a:t>A-1001</a:t>
            </a:r>
          </a:p>
        </p:txBody>
      </p:sp>
      <p:sp>
        <p:nvSpPr>
          <p:cNvPr id="29" name="TextBox 28"/>
          <p:cNvSpPr txBox="1"/>
          <p:nvPr/>
        </p:nvSpPr>
        <p:spPr>
          <a:xfrm>
            <a:off x="9372600" y="1874519"/>
            <a:ext cx="1005840" cy="310896"/>
          </a:xfrm>
          <a:prstGeom prst="rect">
            <a:avLst/>
          </a:prstGeom>
          <a:noFill/>
        </p:spPr>
        <p:txBody>
          <a:bodyPr wrap="square" anchor="ctr" lIns="0" rIns="0" tIns="0" bIns="0">
            <a:spAutoFit/>
          </a:bodyPr>
          <a:lstStyle/>
          <a:p>
            <a:pPr algn="l"/>
            <a:r>
              <a:rPr sz="1050" b="0">
                <a:solidFill>
                  <a:srgbClr val="4ADE80"/>
                </a:solidFill>
                <a:latin typeface="Segoe UI"/>
              </a:rPr>
              <a:t>Giá trị</a:t>
            </a:r>
          </a:p>
        </p:txBody>
      </p:sp>
      <p:sp>
        <p:nvSpPr>
          <p:cNvPr id="30" name="TextBox 29"/>
          <p:cNvSpPr txBox="1"/>
          <p:nvPr/>
        </p:nvSpPr>
        <p:spPr>
          <a:xfrm>
            <a:off x="10469880" y="1874519"/>
            <a:ext cx="1005840" cy="310896"/>
          </a:xfrm>
          <a:prstGeom prst="rect">
            <a:avLst/>
          </a:prstGeom>
          <a:noFill/>
        </p:spPr>
        <p:txBody>
          <a:bodyPr wrap="square" anchor="ctr" lIns="0" rIns="0" tIns="0" bIns="0">
            <a:spAutoFit/>
          </a:bodyPr>
          <a:lstStyle/>
          <a:p>
            <a:pPr algn="l"/>
            <a:r>
              <a:rPr sz="1000" b="0">
                <a:solidFill>
                  <a:srgbClr val="94A3B8"/>
                </a:solidFill>
                <a:latin typeface="Segoe UI"/>
              </a:rPr>
              <a:t>00:01.2</a:t>
            </a:r>
          </a:p>
        </p:txBody>
      </p:sp>
      <p:sp>
        <p:nvSpPr>
          <p:cNvPr id="31" name="TextBox 30"/>
          <p:cNvSpPr txBox="1"/>
          <p:nvPr/>
        </p:nvSpPr>
        <p:spPr>
          <a:xfrm>
            <a:off x="6217920" y="2221991"/>
            <a:ext cx="1645920" cy="310896"/>
          </a:xfrm>
          <a:prstGeom prst="rect">
            <a:avLst/>
          </a:prstGeom>
          <a:noFill/>
        </p:spPr>
        <p:txBody>
          <a:bodyPr wrap="square" anchor="ctr" lIns="0" rIns="0" tIns="0" bIns="0">
            <a:spAutoFit/>
          </a:bodyPr>
          <a:lstStyle/>
          <a:p>
            <a:pPr algn="l"/>
            <a:r>
              <a:rPr sz="1100" b="0">
                <a:solidFill>
                  <a:srgbClr val="FFFFFF"/>
                </a:solidFill>
                <a:latin typeface="Segoe UI"/>
              </a:rPr>
              <a:t>Di chuyển tay</a:t>
            </a:r>
          </a:p>
        </p:txBody>
      </p:sp>
      <p:sp>
        <p:nvSpPr>
          <p:cNvPr id="32" name="TextBox 31"/>
          <p:cNvSpPr txBox="1"/>
          <p:nvPr/>
        </p:nvSpPr>
        <p:spPr>
          <a:xfrm>
            <a:off x="7909560" y="2221991"/>
            <a:ext cx="1371600" cy="310896"/>
          </a:xfrm>
          <a:prstGeom prst="rect">
            <a:avLst/>
          </a:prstGeom>
          <a:noFill/>
        </p:spPr>
        <p:txBody>
          <a:bodyPr wrap="square" anchor="ctr" lIns="0" rIns="0" tIns="0" bIns="0">
            <a:spAutoFit/>
          </a:bodyPr>
          <a:lstStyle/>
          <a:p>
            <a:pPr algn="l"/>
            <a:r>
              <a:rPr sz="1050" b="0">
                <a:solidFill>
                  <a:srgbClr val="86EFAC"/>
                </a:solidFill>
                <a:latin typeface="Segoe UI"/>
              </a:rPr>
              <a:t>A-1002</a:t>
            </a:r>
          </a:p>
        </p:txBody>
      </p:sp>
      <p:sp>
        <p:nvSpPr>
          <p:cNvPr id="33" name="TextBox 32"/>
          <p:cNvSpPr txBox="1"/>
          <p:nvPr/>
        </p:nvSpPr>
        <p:spPr>
          <a:xfrm>
            <a:off x="9372600" y="2221991"/>
            <a:ext cx="1005840" cy="310896"/>
          </a:xfrm>
          <a:prstGeom prst="rect">
            <a:avLst/>
          </a:prstGeom>
          <a:noFill/>
        </p:spPr>
        <p:txBody>
          <a:bodyPr wrap="square" anchor="ctr" lIns="0" rIns="0" tIns="0" bIns="0">
            <a:spAutoFit/>
          </a:bodyPr>
          <a:lstStyle/>
          <a:p>
            <a:pPr algn="l"/>
            <a:r>
              <a:rPr sz="1050" b="0">
                <a:solidFill>
                  <a:srgbClr val="4ADE80"/>
                </a:solidFill>
                <a:latin typeface="Segoe UI"/>
              </a:rPr>
              <a:t>Giá trị</a:t>
            </a:r>
          </a:p>
        </p:txBody>
      </p:sp>
      <p:sp>
        <p:nvSpPr>
          <p:cNvPr id="34" name="TextBox 33"/>
          <p:cNvSpPr txBox="1"/>
          <p:nvPr/>
        </p:nvSpPr>
        <p:spPr>
          <a:xfrm>
            <a:off x="10469880" y="2221991"/>
            <a:ext cx="1005840" cy="310896"/>
          </a:xfrm>
          <a:prstGeom prst="rect">
            <a:avLst/>
          </a:prstGeom>
          <a:noFill/>
        </p:spPr>
        <p:txBody>
          <a:bodyPr wrap="square" anchor="ctr" lIns="0" rIns="0" tIns="0" bIns="0">
            <a:spAutoFit/>
          </a:bodyPr>
          <a:lstStyle/>
          <a:p>
            <a:pPr algn="l"/>
            <a:r>
              <a:rPr sz="1000" b="0">
                <a:solidFill>
                  <a:srgbClr val="94A3B8"/>
                </a:solidFill>
                <a:latin typeface="Segoe UI"/>
              </a:rPr>
              <a:t>00:02.2</a:t>
            </a:r>
          </a:p>
        </p:txBody>
      </p:sp>
      <p:sp>
        <p:nvSpPr>
          <p:cNvPr id="35" name="TextBox 34"/>
          <p:cNvSpPr txBox="1"/>
          <p:nvPr/>
        </p:nvSpPr>
        <p:spPr>
          <a:xfrm>
            <a:off x="6217920" y="2569463"/>
            <a:ext cx="1645920" cy="310896"/>
          </a:xfrm>
          <a:prstGeom prst="rect">
            <a:avLst/>
          </a:prstGeom>
          <a:noFill/>
        </p:spPr>
        <p:txBody>
          <a:bodyPr wrap="square" anchor="ctr" lIns="0" rIns="0" tIns="0" bIns="0">
            <a:spAutoFit/>
          </a:bodyPr>
          <a:lstStyle/>
          <a:p>
            <a:pPr algn="l"/>
            <a:r>
              <a:rPr sz="1100" b="0">
                <a:solidFill>
                  <a:srgbClr val="FFFFFF"/>
                </a:solidFill>
                <a:latin typeface="Segoe UI"/>
              </a:rPr>
              <a:t>Cắm vào</a:t>
            </a:r>
          </a:p>
        </p:txBody>
      </p:sp>
      <p:sp>
        <p:nvSpPr>
          <p:cNvPr id="36" name="TextBox 35"/>
          <p:cNvSpPr txBox="1"/>
          <p:nvPr/>
        </p:nvSpPr>
        <p:spPr>
          <a:xfrm>
            <a:off x="7909560" y="2569463"/>
            <a:ext cx="1371600" cy="310896"/>
          </a:xfrm>
          <a:prstGeom prst="rect">
            <a:avLst/>
          </a:prstGeom>
          <a:noFill/>
        </p:spPr>
        <p:txBody>
          <a:bodyPr wrap="square" anchor="ctr" lIns="0" rIns="0" tIns="0" bIns="0">
            <a:spAutoFit/>
          </a:bodyPr>
          <a:lstStyle/>
          <a:p>
            <a:pPr algn="l"/>
            <a:r>
              <a:rPr sz="1050" b="0">
                <a:solidFill>
                  <a:srgbClr val="86EFAC"/>
                </a:solidFill>
                <a:latin typeface="Segoe UI"/>
              </a:rPr>
              <a:t>A-1003</a:t>
            </a:r>
          </a:p>
        </p:txBody>
      </p:sp>
      <p:sp>
        <p:nvSpPr>
          <p:cNvPr id="37" name="TextBox 36"/>
          <p:cNvSpPr txBox="1"/>
          <p:nvPr/>
        </p:nvSpPr>
        <p:spPr>
          <a:xfrm>
            <a:off x="9372600" y="2569463"/>
            <a:ext cx="1005840" cy="310896"/>
          </a:xfrm>
          <a:prstGeom prst="rect">
            <a:avLst/>
          </a:prstGeom>
          <a:noFill/>
        </p:spPr>
        <p:txBody>
          <a:bodyPr wrap="square" anchor="ctr" lIns="0" rIns="0" tIns="0" bIns="0">
            <a:spAutoFit/>
          </a:bodyPr>
          <a:lstStyle/>
          <a:p>
            <a:pPr algn="l"/>
            <a:r>
              <a:rPr sz="1050" b="0">
                <a:solidFill>
                  <a:srgbClr val="4ADE80"/>
                </a:solidFill>
                <a:latin typeface="Segoe UI"/>
              </a:rPr>
              <a:t>Giá trị</a:t>
            </a:r>
          </a:p>
        </p:txBody>
      </p:sp>
      <p:sp>
        <p:nvSpPr>
          <p:cNvPr id="38" name="TextBox 37"/>
          <p:cNvSpPr txBox="1"/>
          <p:nvPr/>
        </p:nvSpPr>
        <p:spPr>
          <a:xfrm>
            <a:off x="10469880" y="2569463"/>
            <a:ext cx="1005840" cy="310896"/>
          </a:xfrm>
          <a:prstGeom prst="rect">
            <a:avLst/>
          </a:prstGeom>
          <a:noFill/>
        </p:spPr>
        <p:txBody>
          <a:bodyPr wrap="square" anchor="ctr" lIns="0" rIns="0" tIns="0" bIns="0">
            <a:spAutoFit/>
          </a:bodyPr>
          <a:lstStyle/>
          <a:p>
            <a:pPr algn="l"/>
            <a:r>
              <a:rPr sz="1000" b="0">
                <a:solidFill>
                  <a:srgbClr val="94A3B8"/>
                </a:solidFill>
                <a:latin typeface="Segoe UI"/>
              </a:rPr>
              <a:t>00:03.2</a:t>
            </a:r>
          </a:p>
        </p:txBody>
      </p:sp>
      <p:sp>
        <p:nvSpPr>
          <p:cNvPr id="39" name="Rectangle 38"/>
          <p:cNvSpPr/>
          <p:nvPr/>
        </p:nvSpPr>
        <p:spPr>
          <a:xfrm>
            <a:off x="6062472" y="2990088"/>
            <a:ext cx="5522976" cy="27432"/>
          </a:xfrm>
          <a:prstGeom prst="rect">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0" y="3035808"/>
            <a:ext cx="1463040" cy="274320"/>
          </a:xfrm>
          <a:prstGeom prst="rect">
            <a:avLst/>
          </a:prstGeom>
          <a:noFill/>
        </p:spPr>
        <p:txBody>
          <a:bodyPr wrap="square" anchor="ctr" lIns="0" rIns="0" tIns="0" bIns="0">
            <a:spAutoFit/>
          </a:bodyPr>
          <a:lstStyle/>
          <a:p>
            <a:pPr algn="l"/>
            <a:r>
              <a:rPr sz="1100" b="1">
                <a:solidFill>
                  <a:srgbClr val="4ADE80"/>
                </a:solidFill>
                <a:latin typeface="Segoe UI"/>
              </a:rPr>
              <a:t>✋ RH Tay phải</a:t>
            </a:r>
          </a:p>
        </p:txBody>
      </p:sp>
      <p:sp>
        <p:nvSpPr>
          <p:cNvPr id="41" name="TextBox 40"/>
          <p:cNvSpPr txBox="1"/>
          <p:nvPr/>
        </p:nvSpPr>
        <p:spPr>
          <a:xfrm>
            <a:off x="7726679" y="3035808"/>
            <a:ext cx="3749039" cy="274320"/>
          </a:xfrm>
          <a:prstGeom prst="rect">
            <a:avLst/>
          </a:prstGeom>
          <a:noFill/>
        </p:spPr>
        <p:txBody>
          <a:bodyPr wrap="square" anchor="ctr" lIns="0" rIns="0" tIns="0" bIns="0">
            <a:spAutoFit/>
          </a:bodyPr>
          <a:lstStyle/>
          <a:p>
            <a:pPr algn="l"/>
            <a:r>
              <a:rPr sz="1000" b="0">
                <a:solidFill>
                  <a:srgbClr val="94A3B8"/>
                </a:solidFill>
                <a:latin typeface="Segoe UI"/>
              </a:rPr>
              <a:t>Ghi chép của tay khác (tham khảo — không bị xóa)</a:t>
            </a:r>
          </a:p>
        </p:txBody>
      </p:sp>
      <p:sp>
        <p:nvSpPr>
          <p:cNvPr id="42" name="Rectangle 41"/>
          <p:cNvSpPr/>
          <p:nvPr/>
        </p:nvSpPr>
        <p:spPr>
          <a:xfrm>
            <a:off x="6062472" y="3355848"/>
            <a:ext cx="5522976" cy="3291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0" y="3374136"/>
            <a:ext cx="1645920" cy="310896"/>
          </a:xfrm>
          <a:prstGeom prst="rect">
            <a:avLst/>
          </a:prstGeom>
          <a:noFill/>
        </p:spPr>
        <p:txBody>
          <a:bodyPr wrap="square" anchor="ctr" lIns="0" rIns="0" tIns="0" bIns="0">
            <a:spAutoFit/>
          </a:bodyPr>
          <a:lstStyle/>
          <a:p>
            <a:pPr algn="l"/>
            <a:r>
              <a:rPr sz="1100" b="0">
                <a:solidFill>
                  <a:srgbClr val="64748B"/>
                </a:solidFill>
                <a:latin typeface="Segoe UI"/>
              </a:rPr>
              <a:t>Nhặt linh kiện</a:t>
            </a:r>
          </a:p>
        </p:txBody>
      </p:sp>
      <p:sp>
        <p:nvSpPr>
          <p:cNvPr id="44" name="TextBox 43"/>
          <p:cNvSpPr txBox="1"/>
          <p:nvPr/>
        </p:nvSpPr>
        <p:spPr>
          <a:xfrm>
            <a:off x="7909560" y="3374136"/>
            <a:ext cx="1371600" cy="310896"/>
          </a:xfrm>
          <a:prstGeom prst="rect">
            <a:avLst/>
          </a:prstGeom>
          <a:noFill/>
        </p:spPr>
        <p:txBody>
          <a:bodyPr wrap="square" anchor="ctr" lIns="0" rIns="0" tIns="0" bIns="0">
            <a:spAutoFit/>
          </a:bodyPr>
          <a:lstStyle/>
          <a:p>
            <a:pPr algn="l"/>
            <a:r>
              <a:rPr sz="1050" b="0">
                <a:solidFill>
                  <a:srgbClr val="3F6B52"/>
                </a:solidFill>
                <a:latin typeface="Segoe UI"/>
              </a:rPr>
              <a:t>A-1004</a:t>
            </a:r>
          </a:p>
        </p:txBody>
      </p:sp>
      <p:sp>
        <p:nvSpPr>
          <p:cNvPr id="45" name="Rectangle 44"/>
          <p:cNvSpPr/>
          <p:nvPr/>
        </p:nvSpPr>
        <p:spPr>
          <a:xfrm>
            <a:off x="6062472" y="3703320"/>
            <a:ext cx="5522976" cy="3291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7920" y="3721608"/>
            <a:ext cx="1645920" cy="310896"/>
          </a:xfrm>
          <a:prstGeom prst="rect">
            <a:avLst/>
          </a:prstGeom>
          <a:noFill/>
        </p:spPr>
        <p:txBody>
          <a:bodyPr wrap="square" anchor="ctr" lIns="0" rIns="0" tIns="0" bIns="0">
            <a:spAutoFit/>
          </a:bodyPr>
          <a:lstStyle/>
          <a:p>
            <a:pPr algn="l"/>
            <a:r>
              <a:rPr sz="1100" b="0">
                <a:solidFill>
                  <a:srgbClr val="64748B"/>
                </a:solidFill>
                <a:latin typeface="Segoe UI"/>
              </a:rPr>
              <a:t>Siết chặt</a:t>
            </a:r>
          </a:p>
        </p:txBody>
      </p:sp>
      <p:sp>
        <p:nvSpPr>
          <p:cNvPr id="47" name="TextBox 46"/>
          <p:cNvSpPr txBox="1"/>
          <p:nvPr/>
        </p:nvSpPr>
        <p:spPr>
          <a:xfrm>
            <a:off x="7909560" y="3721608"/>
            <a:ext cx="1371600" cy="310896"/>
          </a:xfrm>
          <a:prstGeom prst="rect">
            <a:avLst/>
          </a:prstGeom>
          <a:noFill/>
        </p:spPr>
        <p:txBody>
          <a:bodyPr wrap="square" anchor="ctr" lIns="0" rIns="0" tIns="0" bIns="0">
            <a:spAutoFit/>
          </a:bodyPr>
          <a:lstStyle/>
          <a:p>
            <a:pPr algn="l"/>
            <a:r>
              <a:rPr sz="1050" b="0">
                <a:solidFill>
                  <a:srgbClr val="3F6B52"/>
                </a:solidFill>
                <a:latin typeface="Segoe UI"/>
              </a:rPr>
              <a:t>A-1005</a:t>
            </a:r>
          </a:p>
        </p:txBody>
      </p:sp>
      <p:sp>
        <p:nvSpPr>
          <p:cNvPr id="48" name="TextBox 47"/>
          <p:cNvSpPr txBox="1"/>
          <p:nvPr/>
        </p:nvSpPr>
        <p:spPr>
          <a:xfrm>
            <a:off x="548640" y="489204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phân tích — bên trái xem video và đánh dấu, bên phải bảng ghi tích lũy.</a:t>
            </a:r>
          </a:p>
        </p:txBody>
      </p:sp>
      <p:sp>
        <p:nvSpPr>
          <p:cNvPr id="49" name="TextBox 48"/>
          <p:cNvSpPr txBox="1"/>
          <p:nvPr/>
        </p:nvSpPr>
        <p:spPr>
          <a:xfrm>
            <a:off x="640080" y="5349240"/>
            <a:ext cx="10881360" cy="365760"/>
          </a:xfrm>
          <a:prstGeom prst="rect">
            <a:avLst/>
          </a:prstGeom>
          <a:noFill/>
        </p:spPr>
        <p:txBody>
          <a:bodyPr wrap="square" anchor="ctr" lIns="0" rIns="0" tIns="0" bIns="0">
            <a:spAutoFit/>
          </a:bodyPr>
          <a:lstStyle/>
          <a:p>
            <a:pPr algn="l"/>
            <a:r>
              <a:rPr sz="1500" b="1">
                <a:solidFill>
                  <a:srgbClr val="2563EB"/>
                </a:solidFill>
                <a:latin typeface="Segoe UI"/>
              </a:rPr>
              <a:t>Cách đo riêng tay trái và tay phải</a:t>
            </a:r>
          </a:p>
        </p:txBody>
      </p:sp>
      <p:sp>
        <p:nvSpPr>
          <p:cNvPr id="50" name="TextBox 49"/>
          <p:cNvSpPr txBox="1"/>
          <p:nvPr/>
        </p:nvSpPr>
        <p:spPr>
          <a:xfrm>
            <a:off x="640080" y="5806440"/>
            <a:ext cx="10881360" cy="457200"/>
          </a:xfrm>
          <a:prstGeom prst="rect">
            <a:avLst/>
          </a:prstGeom>
          <a:noFill/>
        </p:spPr>
        <p:txBody>
          <a:bodyPr wrap="square" anchor="t" lIns="0" rIns="0" tIns="0" bIns="0">
            <a:spAutoFit/>
          </a:bodyPr>
          <a:lstStyle/>
          <a:p>
            <a:pPr algn="l"/>
            <a:r>
              <a:rPr sz="1350" b="0">
                <a:solidFill>
                  <a:srgbClr val="111827"/>
                </a:solidFill>
                <a:latin typeface="Segoe UI"/>
              </a:rPr>
              <a:t>Khi đổi nút tay, </a:t>
            </a:r>
            <a:r>
              <a:rPr sz="1350" b="1">
                <a:solidFill>
                  <a:srgbClr val="111827"/>
                </a:solidFill>
                <a:latin typeface="Segoe UI"/>
              </a:rPr>
              <a:t>video quay về đầu</a:t>
            </a:r>
            <a:r>
              <a:rPr sz="1350" b="0">
                <a:solidFill>
                  <a:srgbClr val="111827"/>
                </a:solidFill>
                <a:latin typeface="Segoe UI"/>
              </a:rPr>
              <a:t> và chỉ ghi tiếp cho tay đó. Phần trên bảng là tay đang đo, từ đường phân cách trở xuống là </a:t>
            </a:r>
            <a:r>
              <a:rPr sz="1350" b="1">
                <a:solidFill>
                  <a:srgbClr val="111827"/>
                </a:solidFill>
                <a:latin typeface="Segoe UI"/>
              </a:rPr>
              <a:t>ghi chép của tay khác</a:t>
            </a:r>
            <a:r>
              <a:rPr sz="1350" b="0">
                <a:solidFill>
                  <a:srgbClr val="111827"/>
                </a:solidFill>
                <a:latin typeface="Segoe UI"/>
              </a:rPr>
              <a:t>, hiển thị mờ để tham khảo. Không bị xóa, hãy yên tâm.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6. Phân tích thao tác — Đo thời gian bằng video</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6/17</a:t>
            </a:r>
          </a:p>
        </p:txBody>
      </p:sp>
      <p:sp>
        <p:nvSpPr>
          <p:cNvPr id="5" name="Rounded Rectangle 4"/>
          <p:cNvSpPr/>
          <p:nvPr/>
        </p:nvSpPr>
        <p:spPr>
          <a:xfrm>
            <a:off x="640080" y="1143000"/>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43000"/>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Tại sao phải đo riêng từng tay?</a:t>
            </a:r>
            <a:r>
              <a:rPr sz="1250" b="0">
                <a:solidFill>
                  <a:srgbClr val="111827"/>
                </a:solidFill>
                <a:latin typeface="Segoe UI"/>
              </a:rPr>
              <a:t> Thao tác tốt là khi hai tay làm việc đều nhau. Nếu chỉ một tay bận thì tay đó là nút thắt, còn tay kia đang rảnh. Chênh lệch này thể hiện bằng </a:t>
            </a:r>
            <a:r>
              <a:rPr sz="1250" b="1">
                <a:solidFill>
                  <a:srgbClr val="111827"/>
                </a:solidFill>
                <a:latin typeface="Segoe UI"/>
              </a:rPr>
              <a:t>độ cân bằng hai tay (HBR)</a:t>
            </a:r>
            <a:r>
              <a:rPr sz="1250" b="0">
                <a:solidFill>
                  <a:srgbClr val="111827"/>
                </a:solidFill>
                <a:latin typeface="Segoe UI"/>
              </a:rPr>
              <a:t>.</a:t>
            </a:r>
          </a:p>
        </p:txBody>
      </p:sp>
      <p:sp>
        <p:nvSpPr>
          <p:cNvPr id="7" name="TextBox 6"/>
          <p:cNvSpPr txBox="1"/>
          <p:nvPr/>
        </p:nvSpPr>
        <p:spPr>
          <a:xfrm>
            <a:off x="640080" y="1856232"/>
            <a:ext cx="10881360" cy="365760"/>
          </a:xfrm>
          <a:prstGeom prst="rect">
            <a:avLst/>
          </a:prstGeom>
          <a:noFill/>
        </p:spPr>
        <p:txBody>
          <a:bodyPr wrap="square" anchor="ctr" lIns="0" rIns="0" tIns="0" bIns="0">
            <a:spAutoFit/>
          </a:bodyPr>
          <a:lstStyle/>
          <a:p>
            <a:pPr algn="l"/>
            <a:r>
              <a:rPr sz="1500" b="1">
                <a:solidFill>
                  <a:srgbClr val="2563EB"/>
                </a:solidFill>
                <a:latin typeface="Segoe UI"/>
              </a:rPr>
              <a:t>Chọn phân loại như sau</a:t>
            </a:r>
          </a:p>
        </p:txBody>
      </p:sp>
      <p:graphicFrame>
        <p:nvGraphicFramePr>
          <p:cNvPr id="8" name="Table 7"/>
          <p:cNvGraphicFramePr>
            <a:graphicFrameLocks noGrp="1"/>
          </p:cNvGraphicFramePr>
          <p:nvPr/>
        </p:nvGraphicFramePr>
        <p:xfrm>
          <a:off x="640080" y="2313432"/>
          <a:ext cx="10881360" cy="1188720"/>
        </p:xfrm>
        <a:graphic>
          <a:graphicData uri="http://schemas.openxmlformats.org/drawingml/2006/table">
            <a:tbl>
              <a:tblPr firstRow="1" bandRow="1">
                <a:tableStyleId>{5C22544A-7EE6-4342-B048-85BDC9FD1C3A}</a:tableStyleId>
              </a:tblPr>
              <a:tblGrid>
                <a:gridCol w="3627120"/>
                <a:gridCol w="3627120"/>
                <a:gridCol w="3627120"/>
              </a:tblGrid>
              <a:tr h="297180">
                <a:tc>
                  <a:txBody>
                    <a:bodyPr/>
                    <a:lstStyle/>
                    <a:p>
                      <a:r>
                        <a:rPr sz="1100" b="1">
                          <a:solidFill>
                            <a:srgbClr val="FFFFFF"/>
                          </a:solidFill>
                          <a:latin typeface="Segoe UI"/>
                        </a:rPr>
                        <a:t>Phân loại</a:t>
                      </a:r>
                    </a:p>
                  </a:txBody>
                  <a:tcPr marL="54864" marR="54864">
                    <a:solidFill>
                      <a:srgbClr val="1E3A5F"/>
                    </a:solidFill>
                  </a:tcPr>
                </a:tc>
                <a:tc>
                  <a:txBody>
                    <a:bodyPr/>
                    <a:lstStyle/>
                    <a:p>
                      <a:r>
                        <a:rPr sz="1100" b="1">
                          <a:solidFill>
                            <a:srgbClr val="FFFFFF"/>
                          </a:solidFill>
                          <a:latin typeface="Segoe UI"/>
                        </a:rPr>
                        <a:t>Ý nghĩa</a:t>
                      </a:r>
                    </a:p>
                  </a:txBody>
                  <a:tcPr marL="54864" marR="54864">
                    <a:solidFill>
                      <a:srgbClr val="1E3A5F"/>
                    </a:solidFill>
                  </a:tcPr>
                </a:tc>
                <a:tc>
                  <a:txBody>
                    <a:bodyPr/>
                    <a:lstStyle/>
                    <a:p>
                      <a:r>
                        <a:rPr sz="1100" b="1">
                          <a:solidFill>
                            <a:srgbClr val="FFFFFF"/>
                          </a:solidFill>
                          <a:latin typeface="Segoe UI"/>
                        </a:rPr>
                        <a:t>Ví dụ</a:t>
                      </a:r>
                    </a:p>
                  </a:txBody>
                  <a:tcPr marL="54864" marR="54864">
                    <a:solidFill>
                      <a:srgbClr val="1E3A5F"/>
                    </a:solidFill>
                  </a:tcPr>
                </a:tc>
              </a:tr>
              <a:tr h="297180">
                <a:tc>
                  <a:txBody>
                    <a:bodyPr/>
                    <a:lstStyle/>
                    <a:p>
                      <a:pPr>
                        <a:lnSpc>
                          <a:spcPct val="95000"/>
                        </a:lnSpc>
                      </a:pPr>
                      <a:r>
                        <a:rPr sz="1100" b="0">
                          <a:solidFill>
                            <a:srgbClr val="22C55E"/>
                          </a:solidFill>
                          <a:latin typeface="Segoe UI"/>
                        </a:rPr>
                        <a:t>Giá trị</a:t>
                      </a:r>
                    </a:p>
                  </a:txBody>
                  <a:tcPr marL="54864" marR="54864" marT="18288" marB="18288">
                    <a:solidFill>
                      <a:srgbClr val="F1F5F9"/>
                    </a:solidFill>
                  </a:tcPr>
                </a:tc>
                <a:tc>
                  <a:txBody>
                    <a:bodyPr/>
                    <a:lstStyle/>
                    <a:p>
                      <a:pPr>
                        <a:lnSpc>
                          <a:spcPct val="95000"/>
                        </a:lnSpc>
                      </a:pPr>
                      <a:r>
                        <a:rPr sz="1100" b="0">
                          <a:solidFill>
                            <a:srgbClr val="111827"/>
                          </a:solidFill>
                          <a:latin typeface="Segoe UI"/>
                        </a:rPr>
                        <a:t>Thao tác cần thiết tạo ra giá trị sản phẩm</a:t>
                      </a:r>
                    </a:p>
                  </a:txBody>
                  <a:tcPr marL="54864" marR="54864" marT="18288" marB="18288">
                    <a:solidFill>
                      <a:srgbClr val="F1F5F9"/>
                    </a:solidFill>
                  </a:tcPr>
                </a:tc>
                <a:tc>
                  <a:txBody>
                    <a:bodyPr/>
                    <a:lstStyle/>
                    <a:p>
                      <a:pPr>
                        <a:lnSpc>
                          <a:spcPct val="95000"/>
                        </a:lnSpc>
                      </a:pPr>
                      <a:r>
                        <a:rPr sz="1100" b="0">
                          <a:solidFill>
                            <a:srgbClr val="111827"/>
                          </a:solidFill>
                          <a:latin typeface="Segoe UI"/>
                        </a:rPr>
                        <a:t>Cắm linh kiện, siết vít</a:t>
                      </a:r>
                    </a:p>
                  </a:txBody>
                  <a:tcPr marL="54864" marR="54864" marT="18288" marB="18288">
                    <a:solidFill>
                      <a:srgbClr val="F1F5F9"/>
                    </a:solidFill>
                  </a:tcPr>
                </a:tc>
              </a:tr>
              <a:tr h="297180">
                <a:tc>
                  <a:txBody>
                    <a:bodyPr/>
                    <a:lstStyle/>
                    <a:p>
                      <a:pPr>
                        <a:lnSpc>
                          <a:spcPct val="95000"/>
                        </a:lnSpc>
                      </a:pPr>
                      <a:r>
                        <a:rPr sz="1100" b="0">
                          <a:solidFill>
                            <a:srgbClr val="F59E0B"/>
                          </a:solidFill>
                          <a:latin typeface="Segoe UI"/>
                        </a:rPr>
                        <a:t>Phụ trợ</a:t>
                      </a:r>
                    </a:p>
                  </a:txBody>
                  <a:tcPr marL="54864" marR="54864" marT="18288" marB="18288">
                    <a:solidFill>
                      <a:srgbClr val="FFFFFF"/>
                    </a:solidFill>
                  </a:tcPr>
                </a:tc>
                <a:tc>
                  <a:txBody>
                    <a:bodyPr/>
                    <a:lstStyle/>
                    <a:p>
                      <a:pPr>
                        <a:lnSpc>
                          <a:spcPct val="95000"/>
                        </a:lnSpc>
                      </a:pPr>
                      <a:r>
                        <a:rPr sz="1100" b="0">
                          <a:solidFill>
                            <a:srgbClr val="111827"/>
                          </a:solidFill>
                          <a:latin typeface="Segoe UI"/>
                        </a:rPr>
                        <a:t>Hiện cần nhưng nên loại bỏ nếu được</a:t>
                      </a:r>
                    </a:p>
                  </a:txBody>
                  <a:tcPr marL="54864" marR="54864" marT="18288" marB="18288">
                    <a:solidFill>
                      <a:srgbClr val="FFFFFF"/>
                    </a:solidFill>
                  </a:tcPr>
                </a:tc>
                <a:tc>
                  <a:txBody>
                    <a:bodyPr/>
                    <a:lstStyle/>
                    <a:p>
                      <a:pPr>
                        <a:lnSpc>
                          <a:spcPct val="95000"/>
                        </a:lnSpc>
                      </a:pPr>
                      <a:r>
                        <a:rPr sz="1100" b="0">
                          <a:solidFill>
                            <a:srgbClr val="111827"/>
                          </a:solidFill>
                          <a:latin typeface="Segoe UI"/>
                        </a:rPr>
                        <a:t>Nhặt linh kiện, di chuyển tay, đi lấy vật tư</a:t>
                      </a:r>
                    </a:p>
                  </a:txBody>
                  <a:tcPr marL="54864" marR="54864" marT="18288" marB="18288">
                    <a:solidFill>
                      <a:srgbClr val="FFFFFF"/>
                    </a:solidFill>
                  </a:tcPr>
                </a:tc>
              </a:tr>
              <a:tr h="297180">
                <a:tc>
                  <a:txBody>
                    <a:bodyPr/>
                    <a:lstStyle/>
                    <a:p>
                      <a:pPr>
                        <a:lnSpc>
                          <a:spcPct val="95000"/>
                        </a:lnSpc>
                      </a:pPr>
                      <a:r>
                        <a:rPr sz="1100" b="0">
                          <a:solidFill>
                            <a:srgbClr val="EF4444"/>
                          </a:solidFill>
                          <a:latin typeface="Segoe UI"/>
                        </a:rPr>
                        <a:t>Lãng phí</a:t>
                      </a:r>
                    </a:p>
                  </a:txBody>
                  <a:tcPr marL="54864" marR="54864" marT="18288" marB="18288">
                    <a:solidFill>
                      <a:srgbClr val="F1F5F9"/>
                    </a:solidFill>
                  </a:tcPr>
                </a:tc>
                <a:tc>
                  <a:txBody>
                    <a:bodyPr/>
                    <a:lstStyle/>
                    <a:p>
                      <a:pPr>
                        <a:lnSpc>
                          <a:spcPct val="95000"/>
                        </a:lnSpc>
                      </a:pPr>
                      <a:r>
                        <a:rPr sz="1100" b="0">
                          <a:solidFill>
                            <a:srgbClr val="111827"/>
                          </a:solidFill>
                          <a:latin typeface="Segoe UI"/>
                        </a:rPr>
                        <a:t>Thao tác phải loại bỏ</a:t>
                      </a:r>
                    </a:p>
                  </a:txBody>
                  <a:tcPr marL="54864" marR="54864" marT="18288" marB="18288">
                    <a:solidFill>
                      <a:srgbClr val="F1F5F9"/>
                    </a:solidFill>
                  </a:tcPr>
                </a:tc>
                <a:tc>
                  <a:txBody>
                    <a:bodyPr/>
                    <a:lstStyle/>
                    <a:p>
                      <a:pPr>
                        <a:lnSpc>
                          <a:spcPct val="95000"/>
                        </a:lnSpc>
                      </a:pPr>
                      <a:r>
                        <a:rPr sz="1100" b="0">
                          <a:solidFill>
                            <a:srgbClr val="111827"/>
                          </a:solidFill>
                          <a:latin typeface="Segoe UI"/>
                        </a:rPr>
                        <a:t>Chờ đợi, tìm kiếm, làm lại, di chuyển thừa</a:t>
                      </a:r>
                    </a:p>
                  </a:txBody>
                  <a:tcPr marL="54864" marR="54864" marT="18288" marB="18288">
                    <a:solidFill>
                      <a:srgbClr val="F1F5F9"/>
                    </a:solidFill>
                  </a:tcPr>
                </a:tc>
              </a:tr>
            </a:tbl>
          </a:graphicData>
        </a:graphic>
      </p:graphicFrame>
      <p:sp>
        <p:nvSpPr>
          <p:cNvPr id="9" name="Rounded Rectangle 8"/>
          <p:cNvSpPr/>
          <p:nvPr/>
        </p:nvSpPr>
        <p:spPr>
          <a:xfrm>
            <a:off x="640080" y="3730752"/>
            <a:ext cx="10881360" cy="566928"/>
          </a:xfrm>
          <a:prstGeom prst="roundRect">
            <a:avLst>
              <a:gd name="adj" fmla="val 8000"/>
            </a:avLst>
          </a:prstGeom>
          <a:solidFill>
            <a:srgbClr val="FE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730752"/>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Cùng một động tác phải ghi tên giống hệt nhau.</a:t>
            </a:r>
            <a:r>
              <a:rPr sz="1250" b="0">
                <a:solidFill>
                  <a:srgbClr val="111827"/>
                </a:solidFill>
                <a:latin typeface="Segoe UI"/>
              </a:rPr>
              <a:t> "Nhặt linh kiện" và "Nhặt  linh kiện" sẽ bị tính là hai thao tác khác nhau. Tên giống nhau qua các chu kỳ thì mới so sánh được.</a:t>
            </a:r>
          </a:p>
        </p:txBody>
      </p:sp>
      <p:sp>
        <p:nvSpPr>
          <p:cNvPr id="11" name="Rounded Rectangle 10"/>
          <p:cNvSpPr/>
          <p:nvPr/>
        </p:nvSpPr>
        <p:spPr>
          <a:xfrm>
            <a:off x="640080" y="4443984"/>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443984"/>
            <a:ext cx="10515600" cy="566928"/>
          </a:xfrm>
          <a:prstGeom prst="rect">
            <a:avLst/>
          </a:prstGeom>
          <a:noFill/>
        </p:spPr>
        <p:txBody>
          <a:bodyPr wrap="square" anchor="ctr" lIns="0" rIns="0" tIns="0" bIns="0">
            <a:spAutoFit/>
          </a:bodyPr>
          <a:lstStyle/>
          <a:p>
            <a:pPr algn="l"/>
            <a:r>
              <a:rPr sz="1250" b="0">
                <a:solidFill>
                  <a:srgbClr val="111827"/>
                </a:solidFill>
                <a:latin typeface="Segoe UI"/>
              </a:rPr>
              <a:t>💡 Nhấn </a:t>
            </a:r>
            <a:r>
              <a:rPr sz="1250" b="1">
                <a:solidFill>
                  <a:srgbClr val="111827"/>
                </a:solidFill>
                <a:latin typeface="Segoe UI"/>
              </a:rPr>
              <a:t>[⚡ Tự tách chu kỳ]</a:t>
            </a:r>
            <a:r>
              <a:rPr sz="1250" b="0">
                <a:solidFill>
                  <a:srgbClr val="111827"/>
                </a:solidFill>
                <a:latin typeface="Segoe UI"/>
              </a:rPr>
              <a:t>, chương trình sẽ tự chia chu kỳ dựa trên tên thao tác xuất hiện nhiều nhất. Được chia riêng theo từng tay nên hãy yên tâm.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7. Rating và dung sai — Cơ sở của thời gian chuẩn</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Thời gian đo trên video là thời gian của "người đó, hôm đó". Hai giá trị này quy đổi nó thành chuẩn dùng chung cho mọi người.</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7/17</a:t>
            </a:r>
          </a:p>
        </p:txBody>
      </p:sp>
      <p:sp>
        <p:nvSpPr>
          <p:cNvPr id="6" name="Rounded Rectangle 5"/>
          <p:cNvSpPr/>
          <p:nvPr/>
        </p:nvSpPr>
        <p:spPr>
          <a:xfrm>
            <a:off x="640080" y="1143000"/>
            <a:ext cx="10881360" cy="566928"/>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143000"/>
            <a:ext cx="10515600" cy="566928"/>
          </a:xfrm>
          <a:prstGeom prst="rect">
            <a:avLst/>
          </a:prstGeom>
          <a:noFill/>
        </p:spPr>
        <p:txBody>
          <a:bodyPr wrap="square" anchor="ctr" lIns="0" rIns="0" tIns="0" bIns="0">
            <a:spAutoFit/>
          </a:bodyPr>
          <a:lstStyle/>
          <a:p>
            <a:pPr algn="l"/>
            <a:r>
              <a:rPr sz="1250" b="0">
                <a:solidFill>
                  <a:srgbClr val="111827"/>
                </a:solidFill>
                <a:latin typeface="Segoe UI"/>
              </a:rPr>
              <a:t>ℹ </a:t>
            </a:r>
            <a:r>
              <a:rPr sz="1250" b="1">
                <a:solidFill>
                  <a:srgbClr val="111827"/>
                </a:solidFill>
                <a:latin typeface="Segoe UI"/>
              </a:rPr>
              <a:t>Thời gian chuẩn = Thời gian đo × Rating × (1 + Dung sai)</a:t>
            </a:r>
          </a:p>
        </p:txBody>
      </p:sp>
      <p:graphicFrame>
        <p:nvGraphicFramePr>
          <p:cNvPr id="8" name="Table 7"/>
          <p:cNvGraphicFramePr>
            <a:graphicFrameLocks noGrp="1"/>
          </p:cNvGraphicFramePr>
          <p:nvPr/>
        </p:nvGraphicFramePr>
        <p:xfrm>
          <a:off x="640080" y="1856232"/>
          <a:ext cx="10881360" cy="896112"/>
        </p:xfrm>
        <a:graphic>
          <a:graphicData uri="http://schemas.openxmlformats.org/drawingml/2006/table">
            <a:tbl>
              <a:tblPr firstRow="1" bandRow="1">
                <a:tableStyleId>{5C22544A-7EE6-4342-B048-85BDC9FD1C3A}</a:tableStyleId>
              </a:tblPr>
              <a:tblGrid>
                <a:gridCol w="3627120"/>
                <a:gridCol w="3627120"/>
                <a:gridCol w="3627120"/>
              </a:tblGrid>
              <a:tr h="298704">
                <a:tc>
                  <a:txBody>
                    <a:bodyPr/>
                    <a:lstStyle/>
                    <a:p>
                      <a:r>
                        <a:rPr sz="1100" b="1">
                          <a:solidFill>
                            <a:srgbClr val="FFFFFF"/>
                          </a:solidFill>
                          <a:latin typeface="Segoe UI"/>
                        </a:rPr>
                        <a:t>Giá trị</a:t>
                      </a:r>
                    </a:p>
                  </a:txBody>
                  <a:tcPr marL="54864" marR="54864">
                    <a:solidFill>
                      <a:srgbClr val="1E3A5F"/>
                    </a:solidFill>
                  </a:tcPr>
                </a:tc>
                <a:tc>
                  <a:txBody>
                    <a:bodyPr/>
                    <a:lstStyle/>
                    <a:p>
                      <a:r>
                        <a:rPr sz="1100" b="1">
                          <a:solidFill>
                            <a:srgbClr val="FFFFFF"/>
                          </a:solidFill>
                          <a:latin typeface="Segoe UI"/>
                        </a:rPr>
                        <a:t>Ý nghĩa</a:t>
                      </a:r>
                    </a:p>
                  </a:txBody>
                  <a:tcPr marL="54864" marR="54864">
                    <a:solidFill>
                      <a:srgbClr val="1E3A5F"/>
                    </a:solidFill>
                  </a:tcPr>
                </a:tc>
                <a:tc>
                  <a:txBody>
                    <a:bodyPr/>
                    <a:lstStyle/>
                    <a:p>
                      <a:r>
                        <a:rPr sz="1100" b="1">
                          <a:solidFill>
                            <a:srgbClr val="FFFFFF"/>
                          </a:solidFill>
                          <a:latin typeface="Segoe UI"/>
                        </a:rPr>
                        <a:t>Thường là bao nhiêu?</a:t>
                      </a:r>
                    </a:p>
                  </a:txBody>
                  <a:tcPr marL="54864" marR="54864">
                    <a:solidFill>
                      <a:srgbClr val="1E3A5F"/>
                    </a:solidFill>
                  </a:tcPr>
                </a:tc>
              </a:tr>
              <a:tr h="298704">
                <a:tc>
                  <a:txBody>
                    <a:bodyPr/>
                    <a:lstStyle/>
                    <a:p>
                      <a:pPr>
                        <a:lnSpc>
                          <a:spcPct val="95000"/>
                        </a:lnSpc>
                      </a:pPr>
                      <a:r>
                        <a:rPr sz="1100" b="0">
                          <a:solidFill>
                            <a:srgbClr val="111827"/>
                          </a:solidFill>
                          <a:latin typeface="Segoe UI"/>
                        </a:rPr>
                        <a:t>Rating</a:t>
                      </a:r>
                    </a:p>
                  </a:txBody>
                  <a:tcPr marL="54864" marR="54864" marT="18288" marB="18288">
                    <a:solidFill>
                      <a:srgbClr val="F1F5F9"/>
                    </a:solidFill>
                  </a:tcPr>
                </a:tc>
                <a:tc>
                  <a:txBody>
                    <a:bodyPr/>
                    <a:lstStyle/>
                    <a:p>
                      <a:pPr>
                        <a:lnSpc>
                          <a:spcPct val="95000"/>
                        </a:lnSpc>
                      </a:pPr>
                      <a:r>
                        <a:rPr sz="1100" b="0">
                          <a:solidFill>
                            <a:srgbClr val="111827"/>
                          </a:solidFill>
                          <a:latin typeface="Segoe UI"/>
                        </a:rPr>
                        <a:t>Tốc độ của người được quay bằng bao nhiêu % so với người bình thường</a:t>
                      </a:r>
                    </a:p>
                  </a:txBody>
                  <a:tcPr marL="54864" marR="54864" marT="18288" marB="18288">
                    <a:solidFill>
                      <a:srgbClr val="F1F5F9"/>
                    </a:solidFill>
                  </a:tcPr>
                </a:tc>
                <a:tc>
                  <a:txBody>
                    <a:bodyPr/>
                    <a:lstStyle/>
                    <a:p>
                      <a:pPr>
                        <a:lnSpc>
                          <a:spcPct val="95000"/>
                        </a:lnSpc>
                      </a:pPr>
                      <a:r>
                        <a:rPr sz="1100" b="0">
                          <a:solidFill>
                            <a:srgbClr val="111827"/>
                          </a:solidFill>
                          <a:latin typeface="Segoe UI"/>
                        </a:rPr>
                        <a:t>Thường </a:t>
                      </a:r>
                      <a:r>
                        <a:rPr sz="1100" b="1">
                          <a:solidFill>
                            <a:srgbClr val="111827"/>
                          </a:solidFill>
                          <a:latin typeface="Segoe UI"/>
                        </a:rPr>
                        <a:t>100%</a:t>
                      </a:r>
                      <a:r>
                        <a:rPr sz="1100" b="0">
                          <a:solidFill>
                            <a:srgbClr val="111827"/>
                          </a:solidFill>
                          <a:latin typeface="Segoe UI"/>
                        </a:rPr>
                        <a:t> · người nhanh 110~120% · người chậm 80~90%</a:t>
                      </a:r>
                    </a:p>
                  </a:txBody>
                  <a:tcPr marL="54864" marR="54864" marT="18288" marB="18288">
                    <a:solidFill>
                      <a:srgbClr val="F1F5F9"/>
                    </a:solidFill>
                  </a:tcPr>
                </a:tc>
              </a:tr>
              <a:tr h="298704">
                <a:tc>
                  <a:txBody>
                    <a:bodyPr/>
                    <a:lstStyle/>
                    <a:p>
                      <a:pPr>
                        <a:lnSpc>
                          <a:spcPct val="95000"/>
                        </a:lnSpc>
                      </a:pPr>
                      <a:r>
                        <a:rPr sz="1100" b="0">
                          <a:solidFill>
                            <a:srgbClr val="111827"/>
                          </a:solidFill>
                          <a:latin typeface="Segoe UI"/>
                        </a:rPr>
                        <a:t>Dung sai</a:t>
                      </a:r>
                    </a:p>
                  </a:txBody>
                  <a:tcPr marL="54864" marR="54864" marT="18288" marB="18288">
                    <a:solidFill>
                      <a:srgbClr val="FFFFFF"/>
                    </a:solidFill>
                  </a:tcPr>
                </a:tc>
                <a:tc>
                  <a:txBody>
                    <a:bodyPr/>
                    <a:lstStyle/>
                    <a:p>
                      <a:pPr>
                        <a:lnSpc>
                          <a:spcPct val="95000"/>
                        </a:lnSpc>
                      </a:pPr>
                      <a:r>
                        <a:rPr sz="1100" b="0">
                          <a:solidFill>
                            <a:srgbClr val="111827"/>
                          </a:solidFill>
                          <a:latin typeface="Segoe UI"/>
                        </a:rPr>
                        <a:t>Tỷ lệ cộng thêm cho mệt mỏi·vệ sinh·tiếp liệu</a:t>
                      </a:r>
                    </a:p>
                  </a:txBody>
                  <a:tcPr marL="54864" marR="54864" marT="18288" marB="18288">
                    <a:solidFill>
                      <a:srgbClr val="FFFFFF"/>
                    </a:solidFill>
                  </a:tcPr>
                </a:tc>
                <a:tc>
                  <a:txBody>
                    <a:bodyPr/>
                    <a:lstStyle/>
                    <a:p>
                      <a:pPr>
                        <a:lnSpc>
                          <a:spcPct val="95000"/>
                        </a:lnSpc>
                      </a:pPr>
                      <a:r>
                        <a:rPr sz="1100" b="0">
                          <a:solidFill>
                            <a:srgbClr val="111827"/>
                          </a:solidFill>
                          <a:latin typeface="Segoe UI"/>
                        </a:rPr>
                        <a:t>Việc nhẹ ngồi làm thường </a:t>
                      </a:r>
                      <a:r>
                        <a:rPr sz="1100" b="1">
                          <a:solidFill>
                            <a:srgbClr val="111827"/>
                          </a:solidFill>
                          <a:latin typeface="Segoe UI"/>
                        </a:rPr>
                        <a:t>10~15%</a:t>
                      </a:r>
                    </a:p>
                  </a:txBody>
                  <a:tcPr marL="54864" marR="54864" marT="18288" marB="18288">
                    <a:solidFill>
                      <a:srgbClr val="FFFFFF"/>
                    </a:solidFill>
                  </a:tcPr>
                </a:tc>
              </a:tr>
            </a:tbl>
          </a:graphicData>
        </a:graphic>
      </p:graphicFrame>
      <p:sp>
        <p:nvSpPr>
          <p:cNvPr id="9" name="TextBox 8"/>
          <p:cNvSpPr txBox="1"/>
          <p:nvPr/>
        </p:nvSpPr>
        <p:spPr>
          <a:xfrm>
            <a:off x="640080" y="2980944"/>
            <a:ext cx="10881360" cy="457200"/>
          </a:xfrm>
          <a:prstGeom prst="rect">
            <a:avLst/>
          </a:prstGeom>
          <a:noFill/>
        </p:spPr>
        <p:txBody>
          <a:bodyPr wrap="square" anchor="t" lIns="0" rIns="0" tIns="0" bIns="0">
            <a:spAutoFit/>
          </a:bodyPr>
          <a:lstStyle/>
          <a:p>
            <a:pPr algn="l"/>
            <a:r>
              <a:rPr sz="1350" b="0">
                <a:solidFill>
                  <a:srgbClr val="111827"/>
                </a:solidFill>
                <a:latin typeface="Segoe UI"/>
              </a:rPr>
              <a:t>Ví dụ) Đo 5,0 giây, Rating 100%, Dung sai 15% → Thời gian chuẩn </a:t>
            </a:r>
            <a:r>
              <a:rPr sz="1350" b="1">
                <a:solidFill>
                  <a:srgbClr val="111827"/>
                </a:solidFill>
                <a:latin typeface="Segoe UI"/>
              </a:rPr>
              <a:t>5,75 giây</a:t>
            </a:r>
          </a:p>
        </p:txBody>
      </p:sp>
      <p:sp>
        <p:nvSpPr>
          <p:cNvPr id="10" name="Oval 9"/>
          <p:cNvSpPr/>
          <p:nvPr/>
        </p:nvSpPr>
        <p:spPr>
          <a:xfrm>
            <a:off x="685800" y="3575304"/>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575304"/>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12" name="TextBox 11"/>
          <p:cNvSpPr txBox="1"/>
          <p:nvPr/>
        </p:nvSpPr>
        <p:spPr>
          <a:xfrm>
            <a:off x="1097280" y="3547872"/>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Nhấn thẻ </a:t>
            </a:r>
            <a:r>
              <a:rPr sz="1300" b="1">
                <a:solidFill>
                  <a:srgbClr val="2563EB"/>
                </a:solidFill>
                <a:latin typeface="Segoe UI"/>
              </a:rPr>
              <a:t>Rating 100% · Dung sai 15%</a:t>
            </a:r>
            <a:r>
              <a:rPr sz="1300" b="0">
                <a:solidFill>
                  <a:srgbClr val="111827"/>
                </a:solidFill>
                <a:latin typeface="Segoe UI"/>
              </a:rPr>
              <a:t> ở góc trên bên phải màn hình.</a:t>
            </a:r>
          </a:p>
        </p:txBody>
      </p:sp>
      <p:sp>
        <p:nvSpPr>
          <p:cNvPr id="13" name="Oval 12"/>
          <p:cNvSpPr/>
          <p:nvPr/>
        </p:nvSpPr>
        <p:spPr>
          <a:xfrm>
            <a:off x="685800" y="3904488"/>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04488"/>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5" name="TextBox 14"/>
          <p:cNvSpPr txBox="1"/>
          <p:nvPr/>
        </p:nvSpPr>
        <p:spPr>
          <a:xfrm>
            <a:off x="1097280" y="3877056"/>
            <a:ext cx="10424160" cy="310896"/>
          </a:xfrm>
          <a:prstGeom prst="rect">
            <a:avLst/>
          </a:prstGeom>
          <a:noFill/>
        </p:spPr>
        <p:txBody>
          <a:bodyPr wrap="square" anchor="ctr" lIns="0" rIns="0" tIns="0" bIns="0">
            <a:spAutoFit/>
          </a:bodyPr>
          <a:lstStyle/>
          <a:p>
            <a:pPr algn="l"/>
            <a:r>
              <a:rPr sz="1300" b="0">
                <a:solidFill>
                  <a:srgbClr val="111827"/>
                </a:solidFill>
                <a:latin typeface="Segoe UI"/>
              </a:rPr>
              <a:t>Sửa giá trị ở mục </a:t>
            </a:r>
            <a:r>
              <a:rPr sz="1300" b="1">
                <a:solidFill>
                  <a:srgbClr val="111827"/>
                </a:solidFill>
                <a:latin typeface="Segoe UI"/>
              </a:rPr>
              <a:t>⏱ Cơ sở tính thời gian chuẩn</a:t>
            </a:r>
            <a:r>
              <a:rPr sz="1300" b="0">
                <a:solidFill>
                  <a:srgbClr val="111827"/>
                </a:solidFill>
                <a:latin typeface="Segoe UI"/>
              </a:rPr>
              <a:t> trên cùng cửa sổ Cài đặt.</a:t>
            </a:r>
          </a:p>
        </p:txBody>
      </p:sp>
      <p:sp>
        <p:nvSpPr>
          <p:cNvPr id="16" name="Oval 15"/>
          <p:cNvSpPr/>
          <p:nvPr/>
        </p:nvSpPr>
        <p:spPr>
          <a:xfrm>
            <a:off x="685800" y="423367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233672"/>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8" name="TextBox 17"/>
          <p:cNvSpPr txBox="1"/>
          <p:nvPr/>
        </p:nvSpPr>
        <p:spPr>
          <a:xfrm>
            <a:off x="1097280" y="4206240"/>
            <a:ext cx="10424160" cy="310896"/>
          </a:xfrm>
          <a:prstGeom prst="rect">
            <a:avLst/>
          </a:prstGeom>
          <a:noFill/>
        </p:spPr>
        <p:txBody>
          <a:bodyPr wrap="square" anchor="ctr" lIns="0" rIns="0" tIns="0" bIns="0">
            <a:spAutoFit/>
          </a:bodyPr>
          <a:lstStyle/>
          <a:p>
            <a:pPr algn="l"/>
            <a:r>
              <a:rPr sz="1300" b="0">
                <a:solidFill>
                  <a:srgbClr val="111827"/>
                </a:solidFill>
                <a:latin typeface="Segoe UI"/>
              </a:rPr>
              <a:t>Giá trị đã sửa được áp dụng tại thời điểm nhấn </a:t>
            </a:r>
            <a:r>
              <a:rPr sz="1300" b="1">
                <a:solidFill>
                  <a:srgbClr val="111827"/>
                </a:solidFill>
                <a:latin typeface="Segoe UI"/>
              </a:rPr>
              <a:t>[Lưu xác định thời gian chuẩn]</a:t>
            </a:r>
            <a:r>
              <a:rPr sz="1300" b="0">
                <a:solidFill>
                  <a:srgbClr val="111827"/>
                </a:solidFill>
                <a:latin typeface="Segoe U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7. Rating và dung sai — Cơ sở của thời gian chuẩn</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7/17</a:t>
            </a:r>
          </a:p>
        </p:txBody>
      </p:sp>
      <p:sp>
        <p:nvSpPr>
          <p:cNvPr id="5" name="Rounded Rectangle 4"/>
          <p:cNvSpPr/>
          <p:nvPr/>
        </p:nvSpPr>
        <p:spPr>
          <a:xfrm>
            <a:off x="3108960" y="1417320"/>
            <a:ext cx="5943600" cy="233172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554480"/>
            <a:ext cx="4572000" cy="365760"/>
          </a:xfrm>
          <a:prstGeom prst="rect">
            <a:avLst/>
          </a:prstGeom>
          <a:noFill/>
        </p:spPr>
        <p:txBody>
          <a:bodyPr wrap="square" anchor="ctr" lIns="0" rIns="0" tIns="0" bIns="0">
            <a:spAutoFit/>
          </a:bodyPr>
          <a:lstStyle/>
          <a:p>
            <a:pPr algn="l"/>
            <a:r>
              <a:rPr sz="1500" b="1">
                <a:solidFill>
                  <a:srgbClr val="111827"/>
                </a:solidFill>
                <a:latin typeface="Segoe UI"/>
              </a:rPr>
              <a:t>⚙️ Cài đặt</a:t>
            </a:r>
          </a:p>
        </p:txBody>
      </p:sp>
      <p:sp>
        <p:nvSpPr>
          <p:cNvPr id="7" name="Rounded Rectangle 6"/>
          <p:cNvSpPr/>
          <p:nvPr/>
        </p:nvSpPr>
        <p:spPr>
          <a:xfrm>
            <a:off x="3337560" y="1965960"/>
            <a:ext cx="5486400" cy="1417320"/>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2057400"/>
            <a:ext cx="5120640" cy="320040"/>
          </a:xfrm>
          <a:prstGeom prst="rect">
            <a:avLst/>
          </a:prstGeom>
          <a:noFill/>
        </p:spPr>
        <p:txBody>
          <a:bodyPr wrap="square" anchor="ctr" lIns="0" rIns="0" tIns="0" bIns="0">
            <a:spAutoFit/>
          </a:bodyPr>
          <a:lstStyle/>
          <a:p>
            <a:pPr algn="l"/>
            <a:r>
              <a:rPr sz="1300" b="1">
                <a:solidFill>
                  <a:srgbClr val="2563EB"/>
                </a:solidFill>
                <a:latin typeface="Segoe UI"/>
              </a:rPr>
              <a:t>⏱ Cơ sở tính thời gian chuẩn</a:t>
            </a:r>
          </a:p>
        </p:txBody>
      </p:sp>
      <p:sp>
        <p:nvSpPr>
          <p:cNvPr id="9" name="TextBox 8"/>
          <p:cNvSpPr txBox="1"/>
          <p:nvPr/>
        </p:nvSpPr>
        <p:spPr>
          <a:xfrm>
            <a:off x="3520440" y="2377440"/>
            <a:ext cx="5120640" cy="274320"/>
          </a:xfrm>
          <a:prstGeom prst="rect">
            <a:avLst/>
          </a:prstGeom>
          <a:noFill/>
        </p:spPr>
        <p:txBody>
          <a:bodyPr wrap="square" anchor="ctr" lIns="0" rIns="0" tIns="0" bIns="0">
            <a:spAutoFit/>
          </a:bodyPr>
          <a:lstStyle/>
          <a:p>
            <a:pPr algn="l"/>
            <a:r>
              <a:rPr sz="1100" b="0">
                <a:solidFill>
                  <a:srgbClr val="475569"/>
                </a:solidFill>
                <a:latin typeface="Segoe UI"/>
              </a:rPr>
              <a:t>Thời gian đo × Rating × (1 + Dung sai) = Thời gian chuẩn</a:t>
            </a:r>
          </a:p>
        </p:txBody>
      </p:sp>
      <p:sp>
        <p:nvSpPr>
          <p:cNvPr id="10" name="TextBox 9"/>
          <p:cNvSpPr txBox="1"/>
          <p:nvPr/>
        </p:nvSpPr>
        <p:spPr>
          <a:xfrm>
            <a:off x="3520440" y="2743200"/>
            <a:ext cx="914400" cy="310896"/>
          </a:xfrm>
          <a:prstGeom prst="rect">
            <a:avLst/>
          </a:prstGeom>
          <a:noFill/>
        </p:spPr>
        <p:txBody>
          <a:bodyPr wrap="square" anchor="ctr" lIns="0" rIns="0" tIns="0" bIns="0">
            <a:spAutoFit/>
          </a:bodyPr>
          <a:lstStyle/>
          <a:p>
            <a:pPr algn="l"/>
            <a:r>
              <a:rPr sz="1200" b="0">
                <a:solidFill>
                  <a:srgbClr val="111827"/>
                </a:solidFill>
                <a:latin typeface="Segoe UI"/>
              </a:rPr>
              <a:t>Rating</a:t>
            </a:r>
          </a:p>
        </p:txBody>
      </p:sp>
      <p:sp>
        <p:nvSpPr>
          <p:cNvPr id="11" name="Rectangle 10"/>
          <p:cNvSpPr/>
          <p:nvPr/>
        </p:nvSpPr>
        <p:spPr>
          <a:xfrm>
            <a:off x="4526280" y="2743200"/>
            <a:ext cx="777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743200"/>
            <a:ext cx="777240" cy="310896"/>
          </a:xfrm>
          <a:prstGeom prst="rect">
            <a:avLst/>
          </a:prstGeom>
          <a:noFill/>
        </p:spPr>
        <p:txBody>
          <a:bodyPr wrap="square" anchor="ctr" lIns="0" rIns="0" tIns="0" bIns="0">
            <a:spAutoFit/>
          </a:bodyPr>
          <a:lstStyle/>
          <a:p>
            <a:pPr algn="ctr"/>
            <a:r>
              <a:rPr sz="1200" b="1">
                <a:solidFill>
                  <a:srgbClr val="111827"/>
                </a:solidFill>
                <a:latin typeface="Segoe UI"/>
              </a:rPr>
              <a:t>100 %</a:t>
            </a:r>
          </a:p>
        </p:txBody>
      </p:sp>
      <p:sp>
        <p:nvSpPr>
          <p:cNvPr id="13" name="TextBox 12"/>
          <p:cNvSpPr txBox="1"/>
          <p:nvPr/>
        </p:nvSpPr>
        <p:spPr>
          <a:xfrm>
            <a:off x="5577840" y="2743200"/>
            <a:ext cx="1005840" cy="310896"/>
          </a:xfrm>
          <a:prstGeom prst="rect">
            <a:avLst/>
          </a:prstGeom>
          <a:noFill/>
        </p:spPr>
        <p:txBody>
          <a:bodyPr wrap="square" anchor="ctr" lIns="0" rIns="0" tIns="0" bIns="0">
            <a:spAutoFit/>
          </a:bodyPr>
          <a:lstStyle/>
          <a:p>
            <a:pPr algn="l"/>
            <a:r>
              <a:rPr sz="1200" b="0">
                <a:solidFill>
                  <a:srgbClr val="111827"/>
                </a:solidFill>
                <a:latin typeface="Segoe UI"/>
              </a:rPr>
              <a:t>Dung sai</a:t>
            </a:r>
          </a:p>
        </p:txBody>
      </p:sp>
      <p:sp>
        <p:nvSpPr>
          <p:cNvPr id="14" name="Rectangle 13"/>
          <p:cNvSpPr/>
          <p:nvPr/>
        </p:nvSpPr>
        <p:spPr>
          <a:xfrm>
            <a:off x="6675120" y="2743200"/>
            <a:ext cx="777240" cy="310896"/>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743200"/>
            <a:ext cx="777240" cy="310896"/>
          </a:xfrm>
          <a:prstGeom prst="rect">
            <a:avLst/>
          </a:prstGeom>
          <a:noFill/>
        </p:spPr>
        <p:txBody>
          <a:bodyPr wrap="square" anchor="ctr" lIns="0" rIns="0" tIns="0" bIns="0">
            <a:spAutoFit/>
          </a:bodyPr>
          <a:lstStyle/>
          <a:p>
            <a:pPr algn="ctr"/>
            <a:r>
              <a:rPr sz="1200" b="1">
                <a:solidFill>
                  <a:srgbClr val="111827"/>
                </a:solidFill>
                <a:latin typeface="Segoe UI"/>
              </a:rPr>
              <a:t>15 %</a:t>
            </a:r>
          </a:p>
        </p:txBody>
      </p:sp>
      <p:sp>
        <p:nvSpPr>
          <p:cNvPr id="16" name="TextBox 15"/>
          <p:cNvSpPr txBox="1"/>
          <p:nvPr/>
        </p:nvSpPr>
        <p:spPr>
          <a:xfrm>
            <a:off x="3520440" y="3108960"/>
            <a:ext cx="5120640" cy="274320"/>
          </a:xfrm>
          <a:prstGeom prst="rect">
            <a:avLst/>
          </a:prstGeom>
          <a:noFill/>
        </p:spPr>
        <p:txBody>
          <a:bodyPr wrap="square" anchor="ctr" lIns="0" rIns="0" tIns="0" bIns="0">
            <a:spAutoFit/>
          </a:bodyPr>
          <a:lstStyle/>
          <a:p>
            <a:pPr algn="l"/>
            <a:r>
              <a:rPr sz="1200" b="1">
                <a:solidFill>
                  <a:srgbClr val="2563EB"/>
                </a:solidFill>
                <a:latin typeface="Segoe UI"/>
              </a:rPr>
              <a:t>VD: đo 5,0 giây → chuẩn 5,75 giây</a:t>
            </a:r>
          </a:p>
        </p:txBody>
      </p:sp>
      <p:sp>
        <p:nvSpPr>
          <p:cNvPr id="17" name="TextBox 16"/>
          <p:cNvSpPr txBox="1"/>
          <p:nvPr/>
        </p:nvSpPr>
        <p:spPr>
          <a:xfrm>
            <a:off x="3108960" y="3886200"/>
            <a:ext cx="5943600" cy="365760"/>
          </a:xfrm>
          <a:prstGeom prst="rect">
            <a:avLst/>
          </a:prstGeom>
          <a:noFill/>
        </p:spPr>
        <p:txBody>
          <a:bodyPr wrap="square" anchor="ctr" lIns="0" rIns="0" tIns="0" bIns="0">
            <a:spAutoFit/>
          </a:bodyPr>
          <a:lstStyle/>
          <a:p>
            <a:pPr algn="ctr"/>
            <a:r>
              <a:rPr sz="1250" b="1">
                <a:solidFill>
                  <a:srgbClr val="B45309"/>
                </a:solidFill>
                <a:latin typeface="Segoe UI"/>
              </a:rPr>
              <a:t>① Công thức và giá trị khuyến nghị    ② Sửa giá trị tại đây</a:t>
            </a:r>
          </a:p>
        </p:txBody>
      </p:sp>
      <p:sp>
        <p:nvSpPr>
          <p:cNvPr id="18" name="TextBox 17"/>
          <p:cNvSpPr txBox="1"/>
          <p:nvPr/>
        </p:nvSpPr>
        <p:spPr>
          <a:xfrm>
            <a:off x="548640" y="425196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cài đặt — trên cùng là Rating·Dung sai, bên dưới là ngôn ngữ và kho lưu trữ chung.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8. Biểu đồ — Từng chu kỳ thay đổi ra sao</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Cùng một thao tác mà thời gian chênh lệch nhiều giữa các chu kỳ nghĩa là thao tác đó không ổn định.</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8/17</a:t>
            </a:r>
          </a:p>
        </p:txBody>
      </p:sp>
      <p:sp>
        <p:nvSpPr>
          <p:cNvPr id="6" name="TextBox 5"/>
          <p:cNvSpPr txBox="1"/>
          <p:nvPr/>
        </p:nvSpPr>
        <p:spPr>
          <a:xfrm>
            <a:off x="640080" y="1143000"/>
            <a:ext cx="10881360" cy="457200"/>
          </a:xfrm>
          <a:prstGeom prst="rect">
            <a:avLst/>
          </a:prstGeom>
          <a:noFill/>
        </p:spPr>
        <p:txBody>
          <a:bodyPr wrap="square" anchor="t" lIns="0" rIns="0" tIns="0" bIns="0">
            <a:spAutoFit/>
          </a:bodyPr>
          <a:lstStyle/>
          <a:p>
            <a:pPr algn="l"/>
            <a:r>
              <a:rPr sz="1350" b="0">
                <a:solidFill>
                  <a:srgbClr val="111827"/>
                </a:solidFill>
                <a:latin typeface="Segoe UI"/>
              </a:rPr>
              <a:t>Mỗi cột là một chu kỳ, mỗi ô màu là một thao tác. </a:t>
            </a:r>
            <a:r>
              <a:rPr sz="1350" b="1">
                <a:solidFill>
                  <a:srgbClr val="111827"/>
                </a:solidFill>
                <a:latin typeface="Segoe UI"/>
              </a:rPr>
              <a:t>Cùng thao tác được nối với nhau bằng dải màu giữa các chu kỳ</a:t>
            </a:r>
            <a:r>
              <a:rPr sz="1350" b="0">
                <a:solidFill>
                  <a:srgbClr val="111827"/>
                </a:solidFill>
                <a:latin typeface="Segoe UI"/>
              </a:rPr>
              <a:t>; dải càng dày lên nghĩa là thao tác đó ngày càng chậm.</a:t>
            </a:r>
          </a:p>
        </p:txBody>
      </p:sp>
      <p:sp>
        <p:nvSpPr>
          <p:cNvPr id="7" name="Rectangle 6"/>
          <p:cNvSpPr/>
          <p:nvPr/>
        </p:nvSpPr>
        <p:spPr>
          <a:xfrm>
            <a:off x="1828800" y="4160520"/>
            <a:ext cx="1554480" cy="4480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4160520"/>
            <a:ext cx="1554480" cy="475488"/>
          </a:xfrm>
          <a:prstGeom prst="rect">
            <a:avLst/>
          </a:prstGeom>
          <a:noFill/>
        </p:spPr>
        <p:txBody>
          <a:bodyPr wrap="square" anchor="ctr" lIns="0" rIns="0" tIns="0" bIns="0">
            <a:spAutoFit/>
          </a:bodyPr>
          <a:lstStyle/>
          <a:p>
            <a:pPr algn="ctr"/>
            <a:r>
              <a:rPr sz="1100" b="1">
                <a:solidFill>
                  <a:srgbClr val="FFFFFF"/>
                </a:solidFill>
                <a:latin typeface="Segoe UI"/>
              </a:rPr>
              <a:t>Nhặt linh kiện</a:t>
            </a:r>
          </a:p>
        </p:txBody>
      </p:sp>
      <p:sp>
        <p:nvSpPr>
          <p:cNvPr id="9" name="Rectangle 8"/>
          <p:cNvSpPr/>
          <p:nvPr/>
        </p:nvSpPr>
        <p:spPr>
          <a:xfrm>
            <a:off x="1828800" y="3886200"/>
            <a:ext cx="1554480" cy="2468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0" y="3099816"/>
            <a:ext cx="1554480" cy="758952"/>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3099816"/>
            <a:ext cx="1554480" cy="786384"/>
          </a:xfrm>
          <a:prstGeom prst="rect">
            <a:avLst/>
          </a:prstGeom>
          <a:noFill/>
        </p:spPr>
        <p:txBody>
          <a:bodyPr wrap="square" anchor="ctr" lIns="0" rIns="0" tIns="0" bIns="0">
            <a:spAutoFit/>
          </a:bodyPr>
          <a:lstStyle/>
          <a:p>
            <a:pPr algn="ctr"/>
            <a:r>
              <a:rPr sz="1100" b="1">
                <a:solidFill>
                  <a:srgbClr val="FFFFFF"/>
                </a:solidFill>
                <a:latin typeface="Segoe UI"/>
              </a:rPr>
              <a:t>Cắm vào</a:t>
            </a:r>
          </a:p>
        </p:txBody>
      </p:sp>
      <p:sp>
        <p:nvSpPr>
          <p:cNvPr id="12" name="TextBox 11"/>
          <p:cNvSpPr txBox="1"/>
          <p:nvPr/>
        </p:nvSpPr>
        <p:spPr>
          <a:xfrm>
            <a:off x="1828800" y="4709160"/>
            <a:ext cx="1554480" cy="320040"/>
          </a:xfrm>
          <a:prstGeom prst="rect">
            <a:avLst/>
          </a:prstGeom>
          <a:noFill/>
        </p:spPr>
        <p:txBody>
          <a:bodyPr wrap="square" anchor="ctr" lIns="0" rIns="0" tIns="0" bIns="0">
            <a:spAutoFit/>
          </a:bodyPr>
          <a:lstStyle/>
          <a:p>
            <a:pPr algn="ctr"/>
            <a:r>
              <a:rPr sz="1300" b="1">
                <a:solidFill>
                  <a:srgbClr val="2563EB"/>
                </a:solidFill>
                <a:latin typeface="Segoe UI"/>
              </a:rPr>
              <a:t>C1</a:t>
            </a:r>
          </a:p>
        </p:txBody>
      </p:sp>
      <p:sp>
        <p:nvSpPr>
          <p:cNvPr id="13" name="TextBox 12"/>
          <p:cNvSpPr txBox="1"/>
          <p:nvPr/>
        </p:nvSpPr>
        <p:spPr>
          <a:xfrm>
            <a:off x="1828800" y="2779776"/>
            <a:ext cx="1554480" cy="274320"/>
          </a:xfrm>
          <a:prstGeom prst="rect">
            <a:avLst/>
          </a:prstGeom>
          <a:noFill/>
        </p:spPr>
        <p:txBody>
          <a:bodyPr wrap="square" anchor="ctr" lIns="0" rIns="0" tIns="0" bIns="0">
            <a:spAutoFit/>
          </a:bodyPr>
          <a:lstStyle/>
          <a:p>
            <a:pPr algn="ctr"/>
            <a:r>
              <a:rPr sz="1200" b="1">
                <a:solidFill>
                  <a:srgbClr val="111827"/>
                </a:solidFill>
                <a:latin typeface="Segoe UI"/>
              </a:rPr>
              <a:t>31.6s</a:t>
            </a:r>
          </a:p>
        </p:txBody>
      </p:sp>
      <p:sp>
        <p:nvSpPr>
          <p:cNvPr id="14" name="Rectangle 13"/>
          <p:cNvSpPr/>
          <p:nvPr/>
        </p:nvSpPr>
        <p:spPr>
          <a:xfrm>
            <a:off x="4846320" y="4103461"/>
            <a:ext cx="1554480" cy="50511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4103461"/>
            <a:ext cx="1554480" cy="532546"/>
          </a:xfrm>
          <a:prstGeom prst="rect">
            <a:avLst/>
          </a:prstGeom>
          <a:noFill/>
        </p:spPr>
        <p:txBody>
          <a:bodyPr wrap="square" anchor="ctr" lIns="0" rIns="0" tIns="0" bIns="0">
            <a:spAutoFit/>
          </a:bodyPr>
          <a:lstStyle/>
          <a:p>
            <a:pPr algn="ctr"/>
            <a:r>
              <a:rPr sz="1100" b="1">
                <a:solidFill>
                  <a:srgbClr val="FFFFFF"/>
                </a:solidFill>
                <a:latin typeface="Segoe UI"/>
              </a:rPr>
              <a:t>Nhặt linh kiện</a:t>
            </a:r>
          </a:p>
        </p:txBody>
      </p:sp>
      <p:sp>
        <p:nvSpPr>
          <p:cNvPr id="16" name="Rectangle 15"/>
          <p:cNvSpPr/>
          <p:nvPr/>
        </p:nvSpPr>
        <p:spPr>
          <a:xfrm>
            <a:off x="4846320" y="3796223"/>
            <a:ext cx="1554480" cy="2798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915472"/>
            <a:ext cx="1554480" cy="853318"/>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2915472"/>
            <a:ext cx="1554480" cy="880750"/>
          </a:xfrm>
          <a:prstGeom prst="rect">
            <a:avLst/>
          </a:prstGeom>
          <a:noFill/>
        </p:spPr>
        <p:txBody>
          <a:bodyPr wrap="square" anchor="ctr" lIns="0" rIns="0" tIns="0" bIns="0">
            <a:spAutoFit/>
          </a:bodyPr>
          <a:lstStyle/>
          <a:p>
            <a:pPr algn="ctr"/>
            <a:r>
              <a:rPr sz="1100" b="1">
                <a:solidFill>
                  <a:srgbClr val="FFFFFF"/>
                </a:solidFill>
                <a:latin typeface="Segoe UI"/>
              </a:rPr>
              <a:t>Cắm vào</a:t>
            </a:r>
          </a:p>
        </p:txBody>
      </p:sp>
      <p:sp>
        <p:nvSpPr>
          <p:cNvPr id="19" name="TextBox 18"/>
          <p:cNvSpPr txBox="1"/>
          <p:nvPr/>
        </p:nvSpPr>
        <p:spPr>
          <a:xfrm>
            <a:off x="4846320" y="4709160"/>
            <a:ext cx="1554480" cy="320040"/>
          </a:xfrm>
          <a:prstGeom prst="rect">
            <a:avLst/>
          </a:prstGeom>
          <a:noFill/>
        </p:spPr>
        <p:txBody>
          <a:bodyPr wrap="square" anchor="ctr" lIns="0" rIns="0" tIns="0" bIns="0">
            <a:spAutoFit/>
          </a:bodyPr>
          <a:lstStyle/>
          <a:p>
            <a:pPr algn="ctr"/>
            <a:r>
              <a:rPr sz="1300" b="1">
                <a:solidFill>
                  <a:srgbClr val="159E4E"/>
                </a:solidFill>
                <a:latin typeface="Segoe UI"/>
              </a:rPr>
              <a:t>C2</a:t>
            </a:r>
          </a:p>
        </p:txBody>
      </p:sp>
      <p:sp>
        <p:nvSpPr>
          <p:cNvPr id="20" name="TextBox 19"/>
          <p:cNvSpPr txBox="1"/>
          <p:nvPr/>
        </p:nvSpPr>
        <p:spPr>
          <a:xfrm>
            <a:off x="4846320" y="2595432"/>
            <a:ext cx="1554480" cy="274320"/>
          </a:xfrm>
          <a:prstGeom prst="rect">
            <a:avLst/>
          </a:prstGeom>
          <a:noFill/>
        </p:spPr>
        <p:txBody>
          <a:bodyPr wrap="square" anchor="ctr" lIns="0" rIns="0" tIns="0" bIns="0">
            <a:spAutoFit/>
          </a:bodyPr>
          <a:lstStyle/>
          <a:p>
            <a:pPr algn="ctr"/>
            <a:r>
              <a:rPr sz="1200" b="1">
                <a:solidFill>
                  <a:srgbClr val="111827"/>
                </a:solidFill>
                <a:latin typeface="Segoe UI"/>
              </a:rPr>
              <a:t>33.0s</a:t>
            </a:r>
          </a:p>
        </p:txBody>
      </p:sp>
      <p:sp>
        <p:nvSpPr>
          <p:cNvPr id="21" name="Rectangle 20"/>
          <p:cNvSpPr/>
          <p:nvPr/>
        </p:nvSpPr>
        <p:spPr>
          <a:xfrm>
            <a:off x="7863840" y="4046402"/>
            <a:ext cx="1554480" cy="562173"/>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046402"/>
            <a:ext cx="1554480" cy="589605"/>
          </a:xfrm>
          <a:prstGeom prst="rect">
            <a:avLst/>
          </a:prstGeom>
          <a:noFill/>
        </p:spPr>
        <p:txBody>
          <a:bodyPr wrap="square" anchor="ctr" lIns="0" rIns="0" tIns="0" bIns="0">
            <a:spAutoFit/>
          </a:bodyPr>
          <a:lstStyle/>
          <a:p>
            <a:pPr algn="ctr"/>
            <a:r>
              <a:rPr sz="1100" b="1">
                <a:solidFill>
                  <a:srgbClr val="FFFFFF"/>
                </a:solidFill>
                <a:latin typeface="Segoe UI"/>
              </a:rPr>
              <a:t>Nhặt linh kiện</a:t>
            </a:r>
          </a:p>
        </p:txBody>
      </p:sp>
      <p:sp>
        <p:nvSpPr>
          <p:cNvPr id="23" name="Rectangle 22"/>
          <p:cNvSpPr/>
          <p:nvPr/>
        </p:nvSpPr>
        <p:spPr>
          <a:xfrm>
            <a:off x="7863840" y="3706246"/>
            <a:ext cx="1554480" cy="3127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3706246"/>
            <a:ext cx="1554480" cy="340156"/>
          </a:xfrm>
          <a:prstGeom prst="rect">
            <a:avLst/>
          </a:prstGeom>
          <a:noFill/>
        </p:spPr>
        <p:txBody>
          <a:bodyPr wrap="square" anchor="ctr" lIns="0" rIns="0" tIns="0" bIns="0">
            <a:spAutoFit/>
          </a:bodyPr>
          <a:lstStyle/>
          <a:p>
            <a:pPr algn="ctr"/>
            <a:r>
              <a:rPr sz="1100" b="1">
                <a:solidFill>
                  <a:srgbClr val="FFFFFF"/>
                </a:solidFill>
                <a:latin typeface="Segoe UI"/>
              </a:rPr>
              <a:t>Di chuyển tay</a:t>
            </a:r>
          </a:p>
        </p:txBody>
      </p:sp>
      <p:sp>
        <p:nvSpPr>
          <p:cNvPr id="25" name="Rectangle 24"/>
          <p:cNvSpPr/>
          <p:nvPr/>
        </p:nvSpPr>
        <p:spPr>
          <a:xfrm>
            <a:off x="7863840" y="2731129"/>
            <a:ext cx="1554480" cy="947684"/>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2731129"/>
            <a:ext cx="1554480" cy="975116"/>
          </a:xfrm>
          <a:prstGeom prst="rect">
            <a:avLst/>
          </a:prstGeom>
          <a:noFill/>
        </p:spPr>
        <p:txBody>
          <a:bodyPr wrap="square" anchor="ctr" lIns="0" rIns="0" tIns="0" bIns="0">
            <a:spAutoFit/>
          </a:bodyPr>
          <a:lstStyle/>
          <a:p>
            <a:pPr algn="ctr"/>
            <a:r>
              <a:rPr sz="1100" b="1">
                <a:solidFill>
                  <a:srgbClr val="FFFFFF"/>
                </a:solidFill>
                <a:latin typeface="Segoe UI"/>
              </a:rPr>
              <a:t>Cắm vào</a:t>
            </a:r>
          </a:p>
        </p:txBody>
      </p:sp>
      <p:sp>
        <p:nvSpPr>
          <p:cNvPr id="27" name="TextBox 26"/>
          <p:cNvSpPr txBox="1"/>
          <p:nvPr/>
        </p:nvSpPr>
        <p:spPr>
          <a:xfrm>
            <a:off x="7863840" y="4709160"/>
            <a:ext cx="1554480" cy="320040"/>
          </a:xfrm>
          <a:prstGeom prst="rect">
            <a:avLst/>
          </a:prstGeom>
          <a:noFill/>
        </p:spPr>
        <p:txBody>
          <a:bodyPr wrap="square" anchor="ctr" lIns="0" rIns="0" tIns="0" bIns="0">
            <a:spAutoFit/>
          </a:bodyPr>
          <a:lstStyle/>
          <a:p>
            <a:pPr algn="ctr"/>
            <a:r>
              <a:rPr sz="1300" b="1">
                <a:solidFill>
                  <a:srgbClr val="B45309"/>
                </a:solidFill>
                <a:latin typeface="Segoe UI"/>
              </a:rPr>
              <a:t>C3</a:t>
            </a:r>
          </a:p>
        </p:txBody>
      </p:sp>
      <p:sp>
        <p:nvSpPr>
          <p:cNvPr id="28" name="TextBox 27"/>
          <p:cNvSpPr txBox="1"/>
          <p:nvPr/>
        </p:nvSpPr>
        <p:spPr>
          <a:xfrm>
            <a:off x="7863840" y="2411089"/>
            <a:ext cx="1554480" cy="274320"/>
          </a:xfrm>
          <a:prstGeom prst="rect">
            <a:avLst/>
          </a:prstGeom>
          <a:noFill/>
        </p:spPr>
        <p:txBody>
          <a:bodyPr wrap="square" anchor="ctr" lIns="0" rIns="0" tIns="0" bIns="0">
            <a:spAutoFit/>
          </a:bodyPr>
          <a:lstStyle/>
          <a:p>
            <a:pPr algn="ctr"/>
            <a:r>
              <a:rPr sz="1200" b="1">
                <a:solidFill>
                  <a:srgbClr val="111827"/>
                </a:solidFill>
                <a:latin typeface="Segoe UI"/>
              </a:rPr>
              <a:t>34.4s</a:t>
            </a:r>
          </a:p>
        </p:txBody>
      </p:sp>
      <p:sp>
        <p:nvSpPr>
          <p:cNvPr id="29" name="Freeform 28"/>
          <p:cNvSpPr/>
          <p:nvPr/>
        </p:nvSpPr>
        <p:spPr>
          <a:xfrm>
            <a:off x="3383280" y="4103461"/>
            <a:ext cx="1463040" cy="532547"/>
          </a:xfrm>
          <a:custGeom>
            <a:avLst/>
            <a:gdLst/>
            <a:ahLst/>
            <a:cxnLst/>
            <a:rect l="l" t="t" r="r" b="b"/>
            <a:pathLst>
              <a:path w="1463040" h="532547">
                <a:moveTo>
                  <a:pt x="0" y="57059"/>
                </a:moveTo>
                <a:lnTo>
                  <a:pt x="1463040" y="0"/>
                </a:lnTo>
                <a:lnTo>
                  <a:pt x="1463040" y="532547"/>
                </a:lnTo>
                <a:lnTo>
                  <a:pt x="0" y="532547"/>
                </a:lnTo>
                <a:close/>
              </a:path>
            </a:pathLst>
          </a:cu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3383280" y="3796223"/>
            <a:ext cx="1463040" cy="364297"/>
          </a:xfrm>
          <a:custGeom>
            <a:avLst/>
            <a:gdLst/>
            <a:ahLst/>
            <a:cxnLst/>
            <a:rect l="l" t="t" r="r" b="b"/>
            <a:pathLst>
              <a:path w="1463040" h="364297">
                <a:moveTo>
                  <a:pt x="0" y="89977"/>
                </a:moveTo>
                <a:lnTo>
                  <a:pt x="1463040" y="0"/>
                </a:lnTo>
                <a:lnTo>
                  <a:pt x="1463040" y="307238"/>
                </a:lnTo>
                <a:lnTo>
                  <a:pt x="0" y="364297"/>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383280" y="2915472"/>
            <a:ext cx="1463040" cy="970728"/>
          </a:xfrm>
          <a:custGeom>
            <a:avLst/>
            <a:gdLst/>
            <a:ahLst/>
            <a:cxnLst/>
            <a:rect l="l" t="t" r="r" b="b"/>
            <a:pathLst>
              <a:path w="1463040" h="970728">
                <a:moveTo>
                  <a:pt x="0" y="184344"/>
                </a:moveTo>
                <a:lnTo>
                  <a:pt x="1463040" y="0"/>
                </a:lnTo>
                <a:lnTo>
                  <a:pt x="1463040" y="880751"/>
                </a:lnTo>
                <a:lnTo>
                  <a:pt x="0" y="970728"/>
                </a:lnTo>
                <a:close/>
              </a:path>
            </a:pathLst>
          </a:cu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400800" y="4046402"/>
            <a:ext cx="1463040" cy="589606"/>
          </a:xfrm>
          <a:custGeom>
            <a:avLst/>
            <a:gdLst/>
            <a:ahLst/>
            <a:cxnLst/>
            <a:rect l="l" t="t" r="r" b="b"/>
            <a:pathLst>
              <a:path w="1463040" h="589606">
                <a:moveTo>
                  <a:pt x="0" y="57059"/>
                </a:moveTo>
                <a:lnTo>
                  <a:pt x="1463040" y="0"/>
                </a:lnTo>
                <a:lnTo>
                  <a:pt x="1463040" y="589606"/>
                </a:lnTo>
                <a:lnTo>
                  <a:pt x="0" y="589606"/>
                </a:lnTo>
                <a:close/>
              </a:path>
            </a:pathLst>
          </a:cu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400800" y="3706246"/>
            <a:ext cx="1463040" cy="397215"/>
          </a:xfrm>
          <a:custGeom>
            <a:avLst/>
            <a:gdLst/>
            <a:ahLst/>
            <a:cxnLst/>
            <a:rect l="l" t="t" r="r" b="b"/>
            <a:pathLst>
              <a:path w="1463040" h="397215">
                <a:moveTo>
                  <a:pt x="0" y="89977"/>
                </a:moveTo>
                <a:lnTo>
                  <a:pt x="1463040" y="0"/>
                </a:lnTo>
                <a:lnTo>
                  <a:pt x="1463040" y="340156"/>
                </a:lnTo>
                <a:lnTo>
                  <a:pt x="0" y="397215"/>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400800" y="2731129"/>
            <a:ext cx="1463040" cy="1065094"/>
          </a:xfrm>
          <a:custGeom>
            <a:avLst/>
            <a:gdLst/>
            <a:ahLst/>
            <a:cxnLst/>
            <a:rect l="l" t="t" r="r" b="b"/>
            <a:pathLst>
              <a:path w="1463040" h="1065094">
                <a:moveTo>
                  <a:pt x="0" y="184343"/>
                </a:moveTo>
                <a:lnTo>
                  <a:pt x="1463040" y="0"/>
                </a:lnTo>
                <a:lnTo>
                  <a:pt x="1463040" y="975117"/>
                </a:lnTo>
                <a:lnTo>
                  <a:pt x="0" y="1065094"/>
                </a:lnTo>
                <a:close/>
              </a:path>
            </a:pathLst>
          </a:cu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093208"/>
            <a:ext cx="11064240" cy="365760"/>
          </a:xfrm>
          <a:prstGeom prst="rect">
            <a:avLst/>
          </a:prstGeom>
          <a:noFill/>
        </p:spPr>
        <p:txBody>
          <a:bodyPr wrap="square" anchor="ctr" lIns="0" rIns="0" tIns="0" bIns="0">
            <a:spAutoFit/>
          </a:bodyPr>
          <a:lstStyle/>
          <a:p>
            <a:pPr algn="l"/>
            <a:r>
              <a:rPr sz="1250" b="1">
                <a:solidFill>
                  <a:srgbClr val="B45309"/>
                </a:solidFill>
                <a:latin typeface="Segoe UI"/>
              </a:rPr>
              <a:t>① Dải nở rộng lên trên nghĩa là thao tác đó dài dần qua từng chu kỳ</a:t>
            </a:r>
          </a:p>
        </p:txBody>
      </p:sp>
      <p:sp>
        <p:nvSpPr>
          <p:cNvPr id="36" name="TextBox 35"/>
          <p:cNvSpPr txBox="1"/>
          <p:nvPr/>
        </p:nvSpPr>
        <p:spPr>
          <a:xfrm>
            <a:off x="548640" y="5276088"/>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biểu đồ — phía trên là độ cân bằng hai tay, dưới là cột tích lũy theo chu kỳ và dải nối.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8. Biểu đồ — Từng chu kỳ thay đổi ra sao</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8/17</a:t>
            </a:r>
          </a:p>
        </p:txBody>
      </p:sp>
      <p:graphicFrame>
        <p:nvGraphicFramePr>
          <p:cNvPr id="5" name="Table 4"/>
          <p:cNvGraphicFramePr>
            <a:graphicFrameLocks noGrp="1"/>
          </p:cNvGraphicFramePr>
          <p:nvPr/>
        </p:nvGraphicFramePr>
        <p:xfrm>
          <a:off x="640080" y="1143000"/>
          <a:ext cx="10881360" cy="1188720"/>
        </p:xfrm>
        <a:graphic>
          <a:graphicData uri="http://schemas.openxmlformats.org/drawingml/2006/table">
            <a:tbl>
              <a:tblPr firstRow="1" bandRow="1">
                <a:tableStyleId>{5C22544A-7EE6-4342-B048-85BDC9FD1C3A}</a:tableStyleId>
              </a:tblPr>
              <a:tblGrid>
                <a:gridCol w="5440680"/>
                <a:gridCol w="5440680"/>
              </a:tblGrid>
              <a:tr h="297180">
                <a:tc>
                  <a:txBody>
                    <a:bodyPr/>
                    <a:lstStyle/>
                    <a:p>
                      <a:r>
                        <a:rPr sz="1100" b="1">
                          <a:solidFill>
                            <a:srgbClr val="FFFFFF"/>
                          </a:solidFill>
                          <a:latin typeface="Segoe UI"/>
                        </a:rPr>
                        <a:t>Thao tác</a:t>
                      </a:r>
                    </a:p>
                  </a:txBody>
                  <a:tcPr marL="54864" marR="54864">
                    <a:solidFill>
                      <a:srgbClr val="1E3A5F"/>
                    </a:solidFill>
                  </a:tcPr>
                </a:tc>
                <a:tc>
                  <a:txBody>
                    <a:bodyPr/>
                    <a:lstStyle/>
                    <a:p>
                      <a:r>
                        <a:rPr sz="1100" b="1">
                          <a:solidFill>
                            <a:srgbClr val="FFFFFF"/>
                          </a:solidFill>
                          <a:latin typeface="Segoe UI"/>
                        </a:rPr>
                        <a:t>Hiệu quả</a:t>
                      </a:r>
                    </a:p>
                  </a:txBody>
                  <a:tcPr marL="54864" marR="54864">
                    <a:solidFill>
                      <a:srgbClr val="1E3A5F"/>
                    </a:solidFill>
                  </a:tcPr>
                </a:tc>
              </a:tr>
              <a:tr h="297180">
                <a:tc>
                  <a:txBody>
                    <a:bodyPr/>
                    <a:lstStyle/>
                    <a:p>
                      <a:pPr>
                        <a:lnSpc>
                          <a:spcPct val="95000"/>
                        </a:lnSpc>
                      </a:pPr>
                      <a:r>
                        <a:rPr sz="1100" b="0">
                          <a:solidFill>
                            <a:srgbClr val="111827"/>
                          </a:solidFill>
                          <a:latin typeface="Segoe UI"/>
                        </a:rPr>
                        <a:t>Rê chuột lên ô màu</a:t>
                      </a:r>
                    </a:p>
                  </a:txBody>
                  <a:tcPr marL="54864" marR="54864" marT="18288" marB="18288">
                    <a:solidFill>
                      <a:srgbClr val="F1F5F9"/>
                    </a:solidFill>
                  </a:tcPr>
                </a:tc>
                <a:tc>
                  <a:txBody>
                    <a:bodyPr/>
                    <a:lstStyle/>
                    <a:p>
                      <a:pPr>
                        <a:lnSpc>
                          <a:spcPct val="95000"/>
                        </a:lnSpc>
                      </a:pPr>
                      <a:r>
                        <a:rPr sz="1100" b="0">
                          <a:solidFill>
                            <a:srgbClr val="111827"/>
                          </a:solidFill>
                          <a:latin typeface="Segoe UI"/>
                        </a:rPr>
                        <a:t>Cùng thao tác được </a:t>
                      </a:r>
                      <a:r>
                        <a:rPr sz="1100" b="1">
                          <a:solidFill>
                            <a:srgbClr val="111827"/>
                          </a:solidFill>
                          <a:latin typeface="Segoe UI"/>
                        </a:rPr>
                        <a:t>làm nổi bật ở tất cả chu kỳ</a:t>
                      </a:r>
                      <a:r>
                        <a:rPr sz="1100" b="0">
                          <a:solidFill>
                            <a:srgbClr val="111827"/>
                          </a:solidFill>
                          <a:latin typeface="Segoe UI"/>
                        </a:rPr>
                        <a:t>, phần còn lại mờ đi.</a:t>
                      </a:r>
                    </a:p>
                  </a:txBody>
                  <a:tcPr marL="54864" marR="54864" marT="18288" marB="18288">
                    <a:solidFill>
                      <a:srgbClr val="F1F5F9"/>
                    </a:solidFill>
                  </a:tcPr>
                </a:tc>
              </a:tr>
              <a:tr h="297180">
                <a:tc>
                  <a:txBody>
                    <a:bodyPr/>
                    <a:lstStyle/>
                    <a:p>
                      <a:pPr>
                        <a:lnSpc>
                          <a:spcPct val="95000"/>
                        </a:lnSpc>
                      </a:pPr>
                      <a:r>
                        <a:rPr sz="1100" b="0">
                          <a:solidFill>
                            <a:srgbClr val="111827"/>
                          </a:solidFill>
                          <a:latin typeface="Segoe UI"/>
                        </a:rPr>
                        <a:t>Nút [Dải nối cùng thao tác]</a:t>
                      </a:r>
                    </a:p>
                  </a:txBody>
                  <a:tcPr marL="54864" marR="54864" marT="18288" marB="18288">
                    <a:solidFill>
                      <a:srgbClr val="FFFFFF"/>
                    </a:solidFill>
                  </a:tcPr>
                </a:tc>
                <a:tc>
                  <a:txBody>
                    <a:bodyPr/>
                    <a:lstStyle/>
                    <a:p>
                      <a:pPr>
                        <a:lnSpc>
                          <a:spcPct val="95000"/>
                        </a:lnSpc>
                      </a:pPr>
                      <a:r>
                        <a:rPr sz="1100" b="0">
                          <a:solidFill>
                            <a:srgbClr val="111827"/>
                          </a:solidFill>
                          <a:latin typeface="Segoe UI"/>
                        </a:rPr>
                        <a:t>Bật/tắt dải nối các thao tác.</a:t>
                      </a:r>
                    </a:p>
                  </a:txBody>
                  <a:tcPr marL="54864" marR="54864" marT="18288" marB="18288">
                    <a:solidFill>
                      <a:srgbClr val="FFFFFF"/>
                    </a:solidFill>
                  </a:tcPr>
                </a:tc>
              </a:tr>
              <a:tr h="297180">
                <a:tc>
                  <a:txBody>
                    <a:bodyPr/>
                    <a:lstStyle/>
                    <a:p>
                      <a:pPr>
                        <a:lnSpc>
                          <a:spcPct val="95000"/>
                        </a:lnSpc>
                      </a:pPr>
                      <a:r>
                        <a:rPr sz="1100" b="0">
                          <a:solidFill>
                            <a:srgbClr val="111827"/>
                          </a:solidFill>
                          <a:latin typeface="Segoe UI"/>
                        </a:rPr>
                        <a:t>[Phóng dọc] 1x/1.5x/2x</a:t>
                      </a:r>
                    </a:p>
                  </a:txBody>
                  <a:tcPr marL="54864" marR="54864" marT="18288" marB="18288">
                    <a:solidFill>
                      <a:srgbClr val="F1F5F9"/>
                    </a:solidFill>
                  </a:tcPr>
                </a:tc>
                <a:tc>
                  <a:txBody>
                    <a:bodyPr/>
                    <a:lstStyle/>
                    <a:p>
                      <a:pPr>
                        <a:lnSpc>
                          <a:spcPct val="95000"/>
                        </a:lnSpc>
                      </a:pPr>
                      <a:r>
                        <a:rPr sz="1100" b="0">
                          <a:solidFill>
                            <a:srgbClr val="111827"/>
                          </a:solidFill>
                          <a:latin typeface="Segoe UI"/>
                        </a:rPr>
                        <a:t>Kéo dài theo chiều dọc khi các ô quá sát nhau.</a:t>
                      </a:r>
                    </a:p>
                  </a:txBody>
                  <a:tcPr marL="54864" marR="54864" marT="18288" marB="18288">
                    <a:solidFill>
                      <a:srgbClr val="F1F5F9"/>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9. Kết quả phân tích — Tổng hợp bằng số</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Gom trung bình, độ lệch, thời gian chuẩn, số người cần và đánh giá hai tay vào một màn hình.</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9/17</a:t>
            </a:r>
          </a:p>
        </p:txBody>
      </p:sp>
      <p:sp>
        <p:nvSpPr>
          <p:cNvPr id="6" name="TextBox 5"/>
          <p:cNvSpPr txBox="1"/>
          <p:nvPr/>
        </p:nvSpPr>
        <p:spPr>
          <a:xfrm>
            <a:off x="548640" y="960120"/>
            <a:ext cx="5486400" cy="320040"/>
          </a:xfrm>
          <a:prstGeom prst="rect">
            <a:avLst/>
          </a:prstGeom>
          <a:noFill/>
        </p:spPr>
        <p:txBody>
          <a:bodyPr wrap="square" anchor="ctr" lIns="0" rIns="0" tIns="0" bIns="0">
            <a:spAutoFit/>
          </a:bodyPr>
          <a:lstStyle/>
          <a:p>
            <a:pPr algn="l"/>
            <a:r>
              <a:rPr sz="1500" b="1">
                <a:solidFill>
                  <a:srgbClr val="111827"/>
                </a:solidFill>
                <a:latin typeface="Segoe UI"/>
              </a:rPr>
              <a:t>⚖ Đánh giá thao tác hai tay</a:t>
            </a:r>
          </a:p>
        </p:txBody>
      </p:sp>
      <p:sp>
        <p:nvSpPr>
          <p:cNvPr id="7" name="TextBox 6"/>
          <p:cNvSpPr txBox="1"/>
          <p:nvPr/>
        </p:nvSpPr>
        <p:spPr>
          <a:xfrm>
            <a:off x="3840480" y="960120"/>
            <a:ext cx="1828800" cy="320040"/>
          </a:xfrm>
          <a:prstGeom prst="rect">
            <a:avLst/>
          </a:prstGeom>
          <a:noFill/>
        </p:spPr>
        <p:txBody>
          <a:bodyPr wrap="square" anchor="ctr" lIns="0" rIns="0" tIns="0" bIns="0">
            <a:spAutoFit/>
          </a:bodyPr>
          <a:lstStyle/>
          <a:p>
            <a:pPr algn="l"/>
            <a:r>
              <a:rPr sz="1200" b="0">
                <a:solidFill>
                  <a:srgbClr val="475569"/>
                </a:solidFill>
                <a:latin typeface="Segoe UI"/>
              </a:rPr>
              <a:t>Cân bằng (HBR)</a:t>
            </a:r>
          </a:p>
        </p:txBody>
      </p:sp>
      <p:sp>
        <p:nvSpPr>
          <p:cNvPr id="8" name="TextBox 7"/>
          <p:cNvSpPr txBox="1"/>
          <p:nvPr/>
        </p:nvSpPr>
        <p:spPr>
          <a:xfrm>
            <a:off x="5120640" y="914400"/>
            <a:ext cx="1097280" cy="411480"/>
          </a:xfrm>
          <a:prstGeom prst="rect">
            <a:avLst/>
          </a:prstGeom>
          <a:noFill/>
        </p:spPr>
        <p:txBody>
          <a:bodyPr wrap="square" anchor="ctr" lIns="0" rIns="0" tIns="0" bIns="0">
            <a:spAutoFit/>
          </a:bodyPr>
          <a:lstStyle/>
          <a:p>
            <a:pPr algn="l"/>
            <a:r>
              <a:rPr sz="2000" b="1">
                <a:solidFill>
                  <a:srgbClr val="B45309"/>
                </a:solidFill>
                <a:latin typeface="Segoe UI"/>
              </a:rPr>
              <a:t>74%</a:t>
            </a:r>
          </a:p>
        </p:txBody>
      </p:sp>
      <p:sp>
        <p:nvSpPr>
          <p:cNvPr id="9" name="Rounded Rectangle 8"/>
          <p:cNvSpPr/>
          <p:nvPr/>
        </p:nvSpPr>
        <p:spPr>
          <a:xfrm>
            <a:off x="6400800" y="960120"/>
            <a:ext cx="5120640" cy="347472"/>
          </a:xfrm>
          <a:prstGeom prst="roundRect">
            <a:avLst>
              <a:gd name="adj" fmla="val 8000"/>
            </a:avLst>
          </a:prstGeom>
          <a:solidFill>
            <a:srgbClr val="FEE2E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960120"/>
            <a:ext cx="4846320" cy="347472"/>
          </a:xfrm>
          <a:prstGeom prst="rect">
            <a:avLst/>
          </a:prstGeom>
          <a:noFill/>
        </p:spPr>
        <p:txBody>
          <a:bodyPr wrap="square" anchor="ctr" lIns="0" rIns="0" tIns="0" bIns="0">
            <a:spAutoFit/>
          </a:bodyPr>
          <a:lstStyle/>
          <a:p>
            <a:pPr algn="l"/>
            <a:r>
              <a:rPr sz="1150" b="0">
                <a:solidFill>
                  <a:srgbClr val="DC2626"/>
                </a:solidFill>
                <a:latin typeface="Segoe UI"/>
              </a:rPr>
              <a:t>⚠ Tay phải RH đang rảnh → xem lại phân bổ</a:t>
            </a:r>
          </a:p>
        </p:txBody>
      </p:sp>
      <p:sp>
        <p:nvSpPr>
          <p:cNvPr id="11" name="TextBox 10"/>
          <p:cNvSpPr txBox="1"/>
          <p:nvPr/>
        </p:nvSpPr>
        <p:spPr>
          <a:xfrm>
            <a:off x="548640" y="1417320"/>
            <a:ext cx="1463040" cy="292608"/>
          </a:xfrm>
          <a:prstGeom prst="rect">
            <a:avLst/>
          </a:prstGeom>
          <a:noFill/>
        </p:spPr>
        <p:txBody>
          <a:bodyPr wrap="square" anchor="ctr" lIns="0" rIns="0" tIns="0" bIns="0">
            <a:spAutoFit/>
          </a:bodyPr>
          <a:lstStyle/>
          <a:p>
            <a:pPr algn="l"/>
            <a:r>
              <a:rPr sz="1100" b="1">
                <a:solidFill>
                  <a:srgbClr val="2563EB"/>
                </a:solidFill>
                <a:latin typeface="Segoe UI"/>
              </a:rPr>
              <a:t>Tay</a:t>
            </a:r>
          </a:p>
        </p:txBody>
      </p:sp>
      <p:sp>
        <p:nvSpPr>
          <p:cNvPr id="12" name="TextBox 11"/>
          <p:cNvSpPr txBox="1"/>
          <p:nvPr/>
        </p:nvSpPr>
        <p:spPr>
          <a:xfrm>
            <a:off x="2286000" y="1417320"/>
            <a:ext cx="1463040" cy="292608"/>
          </a:xfrm>
          <a:prstGeom prst="rect">
            <a:avLst/>
          </a:prstGeom>
          <a:noFill/>
        </p:spPr>
        <p:txBody>
          <a:bodyPr wrap="square" anchor="ctr" lIns="0" rIns="0" tIns="0" bIns="0">
            <a:spAutoFit/>
          </a:bodyPr>
          <a:lstStyle/>
          <a:p>
            <a:pPr algn="l"/>
            <a:r>
              <a:rPr sz="1100" b="1">
                <a:solidFill>
                  <a:srgbClr val="2563EB"/>
                </a:solidFill>
                <a:latin typeface="Segoe UI"/>
              </a:rPr>
              <a:t>Tổng thời gian</a:t>
            </a:r>
          </a:p>
        </p:txBody>
      </p:sp>
      <p:sp>
        <p:nvSpPr>
          <p:cNvPr id="13" name="TextBox 12"/>
          <p:cNvSpPr txBox="1"/>
          <p:nvPr/>
        </p:nvSpPr>
        <p:spPr>
          <a:xfrm>
            <a:off x="3200400" y="1417320"/>
            <a:ext cx="1463040" cy="292608"/>
          </a:xfrm>
          <a:prstGeom prst="rect">
            <a:avLst/>
          </a:prstGeom>
          <a:noFill/>
        </p:spPr>
        <p:txBody>
          <a:bodyPr wrap="square" anchor="ctr" lIns="0" rIns="0" tIns="0" bIns="0">
            <a:spAutoFit/>
          </a:bodyPr>
          <a:lstStyle/>
          <a:p>
            <a:pPr algn="l"/>
            <a:r>
              <a:rPr sz="1100" b="1">
                <a:solidFill>
                  <a:srgbClr val="2563EB"/>
                </a:solidFill>
                <a:latin typeface="Segoe UI"/>
              </a:rPr>
              <a:t>Tỷ trọng</a:t>
            </a:r>
          </a:p>
        </p:txBody>
      </p:sp>
      <p:sp>
        <p:nvSpPr>
          <p:cNvPr id="14" name="TextBox 13"/>
          <p:cNvSpPr txBox="1"/>
          <p:nvPr/>
        </p:nvSpPr>
        <p:spPr>
          <a:xfrm>
            <a:off x="4114800" y="1417320"/>
            <a:ext cx="1463040" cy="292608"/>
          </a:xfrm>
          <a:prstGeom prst="rect">
            <a:avLst/>
          </a:prstGeom>
          <a:noFill/>
        </p:spPr>
        <p:txBody>
          <a:bodyPr wrap="square" anchor="ctr" lIns="0" rIns="0" tIns="0" bIns="0">
            <a:spAutoFit/>
          </a:bodyPr>
          <a:lstStyle/>
          <a:p>
            <a:pPr algn="l"/>
            <a:r>
              <a:rPr sz="1100" b="1">
                <a:solidFill>
                  <a:srgbClr val="2563EB"/>
                </a:solidFill>
                <a:latin typeface="Segoe UI"/>
              </a:rPr>
              <a:t>Giá trị</a:t>
            </a:r>
          </a:p>
        </p:txBody>
      </p:sp>
      <p:sp>
        <p:nvSpPr>
          <p:cNvPr id="15" name="TextBox 14"/>
          <p:cNvSpPr txBox="1"/>
          <p:nvPr/>
        </p:nvSpPr>
        <p:spPr>
          <a:xfrm>
            <a:off x="5029200" y="1417320"/>
            <a:ext cx="1463040" cy="292608"/>
          </a:xfrm>
          <a:prstGeom prst="rect">
            <a:avLst/>
          </a:prstGeom>
          <a:noFill/>
        </p:spPr>
        <p:txBody>
          <a:bodyPr wrap="square" anchor="ctr" lIns="0" rIns="0" tIns="0" bIns="0">
            <a:spAutoFit/>
          </a:bodyPr>
          <a:lstStyle/>
          <a:p>
            <a:pPr algn="l"/>
            <a:r>
              <a:rPr sz="1100" b="1">
                <a:solidFill>
                  <a:srgbClr val="2563EB"/>
                </a:solidFill>
                <a:latin typeface="Segoe UI"/>
              </a:rPr>
              <a:t>Phụ trợ</a:t>
            </a:r>
          </a:p>
        </p:txBody>
      </p:sp>
      <p:sp>
        <p:nvSpPr>
          <p:cNvPr id="16" name="TextBox 15"/>
          <p:cNvSpPr txBox="1"/>
          <p:nvPr/>
        </p:nvSpPr>
        <p:spPr>
          <a:xfrm>
            <a:off x="5943600" y="1417320"/>
            <a:ext cx="1463040" cy="292608"/>
          </a:xfrm>
          <a:prstGeom prst="rect">
            <a:avLst/>
          </a:prstGeom>
          <a:noFill/>
        </p:spPr>
        <p:txBody>
          <a:bodyPr wrap="square" anchor="ctr" lIns="0" rIns="0" tIns="0" bIns="0">
            <a:spAutoFit/>
          </a:bodyPr>
          <a:lstStyle/>
          <a:p>
            <a:pPr algn="l"/>
            <a:r>
              <a:rPr sz="1100" b="1">
                <a:solidFill>
                  <a:srgbClr val="2563EB"/>
                </a:solidFill>
                <a:latin typeface="Segoe UI"/>
              </a:rPr>
              <a:t>Lãng phí</a:t>
            </a:r>
          </a:p>
        </p:txBody>
      </p:sp>
      <p:sp>
        <p:nvSpPr>
          <p:cNvPr id="17" name="TextBox 16"/>
          <p:cNvSpPr txBox="1"/>
          <p:nvPr/>
        </p:nvSpPr>
        <p:spPr>
          <a:xfrm>
            <a:off x="548640" y="1801368"/>
            <a:ext cx="1737360" cy="329184"/>
          </a:xfrm>
          <a:prstGeom prst="rect">
            <a:avLst/>
          </a:prstGeom>
          <a:noFill/>
        </p:spPr>
        <p:txBody>
          <a:bodyPr wrap="square" anchor="ctr" lIns="0" rIns="0" tIns="0" bIns="0">
            <a:spAutoFit/>
          </a:bodyPr>
          <a:lstStyle/>
          <a:p>
            <a:pPr algn="l"/>
            <a:r>
              <a:rPr sz="1200" b="1">
                <a:solidFill>
                  <a:srgbClr val="2563EB"/>
                </a:solidFill>
                <a:latin typeface="Segoe UI"/>
              </a:rPr>
              <a:t>🤚 LH Tay trái</a:t>
            </a:r>
          </a:p>
        </p:txBody>
      </p:sp>
      <p:sp>
        <p:nvSpPr>
          <p:cNvPr id="18" name="TextBox 17"/>
          <p:cNvSpPr txBox="1"/>
          <p:nvPr/>
        </p:nvSpPr>
        <p:spPr>
          <a:xfrm>
            <a:off x="2286000" y="1801368"/>
            <a:ext cx="914400" cy="329184"/>
          </a:xfrm>
          <a:prstGeom prst="rect">
            <a:avLst/>
          </a:prstGeom>
          <a:noFill/>
        </p:spPr>
        <p:txBody>
          <a:bodyPr wrap="square" anchor="ctr" lIns="0" rIns="0" tIns="0" bIns="0">
            <a:spAutoFit/>
          </a:bodyPr>
          <a:lstStyle/>
          <a:p>
            <a:pPr algn="l"/>
            <a:r>
              <a:rPr sz="1200" b="1">
                <a:solidFill>
                  <a:srgbClr val="111827"/>
                </a:solidFill>
                <a:latin typeface="Segoe UI"/>
              </a:rPr>
              <a:t>3.4s</a:t>
            </a:r>
          </a:p>
        </p:txBody>
      </p:sp>
      <p:sp>
        <p:nvSpPr>
          <p:cNvPr id="19" name="TextBox 18"/>
          <p:cNvSpPr txBox="1"/>
          <p:nvPr/>
        </p:nvSpPr>
        <p:spPr>
          <a:xfrm>
            <a:off x="3200400" y="1801368"/>
            <a:ext cx="914400" cy="329184"/>
          </a:xfrm>
          <a:prstGeom prst="rect">
            <a:avLst/>
          </a:prstGeom>
          <a:noFill/>
        </p:spPr>
        <p:txBody>
          <a:bodyPr wrap="square" anchor="ctr" lIns="0" rIns="0" tIns="0" bIns="0">
            <a:spAutoFit/>
          </a:bodyPr>
          <a:lstStyle/>
          <a:p>
            <a:pPr algn="l"/>
            <a:r>
              <a:rPr sz="1200" b="0">
                <a:solidFill>
                  <a:srgbClr val="475569"/>
                </a:solidFill>
                <a:latin typeface="Segoe UI"/>
              </a:rPr>
              <a:t>34%</a:t>
            </a:r>
          </a:p>
        </p:txBody>
      </p:sp>
      <p:sp>
        <p:nvSpPr>
          <p:cNvPr id="20" name="TextBox 19"/>
          <p:cNvSpPr txBox="1"/>
          <p:nvPr/>
        </p:nvSpPr>
        <p:spPr>
          <a:xfrm>
            <a:off x="4114800" y="1801368"/>
            <a:ext cx="914400" cy="329184"/>
          </a:xfrm>
          <a:prstGeom prst="rect">
            <a:avLst/>
          </a:prstGeom>
          <a:noFill/>
        </p:spPr>
        <p:txBody>
          <a:bodyPr wrap="square" anchor="ctr" lIns="0" rIns="0" tIns="0" bIns="0">
            <a:spAutoFit/>
          </a:bodyPr>
          <a:lstStyle/>
          <a:p>
            <a:pPr algn="l"/>
            <a:r>
              <a:rPr sz="1200" b="0">
                <a:solidFill>
                  <a:srgbClr val="159E4E"/>
                </a:solidFill>
                <a:latin typeface="Segoe UI"/>
              </a:rPr>
              <a:t>3.4s</a:t>
            </a:r>
          </a:p>
        </p:txBody>
      </p:sp>
      <p:sp>
        <p:nvSpPr>
          <p:cNvPr id="21" name="TextBox 20"/>
          <p:cNvSpPr txBox="1"/>
          <p:nvPr/>
        </p:nvSpPr>
        <p:spPr>
          <a:xfrm>
            <a:off x="5029200" y="1801368"/>
            <a:ext cx="914400" cy="329184"/>
          </a:xfrm>
          <a:prstGeom prst="rect">
            <a:avLst/>
          </a:prstGeom>
          <a:noFill/>
        </p:spPr>
        <p:txBody>
          <a:bodyPr wrap="square" anchor="ctr" lIns="0" rIns="0" tIns="0" bIns="0">
            <a:spAutoFit/>
          </a:bodyPr>
          <a:lstStyle/>
          <a:p>
            <a:pPr algn="l"/>
            <a:r>
              <a:rPr sz="1200" b="0">
                <a:solidFill>
                  <a:srgbClr val="B45309"/>
                </a:solidFill>
                <a:latin typeface="Segoe UI"/>
              </a:rPr>
              <a:t>0.0s</a:t>
            </a:r>
          </a:p>
        </p:txBody>
      </p:sp>
      <p:sp>
        <p:nvSpPr>
          <p:cNvPr id="22" name="TextBox 21"/>
          <p:cNvSpPr txBox="1"/>
          <p:nvPr/>
        </p:nvSpPr>
        <p:spPr>
          <a:xfrm>
            <a:off x="5943600" y="1801368"/>
            <a:ext cx="914400" cy="329184"/>
          </a:xfrm>
          <a:prstGeom prst="rect">
            <a:avLst/>
          </a:prstGeom>
          <a:noFill/>
        </p:spPr>
        <p:txBody>
          <a:bodyPr wrap="square" anchor="ctr" lIns="0" rIns="0" tIns="0" bIns="0">
            <a:spAutoFit/>
          </a:bodyPr>
          <a:lstStyle/>
          <a:p>
            <a:pPr algn="l"/>
            <a:r>
              <a:rPr sz="1200" b="0">
                <a:solidFill>
                  <a:srgbClr val="94A3B8"/>
                </a:solidFill>
                <a:latin typeface="Segoe UI"/>
              </a:rPr>
              <a:t>0.0s</a:t>
            </a:r>
          </a:p>
        </p:txBody>
      </p:sp>
      <p:sp>
        <p:nvSpPr>
          <p:cNvPr id="23" name="Rounded Rectangle 22"/>
          <p:cNvSpPr/>
          <p:nvPr/>
        </p:nvSpPr>
        <p:spPr>
          <a:xfrm>
            <a:off x="6949440" y="1874519"/>
            <a:ext cx="4572000" cy="182880"/>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949440" y="1874519"/>
            <a:ext cx="3791414" cy="1828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258568"/>
            <a:ext cx="1737360" cy="329184"/>
          </a:xfrm>
          <a:prstGeom prst="rect">
            <a:avLst/>
          </a:prstGeom>
          <a:noFill/>
        </p:spPr>
        <p:txBody>
          <a:bodyPr wrap="square" anchor="ctr" lIns="0" rIns="0" tIns="0" bIns="0">
            <a:spAutoFit/>
          </a:bodyPr>
          <a:lstStyle/>
          <a:p>
            <a:pPr algn="l"/>
            <a:r>
              <a:rPr sz="1200" b="1">
                <a:solidFill>
                  <a:srgbClr val="159E4E"/>
                </a:solidFill>
                <a:latin typeface="Segoe UI"/>
              </a:rPr>
              <a:t>✋ RH Tay phải</a:t>
            </a:r>
          </a:p>
        </p:txBody>
      </p:sp>
      <p:sp>
        <p:nvSpPr>
          <p:cNvPr id="26" name="TextBox 25"/>
          <p:cNvSpPr txBox="1"/>
          <p:nvPr/>
        </p:nvSpPr>
        <p:spPr>
          <a:xfrm>
            <a:off x="2286000" y="2258568"/>
            <a:ext cx="914400" cy="329184"/>
          </a:xfrm>
          <a:prstGeom prst="rect">
            <a:avLst/>
          </a:prstGeom>
          <a:noFill/>
        </p:spPr>
        <p:txBody>
          <a:bodyPr wrap="square" anchor="ctr" lIns="0" rIns="0" tIns="0" bIns="0">
            <a:spAutoFit/>
          </a:bodyPr>
          <a:lstStyle/>
          <a:p>
            <a:pPr algn="l"/>
            <a:r>
              <a:rPr sz="1200" b="1">
                <a:solidFill>
                  <a:srgbClr val="111827"/>
                </a:solidFill>
                <a:latin typeface="Segoe UI"/>
              </a:rPr>
              <a:t>2.5s</a:t>
            </a:r>
          </a:p>
        </p:txBody>
      </p:sp>
      <p:sp>
        <p:nvSpPr>
          <p:cNvPr id="27" name="TextBox 26"/>
          <p:cNvSpPr txBox="1"/>
          <p:nvPr/>
        </p:nvSpPr>
        <p:spPr>
          <a:xfrm>
            <a:off x="3200400" y="2258568"/>
            <a:ext cx="914400" cy="329184"/>
          </a:xfrm>
          <a:prstGeom prst="rect">
            <a:avLst/>
          </a:prstGeom>
          <a:noFill/>
        </p:spPr>
        <p:txBody>
          <a:bodyPr wrap="square" anchor="ctr" lIns="0" rIns="0" tIns="0" bIns="0">
            <a:spAutoFit/>
          </a:bodyPr>
          <a:lstStyle/>
          <a:p>
            <a:pPr algn="l"/>
            <a:r>
              <a:rPr sz="1200" b="0">
                <a:solidFill>
                  <a:srgbClr val="475569"/>
                </a:solidFill>
                <a:latin typeface="Segoe UI"/>
              </a:rPr>
              <a:t>25%</a:t>
            </a:r>
          </a:p>
        </p:txBody>
      </p:sp>
      <p:sp>
        <p:nvSpPr>
          <p:cNvPr id="28" name="TextBox 27"/>
          <p:cNvSpPr txBox="1"/>
          <p:nvPr/>
        </p:nvSpPr>
        <p:spPr>
          <a:xfrm>
            <a:off x="4114800" y="2258568"/>
            <a:ext cx="914400" cy="329184"/>
          </a:xfrm>
          <a:prstGeom prst="rect">
            <a:avLst/>
          </a:prstGeom>
          <a:noFill/>
        </p:spPr>
        <p:txBody>
          <a:bodyPr wrap="square" anchor="ctr" lIns="0" rIns="0" tIns="0" bIns="0">
            <a:spAutoFit/>
          </a:bodyPr>
          <a:lstStyle/>
          <a:p>
            <a:pPr algn="l"/>
            <a:r>
              <a:rPr sz="1200" b="0">
                <a:solidFill>
                  <a:srgbClr val="159E4E"/>
                </a:solidFill>
                <a:latin typeface="Segoe UI"/>
              </a:rPr>
              <a:t>2.5s</a:t>
            </a:r>
          </a:p>
        </p:txBody>
      </p:sp>
      <p:sp>
        <p:nvSpPr>
          <p:cNvPr id="29" name="TextBox 28"/>
          <p:cNvSpPr txBox="1"/>
          <p:nvPr/>
        </p:nvSpPr>
        <p:spPr>
          <a:xfrm>
            <a:off x="5029200" y="2258568"/>
            <a:ext cx="914400" cy="329184"/>
          </a:xfrm>
          <a:prstGeom prst="rect">
            <a:avLst/>
          </a:prstGeom>
          <a:noFill/>
        </p:spPr>
        <p:txBody>
          <a:bodyPr wrap="square" anchor="ctr" lIns="0" rIns="0" tIns="0" bIns="0">
            <a:spAutoFit/>
          </a:bodyPr>
          <a:lstStyle/>
          <a:p>
            <a:pPr algn="l"/>
            <a:r>
              <a:rPr sz="1200" b="0">
                <a:solidFill>
                  <a:srgbClr val="B45309"/>
                </a:solidFill>
                <a:latin typeface="Segoe UI"/>
              </a:rPr>
              <a:t>0.0s</a:t>
            </a:r>
          </a:p>
        </p:txBody>
      </p:sp>
      <p:sp>
        <p:nvSpPr>
          <p:cNvPr id="30" name="TextBox 29"/>
          <p:cNvSpPr txBox="1"/>
          <p:nvPr/>
        </p:nvSpPr>
        <p:spPr>
          <a:xfrm>
            <a:off x="5943600" y="2258568"/>
            <a:ext cx="914400" cy="329184"/>
          </a:xfrm>
          <a:prstGeom prst="rect">
            <a:avLst/>
          </a:prstGeom>
          <a:noFill/>
        </p:spPr>
        <p:txBody>
          <a:bodyPr wrap="square" anchor="ctr" lIns="0" rIns="0" tIns="0" bIns="0">
            <a:spAutoFit/>
          </a:bodyPr>
          <a:lstStyle/>
          <a:p>
            <a:pPr algn="l"/>
            <a:r>
              <a:rPr sz="1200" b="0">
                <a:solidFill>
                  <a:srgbClr val="94A3B8"/>
                </a:solidFill>
                <a:latin typeface="Segoe UI"/>
              </a:rPr>
              <a:t>0.0s</a:t>
            </a:r>
          </a:p>
        </p:txBody>
      </p:sp>
      <p:sp>
        <p:nvSpPr>
          <p:cNvPr id="31" name="Rounded Rectangle 30"/>
          <p:cNvSpPr/>
          <p:nvPr/>
        </p:nvSpPr>
        <p:spPr>
          <a:xfrm>
            <a:off x="6949440" y="2331720"/>
            <a:ext cx="4572000" cy="182880"/>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949440" y="2331720"/>
            <a:ext cx="2787804" cy="182880"/>
          </a:xfrm>
          <a:prstGeom prst="roundRect">
            <a:avLst>
              <a:gd name="adj" fmla="val 8000"/>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2715768"/>
            <a:ext cx="1737360" cy="329184"/>
          </a:xfrm>
          <a:prstGeom prst="rect">
            <a:avLst/>
          </a:prstGeom>
          <a:noFill/>
        </p:spPr>
        <p:txBody>
          <a:bodyPr wrap="square" anchor="ctr" lIns="0" rIns="0" tIns="0" bIns="0">
            <a:spAutoFit/>
          </a:bodyPr>
          <a:lstStyle/>
          <a:p>
            <a:pPr algn="l"/>
            <a:r>
              <a:rPr sz="1200" b="1">
                <a:solidFill>
                  <a:srgbClr val="B45309"/>
                </a:solidFill>
                <a:latin typeface="Segoe UI"/>
              </a:rPr>
              <a:t>🖐 Một tay</a:t>
            </a:r>
          </a:p>
        </p:txBody>
      </p:sp>
      <p:sp>
        <p:nvSpPr>
          <p:cNvPr id="34" name="TextBox 33"/>
          <p:cNvSpPr txBox="1"/>
          <p:nvPr/>
        </p:nvSpPr>
        <p:spPr>
          <a:xfrm>
            <a:off x="2286000" y="2715768"/>
            <a:ext cx="914400" cy="329184"/>
          </a:xfrm>
          <a:prstGeom prst="rect">
            <a:avLst/>
          </a:prstGeom>
          <a:noFill/>
        </p:spPr>
        <p:txBody>
          <a:bodyPr wrap="square" anchor="ctr" lIns="0" rIns="0" tIns="0" bIns="0">
            <a:spAutoFit/>
          </a:bodyPr>
          <a:lstStyle/>
          <a:p>
            <a:pPr algn="l"/>
            <a:r>
              <a:rPr sz="1200" b="1">
                <a:solidFill>
                  <a:srgbClr val="111827"/>
                </a:solidFill>
                <a:latin typeface="Segoe UI"/>
              </a:rPr>
              <a:t>4.1s</a:t>
            </a:r>
          </a:p>
        </p:txBody>
      </p:sp>
      <p:sp>
        <p:nvSpPr>
          <p:cNvPr id="35" name="TextBox 34"/>
          <p:cNvSpPr txBox="1"/>
          <p:nvPr/>
        </p:nvSpPr>
        <p:spPr>
          <a:xfrm>
            <a:off x="3200400" y="2715768"/>
            <a:ext cx="914400" cy="329184"/>
          </a:xfrm>
          <a:prstGeom prst="rect">
            <a:avLst/>
          </a:prstGeom>
          <a:noFill/>
        </p:spPr>
        <p:txBody>
          <a:bodyPr wrap="square" anchor="ctr" lIns="0" rIns="0" tIns="0" bIns="0">
            <a:spAutoFit/>
          </a:bodyPr>
          <a:lstStyle/>
          <a:p>
            <a:pPr algn="l"/>
            <a:r>
              <a:rPr sz="1200" b="0">
                <a:solidFill>
                  <a:srgbClr val="475569"/>
                </a:solidFill>
                <a:latin typeface="Segoe UI"/>
              </a:rPr>
              <a:t>41%</a:t>
            </a:r>
          </a:p>
        </p:txBody>
      </p:sp>
      <p:sp>
        <p:nvSpPr>
          <p:cNvPr id="36" name="TextBox 35"/>
          <p:cNvSpPr txBox="1"/>
          <p:nvPr/>
        </p:nvSpPr>
        <p:spPr>
          <a:xfrm>
            <a:off x="4114800" y="2715768"/>
            <a:ext cx="914400" cy="329184"/>
          </a:xfrm>
          <a:prstGeom prst="rect">
            <a:avLst/>
          </a:prstGeom>
          <a:noFill/>
        </p:spPr>
        <p:txBody>
          <a:bodyPr wrap="square" anchor="ctr" lIns="0" rIns="0" tIns="0" bIns="0">
            <a:spAutoFit/>
          </a:bodyPr>
          <a:lstStyle/>
          <a:p>
            <a:pPr algn="l"/>
            <a:r>
              <a:rPr sz="1200" b="0">
                <a:solidFill>
                  <a:srgbClr val="159E4E"/>
                </a:solidFill>
                <a:latin typeface="Segoe UI"/>
              </a:rPr>
              <a:t>4.1s</a:t>
            </a:r>
          </a:p>
        </p:txBody>
      </p:sp>
      <p:sp>
        <p:nvSpPr>
          <p:cNvPr id="37" name="TextBox 36"/>
          <p:cNvSpPr txBox="1"/>
          <p:nvPr/>
        </p:nvSpPr>
        <p:spPr>
          <a:xfrm>
            <a:off x="5029200" y="2715768"/>
            <a:ext cx="914400" cy="329184"/>
          </a:xfrm>
          <a:prstGeom prst="rect">
            <a:avLst/>
          </a:prstGeom>
          <a:noFill/>
        </p:spPr>
        <p:txBody>
          <a:bodyPr wrap="square" anchor="ctr" lIns="0" rIns="0" tIns="0" bIns="0">
            <a:spAutoFit/>
          </a:bodyPr>
          <a:lstStyle/>
          <a:p>
            <a:pPr algn="l"/>
            <a:r>
              <a:rPr sz="1200" b="0">
                <a:solidFill>
                  <a:srgbClr val="B45309"/>
                </a:solidFill>
                <a:latin typeface="Segoe UI"/>
              </a:rPr>
              <a:t>0.0s</a:t>
            </a:r>
          </a:p>
        </p:txBody>
      </p:sp>
      <p:sp>
        <p:nvSpPr>
          <p:cNvPr id="38" name="TextBox 37"/>
          <p:cNvSpPr txBox="1"/>
          <p:nvPr/>
        </p:nvSpPr>
        <p:spPr>
          <a:xfrm>
            <a:off x="5943600" y="2715768"/>
            <a:ext cx="914400" cy="329184"/>
          </a:xfrm>
          <a:prstGeom prst="rect">
            <a:avLst/>
          </a:prstGeom>
          <a:noFill/>
        </p:spPr>
        <p:txBody>
          <a:bodyPr wrap="square" anchor="ctr" lIns="0" rIns="0" tIns="0" bIns="0">
            <a:spAutoFit/>
          </a:bodyPr>
          <a:lstStyle/>
          <a:p>
            <a:pPr algn="l"/>
            <a:r>
              <a:rPr sz="1200" b="0">
                <a:solidFill>
                  <a:srgbClr val="94A3B8"/>
                </a:solidFill>
                <a:latin typeface="Segoe UI"/>
              </a:rPr>
              <a:t>0.0s</a:t>
            </a:r>
          </a:p>
        </p:txBody>
      </p:sp>
      <p:sp>
        <p:nvSpPr>
          <p:cNvPr id="39" name="Rounded Rectangle 38"/>
          <p:cNvSpPr/>
          <p:nvPr/>
        </p:nvSpPr>
        <p:spPr>
          <a:xfrm>
            <a:off x="6949440" y="2788920"/>
            <a:ext cx="4572000" cy="182880"/>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949440" y="2788920"/>
            <a:ext cx="4572000" cy="182880"/>
          </a:xfrm>
          <a:prstGeom prst="roundRect">
            <a:avLst>
              <a:gd name="adj" fmla="val 8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3310127"/>
            <a:ext cx="11064240" cy="365760"/>
          </a:xfrm>
          <a:prstGeom prst="rect">
            <a:avLst/>
          </a:prstGeom>
          <a:noFill/>
        </p:spPr>
        <p:txBody>
          <a:bodyPr wrap="square" anchor="ctr" lIns="0" rIns="0" tIns="0" bIns="0">
            <a:spAutoFit/>
          </a:bodyPr>
          <a:lstStyle/>
          <a:p>
            <a:pPr algn="l"/>
            <a:r>
              <a:rPr sz="1250" b="1">
                <a:solidFill>
                  <a:srgbClr val="B45309"/>
                </a:solidFill>
                <a:latin typeface="Segoe UI"/>
              </a:rPr>
              <a:t>① Cơ cấu thời gian tay trái·phải·một tay và độ cân bằng</a:t>
            </a:r>
          </a:p>
        </p:txBody>
      </p:sp>
      <p:sp>
        <p:nvSpPr>
          <p:cNvPr id="42" name="TextBox 41"/>
          <p:cNvSpPr txBox="1"/>
          <p:nvPr/>
        </p:nvSpPr>
        <p:spPr>
          <a:xfrm>
            <a:off x="548640" y="3977639"/>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kết quả — thẻ phía trên là số liệu cốt lõi, dưới là đánh giá hai tay và bảng theo chu kỳ.</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9. Kết quả phân tích — Tổng hợp bằng số</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9/17</a:t>
            </a:r>
          </a:p>
        </p:txBody>
      </p:sp>
      <p:graphicFrame>
        <p:nvGraphicFramePr>
          <p:cNvPr id="5" name="Table 4"/>
          <p:cNvGraphicFramePr>
            <a:graphicFrameLocks noGrp="1"/>
          </p:cNvGraphicFramePr>
          <p:nvPr/>
        </p:nvGraphicFramePr>
        <p:xfrm>
          <a:off x="640080" y="1143000"/>
          <a:ext cx="10881360" cy="2066543"/>
        </p:xfrm>
        <a:graphic>
          <a:graphicData uri="http://schemas.openxmlformats.org/drawingml/2006/table">
            <a:tbl>
              <a:tblPr firstRow="1" bandRow="1">
                <a:tableStyleId>{5C22544A-7EE6-4342-B048-85BDC9FD1C3A}</a:tableStyleId>
              </a:tblPr>
              <a:tblGrid>
                <a:gridCol w="5440680"/>
                <a:gridCol w="5440680"/>
              </a:tblGrid>
              <a:tr h="295220">
                <a:tc>
                  <a:txBody>
                    <a:bodyPr/>
                    <a:lstStyle/>
                    <a:p>
                      <a:r>
                        <a:rPr sz="1100" b="1">
                          <a:solidFill>
                            <a:srgbClr val="FFFFFF"/>
                          </a:solidFill>
                          <a:latin typeface="Segoe UI"/>
                        </a:rPr>
                        <a:t>Mục</a:t>
                      </a:r>
                    </a:p>
                  </a:txBody>
                  <a:tcPr marL="54864" marR="54864">
                    <a:solidFill>
                      <a:srgbClr val="1E3A5F"/>
                    </a:solidFill>
                  </a:tcPr>
                </a:tc>
                <a:tc>
                  <a:txBody>
                    <a:bodyPr/>
                    <a:lstStyle/>
                    <a:p>
                      <a:r>
                        <a:rPr sz="1100" b="1">
                          <a:solidFill>
                            <a:srgbClr val="FFFFFF"/>
                          </a:solidFill>
                          <a:latin typeface="Segoe UI"/>
                        </a:rPr>
                        <a:t>Cách đọc</a:t>
                      </a:r>
                    </a:p>
                  </a:txBody>
                  <a:tcPr marL="54864" marR="54864">
                    <a:solidFill>
                      <a:srgbClr val="1E3A5F"/>
                    </a:solidFill>
                  </a:tcPr>
                </a:tc>
              </a:tr>
              <a:tr h="295220">
                <a:tc>
                  <a:txBody>
                    <a:bodyPr/>
                    <a:lstStyle/>
                    <a:p>
                      <a:pPr>
                        <a:lnSpc>
                          <a:spcPct val="95000"/>
                        </a:lnSpc>
                      </a:pPr>
                      <a:r>
                        <a:rPr sz="1100" b="0">
                          <a:solidFill>
                            <a:srgbClr val="111827"/>
                          </a:solidFill>
                          <a:latin typeface="Segoe UI"/>
                        </a:rPr>
                        <a:t>Thời gian quan sát trung bình</a:t>
                      </a:r>
                    </a:p>
                  </a:txBody>
                  <a:tcPr marL="54864" marR="54864" marT="18288" marB="18288">
                    <a:solidFill>
                      <a:srgbClr val="F1F5F9"/>
                    </a:solidFill>
                  </a:tcPr>
                </a:tc>
                <a:tc>
                  <a:txBody>
                    <a:bodyPr/>
                    <a:lstStyle/>
                    <a:p>
                      <a:pPr>
                        <a:lnSpc>
                          <a:spcPct val="95000"/>
                        </a:lnSpc>
                      </a:pPr>
                      <a:r>
                        <a:rPr sz="1100" b="0">
                          <a:solidFill>
                            <a:srgbClr val="111827"/>
                          </a:solidFill>
                          <a:latin typeface="Segoe UI"/>
                        </a:rPr>
                        <a:t>Trung bình các chu kỳ. σ (sigma) lớn nghĩa là dao động nhiều.</a:t>
                      </a:r>
                    </a:p>
                  </a:txBody>
                  <a:tcPr marL="54864" marR="54864" marT="18288" marB="18288">
                    <a:solidFill>
                      <a:srgbClr val="F1F5F9"/>
                    </a:solidFill>
                  </a:tcPr>
                </a:tc>
              </a:tr>
              <a:tr h="295220">
                <a:tc>
                  <a:txBody>
                    <a:bodyPr/>
                    <a:lstStyle/>
                    <a:p>
                      <a:pPr>
                        <a:lnSpc>
                          <a:spcPct val="95000"/>
                        </a:lnSpc>
                      </a:pPr>
                      <a:r>
                        <a:rPr sz="1100" b="0">
                          <a:solidFill>
                            <a:srgbClr val="111827"/>
                          </a:solidFill>
                          <a:latin typeface="Segoe UI"/>
                        </a:rPr>
                        <a:t>CV (hệ số biến thiên)</a:t>
                      </a:r>
                    </a:p>
                  </a:txBody>
                  <a:tcPr marL="54864" marR="54864" marT="18288" marB="18288">
                    <a:solidFill>
                      <a:srgbClr val="FFFFFF"/>
                    </a:solidFill>
                  </a:tcPr>
                </a:tc>
                <a:tc>
                  <a:txBody>
                    <a:bodyPr/>
                    <a:lstStyle/>
                    <a:p>
                      <a:pPr>
                        <a:lnSpc>
                          <a:spcPct val="95000"/>
                        </a:lnSpc>
                      </a:pPr>
                      <a:r>
                        <a:rPr sz="1100" b="1">
                          <a:solidFill>
                            <a:srgbClr val="111827"/>
                          </a:solidFill>
                          <a:latin typeface="Segoe UI"/>
                        </a:rPr>
                        <a:t>Dưới 10% là ổn định</a:t>
                      </a:r>
                      <a:r>
                        <a:rPr sz="1100" b="0">
                          <a:solidFill>
                            <a:srgbClr val="111827"/>
                          </a:solidFill>
                          <a:latin typeface="Segoe UI"/>
                        </a:rPr>
                        <a:t>, trên 20% là thao tác không ổn định, cần chuẩn hóa.</a:t>
                      </a:r>
                    </a:p>
                  </a:txBody>
                  <a:tcPr marL="54864" marR="54864" marT="18288" marB="18288">
                    <a:solidFill>
                      <a:srgbClr val="FFFFFF"/>
                    </a:solidFill>
                  </a:tcPr>
                </a:tc>
              </a:tr>
              <a:tr h="295220">
                <a:tc>
                  <a:txBody>
                    <a:bodyPr/>
                    <a:lstStyle/>
                    <a:p>
                      <a:pPr>
                        <a:lnSpc>
                          <a:spcPct val="95000"/>
                        </a:lnSpc>
                      </a:pPr>
                      <a:r>
                        <a:rPr sz="1100" b="0">
                          <a:solidFill>
                            <a:srgbClr val="111827"/>
                          </a:solidFill>
                          <a:latin typeface="Segoe UI"/>
                        </a:rPr>
                        <a:t>Thời gian chuẩn (đại diện)</a:t>
                      </a:r>
                    </a:p>
                  </a:txBody>
                  <a:tcPr marL="54864" marR="54864" marT="18288" marB="18288">
                    <a:solidFill>
                      <a:srgbClr val="F1F5F9"/>
                    </a:solidFill>
                  </a:tcPr>
                </a:tc>
                <a:tc>
                  <a:txBody>
                    <a:bodyPr/>
                    <a:lstStyle/>
                    <a:p>
                      <a:pPr>
                        <a:lnSpc>
                          <a:spcPct val="95000"/>
                        </a:lnSpc>
                      </a:pPr>
                      <a:r>
                        <a:rPr sz="1100" b="0">
                          <a:solidFill>
                            <a:srgbClr val="111827"/>
                          </a:solidFill>
                          <a:latin typeface="Segoe UI"/>
                        </a:rPr>
                        <a:t>Giá trị đã áp Rating·Dung sai. Dùng cho thiết kế chuyền.</a:t>
                      </a:r>
                    </a:p>
                  </a:txBody>
                  <a:tcPr marL="54864" marR="54864" marT="18288" marB="18288">
                    <a:solidFill>
                      <a:srgbClr val="F1F5F9"/>
                    </a:solidFill>
                  </a:tcPr>
                </a:tc>
              </a:tr>
              <a:tr h="295220">
                <a:tc>
                  <a:txBody>
                    <a:bodyPr/>
                    <a:lstStyle/>
                    <a:p>
                      <a:pPr>
                        <a:lnSpc>
                          <a:spcPct val="95000"/>
                        </a:lnSpc>
                      </a:pPr>
                      <a:r>
                        <a:rPr sz="1100" b="0">
                          <a:solidFill>
                            <a:srgbClr val="111827"/>
                          </a:solidFill>
                          <a:latin typeface="Segoe UI"/>
                        </a:rPr>
                        <a:t>Số công nhân cần</a:t>
                      </a:r>
                    </a:p>
                  </a:txBody>
                  <a:tcPr marL="54864" marR="54864" marT="18288" marB="18288">
                    <a:solidFill>
                      <a:srgbClr val="FFFFFF"/>
                    </a:solidFill>
                  </a:tcPr>
                </a:tc>
                <a:tc>
                  <a:txBody>
                    <a:bodyPr/>
                    <a:lstStyle/>
                    <a:p>
                      <a:pPr>
                        <a:lnSpc>
                          <a:spcPct val="95000"/>
                        </a:lnSpc>
                      </a:pPr>
                      <a:r>
                        <a:rPr sz="1100" b="0">
                          <a:solidFill>
                            <a:srgbClr val="111827"/>
                          </a:solidFill>
                          <a:latin typeface="Segoe UI"/>
                        </a:rPr>
                        <a:t>Thời gian chuẩn ÷ takt time. Cần bao nhiêu người.</a:t>
                      </a:r>
                    </a:p>
                  </a:txBody>
                  <a:tcPr marL="54864" marR="54864" marT="18288" marB="18288">
                    <a:solidFill>
                      <a:srgbClr val="FFFFFF"/>
                    </a:solidFill>
                  </a:tcPr>
                </a:tc>
              </a:tr>
              <a:tr h="295220">
                <a:tc>
                  <a:txBody>
                    <a:bodyPr/>
                    <a:lstStyle/>
                    <a:p>
                      <a:pPr>
                        <a:lnSpc>
                          <a:spcPct val="95000"/>
                        </a:lnSpc>
                      </a:pPr>
                      <a:r>
                        <a:rPr sz="1100" b="0">
                          <a:solidFill>
                            <a:srgbClr val="111827"/>
                          </a:solidFill>
                          <a:latin typeface="Segoe UI"/>
                        </a:rPr>
                        <a:t>Độ đầy đủ quan sát</a:t>
                      </a:r>
                    </a:p>
                  </a:txBody>
                  <a:tcPr marL="54864" marR="54864" marT="18288" marB="18288">
                    <a:solidFill>
                      <a:srgbClr val="F1F5F9"/>
                    </a:solidFill>
                  </a:tcPr>
                </a:tc>
                <a:tc>
                  <a:txBody>
                    <a:bodyPr/>
                    <a:lstStyle/>
                    <a:p>
                      <a:pPr>
                        <a:lnSpc>
                          <a:spcPct val="95000"/>
                        </a:lnSpc>
                      </a:pPr>
                      <a:r>
                        <a:rPr sz="1100" b="0">
                          <a:solidFill>
                            <a:srgbClr val="111827"/>
                          </a:solidFill>
                          <a:latin typeface="Segoe UI"/>
                        </a:rPr>
                        <a:t>Cho biết cần đo thêm bao nhiêu lần để đủ tin cậy thống kê.</a:t>
                      </a:r>
                    </a:p>
                  </a:txBody>
                  <a:tcPr marL="54864" marR="54864" marT="18288" marB="18288">
                    <a:solidFill>
                      <a:srgbClr val="F1F5F9"/>
                    </a:solidFill>
                  </a:tcPr>
                </a:tc>
              </a:tr>
              <a:tr h="295223">
                <a:tc>
                  <a:txBody>
                    <a:bodyPr/>
                    <a:lstStyle/>
                    <a:p>
                      <a:pPr>
                        <a:lnSpc>
                          <a:spcPct val="95000"/>
                        </a:lnSpc>
                      </a:pPr>
                      <a:r>
                        <a:rPr sz="1100" b="0">
                          <a:solidFill>
                            <a:srgbClr val="111827"/>
                          </a:solidFill>
                          <a:latin typeface="Segoe UI"/>
                        </a:rPr>
                        <a:t>⚖ Đánh giá thao tác hai tay</a:t>
                      </a:r>
                    </a:p>
                  </a:txBody>
                  <a:tcPr marL="54864" marR="54864" marT="18288" marB="18288">
                    <a:solidFill>
                      <a:srgbClr val="FFFFFF"/>
                    </a:solidFill>
                  </a:tcPr>
                </a:tc>
                <a:tc>
                  <a:txBody>
                    <a:bodyPr/>
                    <a:lstStyle/>
                    <a:p>
                      <a:pPr>
                        <a:lnSpc>
                          <a:spcPct val="95000"/>
                        </a:lnSpc>
                      </a:pPr>
                      <a:r>
                        <a:rPr sz="1100" b="0">
                          <a:solidFill>
                            <a:srgbClr val="111827"/>
                          </a:solidFill>
                          <a:latin typeface="Segoe UI"/>
                        </a:rPr>
                        <a:t>Cơ cấu thời gian của tay trái·tay phải·một tay và độ cân bằng (HBR).</a:t>
                      </a:r>
                    </a:p>
                  </a:txBody>
                  <a:tcPr marL="54864" marR="54864" marT="18288" marB="18288">
                    <a:solidFill>
                      <a:srgbClr val="FFFFFF"/>
                    </a:solidFill>
                  </a:tcPr>
                </a:tc>
              </a:tr>
            </a:tbl>
          </a:graphicData>
        </a:graphic>
      </p:graphicFrame>
      <p:sp>
        <p:nvSpPr>
          <p:cNvPr id="6" name="Rounded Rectangle 5"/>
          <p:cNvSpPr/>
          <p:nvPr/>
        </p:nvSpPr>
        <p:spPr>
          <a:xfrm>
            <a:off x="640080" y="3438144"/>
            <a:ext cx="10881360" cy="566928"/>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38144"/>
            <a:ext cx="10515600" cy="566928"/>
          </a:xfrm>
          <a:prstGeom prst="rect">
            <a:avLst/>
          </a:prstGeom>
          <a:noFill/>
        </p:spPr>
        <p:txBody>
          <a:bodyPr wrap="square" anchor="ctr" lIns="0" rIns="0" tIns="0" bIns="0">
            <a:spAutoFit/>
          </a:bodyPr>
          <a:lstStyle/>
          <a:p>
            <a:pPr algn="l"/>
            <a:r>
              <a:rPr sz="1250" b="0">
                <a:solidFill>
                  <a:srgbClr val="111827"/>
                </a:solidFill>
                <a:latin typeface="Segoe UI"/>
              </a:rPr>
              <a:t>ℹ </a:t>
            </a:r>
            <a:r>
              <a:rPr sz="1250" b="1">
                <a:solidFill>
                  <a:srgbClr val="111827"/>
                </a:solidFill>
                <a:latin typeface="Segoe UI"/>
              </a:rPr>
              <a:t>Độ cân bằng hai tay (HBR)</a:t>
            </a:r>
            <a:r>
              <a:rPr sz="1250" b="0">
                <a:solidFill>
                  <a:srgbClr val="111827"/>
                </a:solidFill>
                <a:latin typeface="Segoe UI"/>
              </a:rPr>
              <a:t> — càng gần 100% thì hai tay càng làm việc đều. </a:t>
            </a:r>
            <a:r>
              <a:rPr sz="1250" b="1">
                <a:solidFill>
                  <a:srgbClr val="111827"/>
                </a:solidFill>
                <a:latin typeface="Segoe UI"/>
              </a:rPr>
              <a:t>Dưới 80%</a:t>
            </a:r>
            <a:r>
              <a:rPr sz="1250" b="0">
                <a:solidFill>
                  <a:srgbClr val="111827"/>
                </a:solidFill>
                <a:latin typeface="Segoe UI"/>
              </a:rPr>
              <a:t> nghĩa là một tay đang rảnh tương ứng, hãy cân nhắc chia lại công việc. (Thao tác một tay không được tính.)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10. So sánh video — Người lành nghề và người mới</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Chạy song song hai video để thấy tận mắt "khoảng cách phát sinh ở đâu". Rất hợp làm tài liệu đào tạo.</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10/17</a:t>
            </a:r>
          </a:p>
        </p:txBody>
      </p:sp>
      <p:sp>
        <p:nvSpPr>
          <p:cNvPr id="6" name="Oval 5"/>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8" name="TextBox 7"/>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Mở menu </a:t>
            </a:r>
            <a:r>
              <a:rPr sz="1300" b="1">
                <a:solidFill>
                  <a:srgbClr val="111827"/>
                </a:solidFill>
                <a:latin typeface="Segoe UI"/>
              </a:rPr>
              <a:t>🎬 So sánh video</a:t>
            </a:r>
            <a:r>
              <a:rPr sz="1300" b="0">
                <a:solidFill>
                  <a:srgbClr val="111827"/>
                </a:solidFill>
                <a:latin typeface="Segoe UI"/>
              </a:rPr>
              <a:t>.</a:t>
            </a:r>
          </a:p>
        </p:txBody>
      </p:sp>
      <p:sp>
        <p:nvSpPr>
          <p:cNvPr id="9" name="Oval 8"/>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1" name="TextBox 10"/>
          <p:cNvSpPr txBox="1"/>
          <p:nvPr/>
        </p:nvSpPr>
        <p:spPr>
          <a:xfrm>
            <a:off x="1097280" y="1472184"/>
            <a:ext cx="10424160" cy="310896"/>
          </a:xfrm>
          <a:prstGeom prst="rect">
            <a:avLst/>
          </a:prstGeom>
          <a:noFill/>
        </p:spPr>
        <p:txBody>
          <a:bodyPr wrap="square" anchor="ctr" lIns="0" rIns="0" tIns="0" bIns="0">
            <a:spAutoFit/>
          </a:bodyPr>
          <a:lstStyle/>
          <a:p>
            <a:pPr algn="l"/>
            <a:r>
              <a:rPr sz="1300" b="0">
                <a:solidFill>
                  <a:srgbClr val="111827"/>
                </a:solidFill>
                <a:latin typeface="Segoe UI"/>
              </a:rPr>
              <a:t>Tải video người lành nghề ở bên trái, người mới ở bên phải.</a:t>
            </a:r>
          </a:p>
        </p:txBody>
      </p:sp>
      <p:sp>
        <p:nvSpPr>
          <p:cNvPr id="12" name="Oval 11"/>
          <p:cNvSpPr/>
          <p:nvPr/>
        </p:nvSpPr>
        <p:spPr>
          <a:xfrm>
            <a:off x="685800" y="182879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28799"/>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4" name="TextBox 13"/>
          <p:cNvSpPr txBox="1"/>
          <p:nvPr/>
        </p:nvSpPr>
        <p:spPr>
          <a:xfrm>
            <a:off x="1097280" y="1801367"/>
            <a:ext cx="10424160" cy="310896"/>
          </a:xfrm>
          <a:prstGeom prst="rect">
            <a:avLst/>
          </a:prstGeom>
          <a:noFill/>
        </p:spPr>
        <p:txBody>
          <a:bodyPr wrap="square" anchor="ctr" lIns="0" rIns="0" tIns="0" bIns="0">
            <a:spAutoFit/>
          </a:bodyPr>
          <a:lstStyle/>
          <a:p>
            <a:pPr algn="l"/>
            <a:r>
              <a:rPr sz="1300" b="0">
                <a:solidFill>
                  <a:srgbClr val="111827"/>
                </a:solidFill>
                <a:latin typeface="Segoe UI"/>
              </a:rPr>
              <a:t>Khi phát, hai video chạy </a:t>
            </a:r>
            <a:r>
              <a:rPr sz="1300" b="1">
                <a:solidFill>
                  <a:srgbClr val="111827"/>
                </a:solidFill>
                <a:latin typeface="Segoe UI"/>
              </a:rPr>
              <a:t>đồng bộ</a:t>
            </a:r>
            <a:r>
              <a:rPr sz="1300" b="0">
                <a:solidFill>
                  <a:srgbClr val="111827"/>
                </a:solidFill>
                <a:latin typeface="Segoe UI"/>
              </a:rPr>
              <a:t>. Chạy chậm 0,5x sẽ thấy khác biệt rõ hơn.</a:t>
            </a:r>
          </a:p>
        </p:txBody>
      </p:sp>
      <p:sp>
        <p:nvSpPr>
          <p:cNvPr id="15" name="Oval 14"/>
          <p:cNvSpPr/>
          <p:nvPr/>
        </p:nvSpPr>
        <p:spPr>
          <a:xfrm>
            <a:off x="685800" y="2157983"/>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57983"/>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17" name="TextBox 16"/>
          <p:cNvSpPr txBox="1"/>
          <p:nvPr/>
        </p:nvSpPr>
        <p:spPr>
          <a:xfrm>
            <a:off x="1097280" y="2130551"/>
            <a:ext cx="10424160" cy="310896"/>
          </a:xfrm>
          <a:prstGeom prst="rect">
            <a:avLst/>
          </a:prstGeom>
          <a:noFill/>
        </p:spPr>
        <p:txBody>
          <a:bodyPr wrap="square" anchor="ctr" lIns="0" rIns="0" tIns="0" bIns="0">
            <a:spAutoFit/>
          </a:bodyPr>
          <a:lstStyle/>
          <a:p>
            <a:pPr algn="l"/>
            <a:r>
              <a:rPr sz="1300" b="0">
                <a:solidFill>
                  <a:srgbClr val="111827"/>
                </a:solidFill>
                <a:latin typeface="Segoe UI"/>
              </a:rPr>
              <a:t>Nếu liên kết với phiên đã phân tích, có thể nhảy thẳng tới động tác mong muốn từ danh sách thao tác.</a:t>
            </a:r>
          </a:p>
        </p:txBody>
      </p:sp>
      <p:sp>
        <p:nvSpPr>
          <p:cNvPr id="18" name="Rounded Rectangle 17"/>
          <p:cNvSpPr/>
          <p:nvPr/>
        </p:nvSpPr>
        <p:spPr>
          <a:xfrm>
            <a:off x="640080" y="2596895"/>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596895"/>
            <a:ext cx="10515600" cy="566928"/>
          </a:xfrm>
          <a:prstGeom prst="rect">
            <a:avLst/>
          </a:prstGeom>
          <a:noFill/>
        </p:spPr>
        <p:txBody>
          <a:bodyPr wrap="square" anchor="ctr" lIns="0" rIns="0" tIns="0" bIns="0">
            <a:spAutoFit/>
          </a:bodyPr>
          <a:lstStyle/>
          <a:p>
            <a:pPr algn="l"/>
            <a:r>
              <a:rPr sz="1250" b="0">
                <a:solidFill>
                  <a:srgbClr val="111827"/>
                </a:solidFill>
                <a:latin typeface="Segoe UI"/>
              </a:rPr>
              <a:t>💡 Chỉ chọn 3 động tác khác biệt lớn nhất để đào tạo là hiệu quả nhất. Đừng cố sửa tất cả.</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11. Phân tích chuyền — Đo thời gian từng công nhân</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Nếu phân tích thao tác đo "thời gian chuẩn của một linh kiện", thì phân tích chuyền đo "người này thực tế dùng bao nhiêu giây trên chuyền này".</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11/17</a:t>
            </a:r>
          </a:p>
        </p:txBody>
      </p:sp>
      <p:sp>
        <p:nvSpPr>
          <p:cNvPr id="6" name="Oval 5"/>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8" name="TextBox 7"/>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Trong </a:t>
            </a:r>
            <a:r>
              <a:rPr sz="1300" b="1">
                <a:solidFill>
                  <a:srgbClr val="111827"/>
                </a:solidFill>
                <a:latin typeface="Segoe UI"/>
              </a:rPr>
              <a:t>📊 Phân tích chuyền</a:t>
            </a:r>
            <a:r>
              <a:rPr sz="1300" b="0">
                <a:solidFill>
                  <a:srgbClr val="111827"/>
                </a:solidFill>
                <a:latin typeface="Segoe UI"/>
              </a:rPr>
              <a:t>, nhấn </a:t>
            </a:r>
            <a:r>
              <a:rPr sz="1300" b="1">
                <a:solidFill>
                  <a:srgbClr val="111827"/>
                </a:solidFill>
                <a:latin typeface="Segoe UI"/>
              </a:rPr>
              <a:t>[+ Thêm công nhân]</a:t>
            </a:r>
            <a:r>
              <a:rPr sz="1300" b="0">
                <a:solidFill>
                  <a:srgbClr val="111827"/>
                </a:solidFill>
                <a:latin typeface="Segoe UI"/>
              </a:rPr>
              <a:t> để tạo công nhân.</a:t>
            </a:r>
          </a:p>
        </p:txBody>
      </p:sp>
      <p:sp>
        <p:nvSpPr>
          <p:cNvPr id="9" name="Oval 8"/>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1" name="TextBox 10"/>
          <p:cNvSpPr txBox="1"/>
          <p:nvPr/>
        </p:nvSpPr>
        <p:spPr>
          <a:xfrm>
            <a:off x="1097280" y="1472184"/>
            <a:ext cx="10424160" cy="310896"/>
          </a:xfrm>
          <a:prstGeom prst="rect">
            <a:avLst/>
          </a:prstGeom>
          <a:noFill/>
        </p:spPr>
        <p:txBody>
          <a:bodyPr wrap="square" anchor="ctr" lIns="0" rIns="0" tIns="0" bIns="0">
            <a:spAutoFit/>
          </a:bodyPr>
          <a:lstStyle/>
          <a:p>
            <a:pPr algn="l"/>
            <a:r>
              <a:rPr sz="1300" b="0">
                <a:solidFill>
                  <a:srgbClr val="111827"/>
                </a:solidFill>
                <a:latin typeface="Segoe UI"/>
              </a:rPr>
              <a:t>Tải video của công nhân đó.</a:t>
            </a:r>
          </a:p>
        </p:txBody>
      </p:sp>
      <p:sp>
        <p:nvSpPr>
          <p:cNvPr id="12" name="Oval 11"/>
          <p:cNvSpPr/>
          <p:nvPr/>
        </p:nvSpPr>
        <p:spPr>
          <a:xfrm>
            <a:off x="685800" y="182879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28799"/>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4" name="TextBox 13"/>
          <p:cNvSpPr txBox="1"/>
          <p:nvPr/>
        </p:nvSpPr>
        <p:spPr>
          <a:xfrm>
            <a:off x="1097280" y="1801367"/>
            <a:ext cx="10424160" cy="310896"/>
          </a:xfrm>
          <a:prstGeom prst="rect">
            <a:avLst/>
          </a:prstGeom>
          <a:noFill/>
        </p:spPr>
        <p:txBody>
          <a:bodyPr wrap="square" anchor="ctr" lIns="0" rIns="0" tIns="0" bIns="0">
            <a:spAutoFit/>
          </a:bodyPr>
          <a:lstStyle/>
          <a:p>
            <a:pPr algn="l"/>
            <a:r>
              <a:rPr sz="1300" b="1">
                <a:solidFill>
                  <a:srgbClr val="111827"/>
                </a:solidFill>
                <a:latin typeface="Segoe UI"/>
              </a:rPr>
              <a:t>[⏺ Dấu bắt đầu]</a:t>
            </a:r>
            <a:r>
              <a:rPr sz="1300" b="0">
                <a:solidFill>
                  <a:srgbClr val="111827"/>
                </a:solidFill>
                <a:latin typeface="Segoe UI"/>
              </a:rPr>
              <a:t> → khi động tác kết thúc nhấn </a:t>
            </a:r>
            <a:r>
              <a:rPr sz="1300" b="1">
                <a:solidFill>
                  <a:srgbClr val="111827"/>
                </a:solidFill>
                <a:latin typeface="Segoe UI"/>
              </a:rPr>
              <a:t>[⏹ Dấu kết thúc]</a:t>
            </a:r>
            <a:r>
              <a:rPr sz="1300" b="0">
                <a:solidFill>
                  <a:srgbClr val="111827"/>
                </a:solidFill>
                <a:latin typeface="Segoe UI"/>
              </a:rPr>
              <a:t>. Một dòng xuất hiện trong bảng.</a:t>
            </a:r>
          </a:p>
        </p:txBody>
      </p:sp>
      <p:sp>
        <p:nvSpPr>
          <p:cNvPr id="15" name="Oval 14"/>
          <p:cNvSpPr/>
          <p:nvPr/>
        </p:nvSpPr>
        <p:spPr>
          <a:xfrm>
            <a:off x="685800" y="2157983"/>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57983"/>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17" name="TextBox 16"/>
          <p:cNvSpPr txBox="1"/>
          <p:nvPr/>
        </p:nvSpPr>
        <p:spPr>
          <a:xfrm>
            <a:off x="1097280" y="2130551"/>
            <a:ext cx="10424160" cy="310896"/>
          </a:xfrm>
          <a:prstGeom prst="rect">
            <a:avLst/>
          </a:prstGeom>
          <a:noFill/>
        </p:spPr>
        <p:txBody>
          <a:bodyPr wrap="square" anchor="ctr" lIns="0" rIns="0" tIns="0" bIns="0">
            <a:spAutoFit/>
          </a:bodyPr>
          <a:lstStyle/>
          <a:p>
            <a:pPr algn="l"/>
            <a:r>
              <a:rPr sz="1300" b="0">
                <a:solidFill>
                  <a:srgbClr val="111827"/>
                </a:solidFill>
                <a:latin typeface="Segoe UI"/>
              </a:rPr>
              <a:t>Chọn </a:t>
            </a:r>
            <a:r>
              <a:rPr sz="1300" b="1">
                <a:solidFill>
                  <a:srgbClr val="111827"/>
                </a:solidFill>
                <a:latin typeface="Segoe UI"/>
              </a:rPr>
              <a:t>linh kiện</a:t>
            </a:r>
            <a:r>
              <a:rPr sz="1300" b="0">
                <a:solidFill>
                  <a:srgbClr val="111827"/>
                </a:solidFill>
                <a:latin typeface="Segoe UI"/>
              </a:rPr>
              <a:t> cho dòng đó trong bảng.</a:t>
            </a:r>
          </a:p>
        </p:txBody>
      </p:sp>
      <p:sp>
        <p:nvSpPr>
          <p:cNvPr id="18" name="Oval 17"/>
          <p:cNvSpPr/>
          <p:nvPr/>
        </p:nvSpPr>
        <p:spPr>
          <a:xfrm>
            <a:off x="685800" y="2487167"/>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87167"/>
            <a:ext cx="274320" cy="274320"/>
          </a:xfrm>
          <a:prstGeom prst="rect">
            <a:avLst/>
          </a:prstGeom>
          <a:noFill/>
        </p:spPr>
        <p:txBody>
          <a:bodyPr wrap="square" anchor="ctr" lIns="0" rIns="0" tIns="0" bIns="0">
            <a:spAutoFit/>
          </a:bodyPr>
          <a:lstStyle/>
          <a:p>
            <a:pPr algn="ctr"/>
            <a:r>
              <a:rPr sz="1200" b="1">
                <a:solidFill>
                  <a:srgbClr val="FFFFFF"/>
                </a:solidFill>
                <a:latin typeface="Segoe UI"/>
              </a:rPr>
              <a:t>5</a:t>
            </a:r>
          </a:p>
        </p:txBody>
      </p:sp>
      <p:sp>
        <p:nvSpPr>
          <p:cNvPr id="20" name="TextBox 19"/>
          <p:cNvSpPr txBox="1"/>
          <p:nvPr/>
        </p:nvSpPr>
        <p:spPr>
          <a:xfrm>
            <a:off x="1097280" y="2459735"/>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Nhấn </a:t>
            </a:r>
            <a:r>
              <a:rPr sz="1300" b="1">
                <a:solidFill>
                  <a:srgbClr val="111827"/>
                </a:solidFill>
                <a:latin typeface="Segoe UI"/>
              </a:rPr>
              <a:t>[Chu kỳ tiếp theo +]</a:t>
            </a:r>
            <a:r>
              <a:rPr sz="1300" b="0">
                <a:solidFill>
                  <a:srgbClr val="111827"/>
                </a:solidFill>
                <a:latin typeface="Segoe UI"/>
              </a:rPr>
              <a:t> và lặp lại. </a:t>
            </a:r>
            <a:r>
              <a:rPr sz="1300" b="1">
                <a:solidFill>
                  <a:srgbClr val="111827"/>
                </a:solidFill>
                <a:latin typeface="Segoe UI"/>
              </a:rPr>
              <a:t>Từ chu kỳ 2 trở đi linh kiện tự động được kế thừa.</a:t>
            </a:r>
          </a:p>
        </p:txBody>
      </p:sp>
      <p:sp>
        <p:nvSpPr>
          <p:cNvPr id="21" name="Oval 20"/>
          <p:cNvSpPr/>
          <p:nvPr/>
        </p:nvSpPr>
        <p:spPr>
          <a:xfrm>
            <a:off x="685800" y="2816351"/>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16351"/>
            <a:ext cx="274320" cy="274320"/>
          </a:xfrm>
          <a:prstGeom prst="rect">
            <a:avLst/>
          </a:prstGeom>
          <a:noFill/>
        </p:spPr>
        <p:txBody>
          <a:bodyPr wrap="square" anchor="ctr" lIns="0" rIns="0" tIns="0" bIns="0">
            <a:spAutoFit/>
          </a:bodyPr>
          <a:lstStyle/>
          <a:p>
            <a:pPr algn="ctr"/>
            <a:r>
              <a:rPr sz="1200" b="1">
                <a:solidFill>
                  <a:srgbClr val="FFFFFF"/>
                </a:solidFill>
                <a:latin typeface="Segoe UI"/>
              </a:rPr>
              <a:t>6</a:t>
            </a:r>
          </a:p>
        </p:txBody>
      </p:sp>
      <p:sp>
        <p:nvSpPr>
          <p:cNvPr id="23" name="TextBox 22"/>
          <p:cNvSpPr txBox="1"/>
          <p:nvPr/>
        </p:nvSpPr>
        <p:spPr>
          <a:xfrm>
            <a:off x="1097280" y="2788919"/>
            <a:ext cx="10424160" cy="310896"/>
          </a:xfrm>
          <a:prstGeom prst="rect">
            <a:avLst/>
          </a:prstGeom>
          <a:noFill/>
        </p:spPr>
        <p:txBody>
          <a:bodyPr wrap="square" anchor="ctr" lIns="0" rIns="0" tIns="0" bIns="0">
            <a:spAutoFit/>
          </a:bodyPr>
          <a:lstStyle/>
          <a:p>
            <a:pPr algn="l"/>
            <a:r>
              <a:rPr sz="1300" b="0">
                <a:solidFill>
                  <a:srgbClr val="111827"/>
                </a:solidFill>
                <a:latin typeface="Segoe UI"/>
              </a:rPr>
              <a:t>Đổi công nhân và đo cả chuyền.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11. Phân tích chuyền — Đo thời gian từng công nhân</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11/17</a:t>
            </a:r>
          </a:p>
        </p:txBody>
      </p:sp>
      <p:sp>
        <p:nvSpPr>
          <p:cNvPr id="5" name="Rounded Rectangle 4"/>
          <p:cNvSpPr/>
          <p:nvPr/>
        </p:nvSpPr>
        <p:spPr>
          <a:xfrm>
            <a:off x="640080" y="1417320"/>
            <a:ext cx="4937760" cy="228600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40280"/>
            <a:ext cx="4937760" cy="457200"/>
          </a:xfrm>
          <a:prstGeom prst="rect">
            <a:avLst/>
          </a:prstGeom>
          <a:noFill/>
        </p:spPr>
        <p:txBody>
          <a:bodyPr wrap="square" anchor="ctr" lIns="0" rIns="0" tIns="0" bIns="0">
            <a:spAutoFit/>
          </a:bodyPr>
          <a:lstStyle/>
          <a:p>
            <a:pPr algn="ctr"/>
            <a:r>
              <a:rPr sz="2600" b="0">
                <a:solidFill>
                  <a:srgbClr val="111827"/>
                </a:solidFill>
                <a:latin typeface="Segoe UI"/>
              </a:rPr>
              <a:t>🎬</a:t>
            </a:r>
          </a:p>
        </p:txBody>
      </p:sp>
      <p:sp>
        <p:nvSpPr>
          <p:cNvPr id="7" name="TextBox 6"/>
          <p:cNvSpPr txBox="1"/>
          <p:nvPr/>
        </p:nvSpPr>
        <p:spPr>
          <a:xfrm>
            <a:off x="640080" y="2788920"/>
            <a:ext cx="4937760" cy="320040"/>
          </a:xfrm>
          <a:prstGeom prst="rect">
            <a:avLst/>
          </a:prstGeom>
          <a:noFill/>
        </p:spPr>
        <p:txBody>
          <a:bodyPr wrap="square" anchor="ctr" lIns="0" rIns="0" tIns="0" bIns="0">
            <a:spAutoFit/>
          </a:bodyPr>
          <a:lstStyle/>
          <a:p>
            <a:pPr algn="ctr"/>
            <a:r>
              <a:rPr sz="1200" b="0">
                <a:solidFill>
                  <a:srgbClr val="94A3B8"/>
                </a:solidFill>
                <a:latin typeface="Segoe UI"/>
              </a:rPr>
              <a:t>Hãy chọn video của công nhân này</a:t>
            </a:r>
          </a:p>
        </p:txBody>
      </p:sp>
      <p:sp>
        <p:nvSpPr>
          <p:cNvPr id="8" name="Rounded Rectangle 7"/>
          <p:cNvSpPr/>
          <p:nvPr/>
        </p:nvSpPr>
        <p:spPr>
          <a:xfrm>
            <a:off x="640080" y="3840480"/>
            <a:ext cx="1572768" cy="365760"/>
          </a:xfrm>
          <a:prstGeom prst="roundRect">
            <a:avLst>
              <a:gd name="adj" fmla="val 8000"/>
            </a:avLst>
          </a:prstGeom>
          <a:no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840480"/>
            <a:ext cx="1572768" cy="365760"/>
          </a:xfrm>
          <a:prstGeom prst="rect">
            <a:avLst/>
          </a:prstGeom>
          <a:noFill/>
        </p:spPr>
        <p:txBody>
          <a:bodyPr wrap="square" anchor="ctr" lIns="0" rIns="0" tIns="0" bIns="0">
            <a:spAutoFit/>
          </a:bodyPr>
          <a:lstStyle/>
          <a:p>
            <a:pPr algn="ctr"/>
            <a:r>
              <a:rPr sz="1100" b="1">
                <a:solidFill>
                  <a:srgbClr val="159E4E"/>
                </a:solidFill>
                <a:latin typeface="Segoe UI"/>
              </a:rPr>
              <a:t>Dấu bắt đầu</a:t>
            </a:r>
          </a:p>
        </p:txBody>
      </p:sp>
      <p:sp>
        <p:nvSpPr>
          <p:cNvPr id="10" name="Rounded Rectangle 9"/>
          <p:cNvSpPr/>
          <p:nvPr/>
        </p:nvSpPr>
        <p:spPr>
          <a:xfrm>
            <a:off x="2331720" y="3840480"/>
            <a:ext cx="1572768" cy="365760"/>
          </a:xfrm>
          <a:prstGeom prst="roundRect">
            <a:avLst>
              <a:gd name="adj" fmla="val 8000"/>
            </a:avLst>
          </a:prstGeom>
          <a:no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3840480"/>
            <a:ext cx="1572768" cy="365760"/>
          </a:xfrm>
          <a:prstGeom prst="rect">
            <a:avLst/>
          </a:prstGeom>
          <a:noFill/>
        </p:spPr>
        <p:txBody>
          <a:bodyPr wrap="square" anchor="ctr" lIns="0" rIns="0" tIns="0" bIns="0">
            <a:spAutoFit/>
          </a:bodyPr>
          <a:lstStyle/>
          <a:p>
            <a:pPr algn="ctr"/>
            <a:r>
              <a:rPr sz="1100" b="1">
                <a:solidFill>
                  <a:srgbClr val="DC2626"/>
                </a:solidFill>
                <a:latin typeface="Segoe UI"/>
              </a:rPr>
              <a:t>Dấu kết thúc</a:t>
            </a:r>
          </a:p>
        </p:txBody>
      </p:sp>
      <p:sp>
        <p:nvSpPr>
          <p:cNvPr id="12" name="Rounded Rectangle 11"/>
          <p:cNvSpPr/>
          <p:nvPr/>
        </p:nvSpPr>
        <p:spPr>
          <a:xfrm>
            <a:off x="4023360" y="3840480"/>
            <a:ext cx="1572768" cy="365760"/>
          </a:xfrm>
          <a:prstGeom prst="roundRect">
            <a:avLst>
              <a:gd name="adj" fmla="val 8000"/>
            </a:avLst>
          </a:prstGeom>
          <a:no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0" y="3840480"/>
            <a:ext cx="1572768" cy="365760"/>
          </a:xfrm>
          <a:prstGeom prst="rect">
            <a:avLst/>
          </a:prstGeom>
          <a:noFill/>
        </p:spPr>
        <p:txBody>
          <a:bodyPr wrap="square" anchor="ctr" lIns="0" rIns="0" tIns="0" bIns="0">
            <a:spAutoFit/>
          </a:bodyPr>
          <a:lstStyle/>
          <a:p>
            <a:pPr algn="ctr"/>
            <a:r>
              <a:rPr sz="1100" b="1">
                <a:solidFill>
                  <a:srgbClr val="2563EB"/>
                </a:solidFill>
                <a:latin typeface="Segoe UI"/>
              </a:rPr>
              <a:t>Chu kỳ tiếp +</a:t>
            </a:r>
          </a:p>
        </p:txBody>
      </p:sp>
      <p:sp>
        <p:nvSpPr>
          <p:cNvPr id="14" name="Rounded Rectangle 13"/>
          <p:cNvSpPr/>
          <p:nvPr/>
        </p:nvSpPr>
        <p:spPr>
          <a:xfrm>
            <a:off x="5852160" y="1417320"/>
            <a:ext cx="5715000" cy="2788920"/>
          </a:xfrm>
          <a:prstGeom prst="roundRect">
            <a:avLst>
              <a:gd name="adj" fmla="val 8000"/>
            </a:avLst>
          </a:prstGeom>
          <a:solidFill>
            <a:srgbClr val="0F172A"/>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1508760"/>
            <a:ext cx="3657600" cy="320040"/>
          </a:xfrm>
          <a:prstGeom prst="rect">
            <a:avLst/>
          </a:prstGeom>
          <a:noFill/>
        </p:spPr>
        <p:txBody>
          <a:bodyPr wrap="square" anchor="ctr" lIns="0" rIns="0" tIns="0" bIns="0">
            <a:spAutoFit/>
          </a:bodyPr>
          <a:lstStyle/>
          <a:p>
            <a:pPr algn="l"/>
            <a:r>
              <a:rPr sz="1200" b="1">
                <a:solidFill>
                  <a:srgbClr val="60A5FA"/>
                </a:solidFill>
                <a:latin typeface="Segoe UI"/>
              </a:rPr>
              <a:t>Danh sách dấu  🤚 LH Tay trái (4)</a:t>
            </a:r>
          </a:p>
        </p:txBody>
      </p:sp>
      <p:sp>
        <p:nvSpPr>
          <p:cNvPr id="16" name="TextBox 15"/>
          <p:cNvSpPr txBox="1"/>
          <p:nvPr/>
        </p:nvSpPr>
        <p:spPr>
          <a:xfrm>
            <a:off x="6035040" y="1920240"/>
            <a:ext cx="274320" cy="310896"/>
          </a:xfrm>
          <a:prstGeom prst="rect">
            <a:avLst/>
          </a:prstGeom>
          <a:noFill/>
        </p:spPr>
        <p:txBody>
          <a:bodyPr wrap="square" anchor="ctr" lIns="0" rIns="0" tIns="0" bIns="0">
            <a:spAutoFit/>
          </a:bodyPr>
          <a:lstStyle/>
          <a:p>
            <a:pPr algn="l"/>
            <a:r>
              <a:rPr sz="1050" b="0">
                <a:solidFill>
                  <a:srgbClr val="94A3B8"/>
                </a:solidFill>
                <a:latin typeface="Segoe UI"/>
              </a:rPr>
              <a:t>1</a:t>
            </a:r>
          </a:p>
        </p:txBody>
      </p:sp>
      <p:sp>
        <p:nvSpPr>
          <p:cNvPr id="17" name="Rectangle 16"/>
          <p:cNvSpPr/>
          <p:nvPr/>
        </p:nvSpPr>
        <p:spPr>
          <a:xfrm>
            <a:off x="6355080" y="1920240"/>
            <a:ext cx="2743200" cy="310896"/>
          </a:xfrm>
          <a:prstGeom prst="rect">
            <a:avLst/>
          </a:prstGeom>
          <a:solidFill>
            <a:srgbClr val="0B1220"/>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920240"/>
            <a:ext cx="2651760" cy="310896"/>
          </a:xfrm>
          <a:prstGeom prst="rect">
            <a:avLst/>
          </a:prstGeom>
          <a:noFill/>
        </p:spPr>
        <p:txBody>
          <a:bodyPr wrap="square" anchor="ctr" lIns="0" rIns="0" tIns="0" bIns="0">
            <a:spAutoFit/>
          </a:bodyPr>
          <a:lstStyle/>
          <a:p>
            <a:pPr algn="l"/>
            <a:r>
              <a:rPr sz="1050" b="0">
                <a:solidFill>
                  <a:srgbClr val="86EFAC"/>
                </a:solidFill>
                <a:latin typeface="Segoe UI"/>
              </a:rPr>
              <a:t>A-1001(CAP-ELEC) ▾</a:t>
            </a:r>
          </a:p>
        </p:txBody>
      </p:sp>
      <p:sp>
        <p:nvSpPr>
          <p:cNvPr id="19" name="TextBox 18"/>
          <p:cNvSpPr txBox="1"/>
          <p:nvPr/>
        </p:nvSpPr>
        <p:spPr>
          <a:xfrm>
            <a:off x="9281160" y="1920240"/>
            <a:ext cx="548640" cy="310896"/>
          </a:xfrm>
          <a:prstGeom prst="rect">
            <a:avLst/>
          </a:prstGeom>
          <a:noFill/>
        </p:spPr>
        <p:txBody>
          <a:bodyPr wrap="square" anchor="ctr" lIns="0" rIns="0" tIns="0" bIns="0">
            <a:spAutoFit/>
          </a:bodyPr>
          <a:lstStyle/>
          <a:p>
            <a:pPr algn="l"/>
            <a:r>
              <a:rPr sz="1050" b="1">
                <a:solidFill>
                  <a:srgbClr val="60A5FA"/>
                </a:solidFill>
                <a:latin typeface="Segoe UI"/>
              </a:rPr>
              <a:t>C1</a:t>
            </a:r>
          </a:p>
        </p:txBody>
      </p:sp>
      <p:sp>
        <p:nvSpPr>
          <p:cNvPr id="20" name="TextBox 19"/>
          <p:cNvSpPr txBox="1"/>
          <p:nvPr/>
        </p:nvSpPr>
        <p:spPr>
          <a:xfrm>
            <a:off x="9921240" y="1920240"/>
            <a:ext cx="548640" cy="310896"/>
          </a:xfrm>
          <a:prstGeom prst="rect">
            <a:avLst/>
          </a:prstGeom>
          <a:noFill/>
        </p:spPr>
        <p:txBody>
          <a:bodyPr wrap="square" anchor="ctr" lIns="0" rIns="0" tIns="0" bIns="0">
            <a:spAutoFit/>
          </a:bodyPr>
          <a:lstStyle/>
          <a:p>
            <a:pPr algn="l"/>
            <a:r>
              <a:rPr sz="1050" b="0">
                <a:solidFill>
                  <a:srgbClr val="60A5FA"/>
                </a:solidFill>
                <a:latin typeface="Segoe UI"/>
              </a:rPr>
              <a:t>LH</a:t>
            </a:r>
          </a:p>
        </p:txBody>
      </p:sp>
      <p:sp>
        <p:nvSpPr>
          <p:cNvPr id="21" name="TextBox 20"/>
          <p:cNvSpPr txBox="1"/>
          <p:nvPr/>
        </p:nvSpPr>
        <p:spPr>
          <a:xfrm>
            <a:off x="6035040" y="2304288"/>
            <a:ext cx="274320" cy="310896"/>
          </a:xfrm>
          <a:prstGeom prst="rect">
            <a:avLst/>
          </a:prstGeom>
          <a:noFill/>
        </p:spPr>
        <p:txBody>
          <a:bodyPr wrap="square" anchor="ctr" lIns="0" rIns="0" tIns="0" bIns="0">
            <a:spAutoFit/>
          </a:bodyPr>
          <a:lstStyle/>
          <a:p>
            <a:pPr algn="l"/>
            <a:r>
              <a:rPr sz="1050" b="0">
                <a:solidFill>
                  <a:srgbClr val="94A3B8"/>
                </a:solidFill>
                <a:latin typeface="Segoe UI"/>
              </a:rPr>
              <a:t>2</a:t>
            </a:r>
          </a:p>
        </p:txBody>
      </p:sp>
      <p:sp>
        <p:nvSpPr>
          <p:cNvPr id="22" name="Rectangle 21"/>
          <p:cNvSpPr/>
          <p:nvPr/>
        </p:nvSpPr>
        <p:spPr>
          <a:xfrm>
            <a:off x="6355080" y="2304288"/>
            <a:ext cx="2743200" cy="310896"/>
          </a:xfrm>
          <a:prstGeom prst="rect">
            <a:avLst/>
          </a:prstGeom>
          <a:solidFill>
            <a:srgbClr val="0B1220"/>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304288"/>
            <a:ext cx="2651760" cy="310896"/>
          </a:xfrm>
          <a:prstGeom prst="rect">
            <a:avLst/>
          </a:prstGeom>
          <a:noFill/>
        </p:spPr>
        <p:txBody>
          <a:bodyPr wrap="square" anchor="ctr" lIns="0" rIns="0" tIns="0" bIns="0">
            <a:spAutoFit/>
          </a:bodyPr>
          <a:lstStyle/>
          <a:p>
            <a:pPr algn="l"/>
            <a:r>
              <a:rPr sz="1050" b="0">
                <a:solidFill>
                  <a:srgbClr val="86EFAC"/>
                </a:solidFill>
                <a:latin typeface="Segoe UI"/>
              </a:rPr>
              <a:t>A-1002(CAP-ELEC) ▾</a:t>
            </a:r>
          </a:p>
        </p:txBody>
      </p:sp>
      <p:sp>
        <p:nvSpPr>
          <p:cNvPr id="24" name="TextBox 23"/>
          <p:cNvSpPr txBox="1"/>
          <p:nvPr/>
        </p:nvSpPr>
        <p:spPr>
          <a:xfrm>
            <a:off x="9281160" y="2304288"/>
            <a:ext cx="548640" cy="310896"/>
          </a:xfrm>
          <a:prstGeom prst="rect">
            <a:avLst/>
          </a:prstGeom>
          <a:noFill/>
        </p:spPr>
        <p:txBody>
          <a:bodyPr wrap="square" anchor="ctr" lIns="0" rIns="0" tIns="0" bIns="0">
            <a:spAutoFit/>
          </a:bodyPr>
          <a:lstStyle/>
          <a:p>
            <a:pPr algn="l"/>
            <a:r>
              <a:rPr sz="1050" b="1">
                <a:solidFill>
                  <a:srgbClr val="60A5FA"/>
                </a:solidFill>
                <a:latin typeface="Segoe UI"/>
              </a:rPr>
              <a:t>C1</a:t>
            </a:r>
          </a:p>
        </p:txBody>
      </p:sp>
      <p:sp>
        <p:nvSpPr>
          <p:cNvPr id="25" name="TextBox 24"/>
          <p:cNvSpPr txBox="1"/>
          <p:nvPr/>
        </p:nvSpPr>
        <p:spPr>
          <a:xfrm>
            <a:off x="9921240" y="2304288"/>
            <a:ext cx="548640" cy="310896"/>
          </a:xfrm>
          <a:prstGeom prst="rect">
            <a:avLst/>
          </a:prstGeom>
          <a:noFill/>
        </p:spPr>
        <p:txBody>
          <a:bodyPr wrap="square" anchor="ctr" lIns="0" rIns="0" tIns="0" bIns="0">
            <a:spAutoFit/>
          </a:bodyPr>
          <a:lstStyle/>
          <a:p>
            <a:pPr algn="l"/>
            <a:r>
              <a:rPr sz="1050" b="0">
                <a:solidFill>
                  <a:srgbClr val="60A5FA"/>
                </a:solidFill>
                <a:latin typeface="Segoe UI"/>
              </a:rPr>
              <a:t>LH</a:t>
            </a:r>
          </a:p>
        </p:txBody>
      </p:sp>
      <p:sp>
        <p:nvSpPr>
          <p:cNvPr id="26" name="TextBox 25"/>
          <p:cNvSpPr txBox="1"/>
          <p:nvPr/>
        </p:nvSpPr>
        <p:spPr>
          <a:xfrm>
            <a:off x="6035040" y="2688336"/>
            <a:ext cx="274320" cy="310896"/>
          </a:xfrm>
          <a:prstGeom prst="rect">
            <a:avLst/>
          </a:prstGeom>
          <a:noFill/>
        </p:spPr>
        <p:txBody>
          <a:bodyPr wrap="square" anchor="ctr" lIns="0" rIns="0" tIns="0" bIns="0">
            <a:spAutoFit/>
          </a:bodyPr>
          <a:lstStyle/>
          <a:p>
            <a:pPr algn="l"/>
            <a:r>
              <a:rPr sz="1050" b="0">
                <a:solidFill>
                  <a:srgbClr val="94A3B8"/>
                </a:solidFill>
                <a:latin typeface="Segoe UI"/>
              </a:rPr>
              <a:t>3</a:t>
            </a:r>
          </a:p>
        </p:txBody>
      </p:sp>
      <p:sp>
        <p:nvSpPr>
          <p:cNvPr id="27" name="Rectangle 26"/>
          <p:cNvSpPr/>
          <p:nvPr/>
        </p:nvSpPr>
        <p:spPr>
          <a:xfrm>
            <a:off x="6355080" y="2688336"/>
            <a:ext cx="2743200" cy="310896"/>
          </a:xfrm>
          <a:prstGeom prst="rect">
            <a:avLst/>
          </a:prstGeom>
          <a:solidFill>
            <a:srgbClr val="0B1220"/>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2688336"/>
            <a:ext cx="2651760" cy="310896"/>
          </a:xfrm>
          <a:prstGeom prst="rect">
            <a:avLst/>
          </a:prstGeom>
          <a:noFill/>
        </p:spPr>
        <p:txBody>
          <a:bodyPr wrap="square" anchor="ctr" lIns="0" rIns="0" tIns="0" bIns="0">
            <a:spAutoFit/>
          </a:bodyPr>
          <a:lstStyle/>
          <a:p>
            <a:pPr algn="l"/>
            <a:r>
              <a:rPr sz="1050" b="0">
                <a:solidFill>
                  <a:srgbClr val="86EFAC"/>
                </a:solidFill>
                <a:latin typeface="Segoe UI"/>
              </a:rPr>
              <a:t>A-1003(CAP-ELEC) ▾</a:t>
            </a:r>
          </a:p>
        </p:txBody>
      </p:sp>
      <p:sp>
        <p:nvSpPr>
          <p:cNvPr id="29" name="TextBox 28"/>
          <p:cNvSpPr txBox="1"/>
          <p:nvPr/>
        </p:nvSpPr>
        <p:spPr>
          <a:xfrm>
            <a:off x="9281160" y="2688336"/>
            <a:ext cx="548640" cy="310896"/>
          </a:xfrm>
          <a:prstGeom prst="rect">
            <a:avLst/>
          </a:prstGeom>
          <a:noFill/>
        </p:spPr>
        <p:txBody>
          <a:bodyPr wrap="square" anchor="ctr" lIns="0" rIns="0" tIns="0" bIns="0">
            <a:spAutoFit/>
          </a:bodyPr>
          <a:lstStyle/>
          <a:p>
            <a:pPr algn="l"/>
            <a:r>
              <a:rPr sz="1050" b="1">
                <a:solidFill>
                  <a:srgbClr val="60A5FA"/>
                </a:solidFill>
                <a:latin typeface="Segoe UI"/>
              </a:rPr>
              <a:t>C1</a:t>
            </a:r>
          </a:p>
        </p:txBody>
      </p:sp>
      <p:sp>
        <p:nvSpPr>
          <p:cNvPr id="30" name="TextBox 29"/>
          <p:cNvSpPr txBox="1"/>
          <p:nvPr/>
        </p:nvSpPr>
        <p:spPr>
          <a:xfrm>
            <a:off x="9921240" y="2688336"/>
            <a:ext cx="548640" cy="310896"/>
          </a:xfrm>
          <a:prstGeom prst="rect">
            <a:avLst/>
          </a:prstGeom>
          <a:noFill/>
        </p:spPr>
        <p:txBody>
          <a:bodyPr wrap="square" anchor="ctr" lIns="0" rIns="0" tIns="0" bIns="0">
            <a:spAutoFit/>
          </a:bodyPr>
          <a:lstStyle/>
          <a:p>
            <a:pPr algn="l"/>
            <a:r>
              <a:rPr sz="1050" b="0">
                <a:solidFill>
                  <a:srgbClr val="60A5FA"/>
                </a:solidFill>
                <a:latin typeface="Segoe UI"/>
              </a:rPr>
              <a:t>LH</a:t>
            </a:r>
          </a:p>
        </p:txBody>
      </p:sp>
      <p:sp>
        <p:nvSpPr>
          <p:cNvPr id="31" name="Rectangle 30"/>
          <p:cNvSpPr/>
          <p:nvPr/>
        </p:nvSpPr>
        <p:spPr>
          <a:xfrm>
            <a:off x="5961888" y="3154680"/>
            <a:ext cx="5486400" cy="27432"/>
          </a:xfrm>
          <a:prstGeom prst="rect">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0" y="3209544"/>
            <a:ext cx="1463040" cy="274320"/>
          </a:xfrm>
          <a:prstGeom prst="rect">
            <a:avLst/>
          </a:prstGeom>
          <a:noFill/>
        </p:spPr>
        <p:txBody>
          <a:bodyPr wrap="square" anchor="ctr" lIns="0" rIns="0" tIns="0" bIns="0">
            <a:spAutoFit/>
          </a:bodyPr>
          <a:lstStyle/>
          <a:p>
            <a:pPr algn="l"/>
            <a:r>
              <a:rPr sz="1100" b="1">
                <a:solidFill>
                  <a:srgbClr val="4ADE80"/>
                </a:solidFill>
                <a:latin typeface="Segoe UI"/>
              </a:rPr>
              <a:t>✋ RH Tay phải</a:t>
            </a:r>
          </a:p>
        </p:txBody>
      </p:sp>
      <p:sp>
        <p:nvSpPr>
          <p:cNvPr id="33" name="TextBox 32"/>
          <p:cNvSpPr txBox="1"/>
          <p:nvPr/>
        </p:nvSpPr>
        <p:spPr>
          <a:xfrm>
            <a:off x="7589520" y="3209544"/>
            <a:ext cx="3840480" cy="274320"/>
          </a:xfrm>
          <a:prstGeom prst="rect">
            <a:avLst/>
          </a:prstGeom>
          <a:noFill/>
        </p:spPr>
        <p:txBody>
          <a:bodyPr wrap="square" anchor="ctr" lIns="0" rIns="0" tIns="0" bIns="0">
            <a:spAutoFit/>
          </a:bodyPr>
          <a:lstStyle/>
          <a:p>
            <a:pPr algn="l"/>
            <a:r>
              <a:rPr sz="1000" b="0">
                <a:solidFill>
                  <a:srgbClr val="94A3B8"/>
                </a:solidFill>
                <a:latin typeface="Segoe UI"/>
              </a:rPr>
              <a:t>Ghi chép của tay khác (tham khảo — không bị xóa)</a:t>
            </a:r>
          </a:p>
        </p:txBody>
      </p:sp>
      <p:sp>
        <p:nvSpPr>
          <p:cNvPr id="34" name="Rectangle 33"/>
          <p:cNvSpPr/>
          <p:nvPr/>
        </p:nvSpPr>
        <p:spPr>
          <a:xfrm>
            <a:off x="5961888" y="3538728"/>
            <a:ext cx="5486400" cy="347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3557016"/>
            <a:ext cx="2651760" cy="310896"/>
          </a:xfrm>
          <a:prstGeom prst="rect">
            <a:avLst/>
          </a:prstGeom>
          <a:noFill/>
        </p:spPr>
        <p:txBody>
          <a:bodyPr wrap="square" anchor="ctr" lIns="0" rIns="0" tIns="0" bIns="0">
            <a:spAutoFit/>
          </a:bodyPr>
          <a:lstStyle/>
          <a:p>
            <a:pPr algn="l"/>
            <a:r>
              <a:rPr sz="1050" b="0">
                <a:solidFill>
                  <a:srgbClr val="3F6B52"/>
                </a:solidFill>
                <a:latin typeface="Segoe UI"/>
              </a:rPr>
              <a:t>A-1004(FUSE) ▾</a:t>
            </a:r>
          </a:p>
        </p:txBody>
      </p:sp>
      <p:sp>
        <p:nvSpPr>
          <p:cNvPr id="36" name="Rectangle 35"/>
          <p:cNvSpPr/>
          <p:nvPr/>
        </p:nvSpPr>
        <p:spPr>
          <a:xfrm>
            <a:off x="5961888" y="3904488"/>
            <a:ext cx="5486400" cy="347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922776"/>
            <a:ext cx="2651760" cy="310896"/>
          </a:xfrm>
          <a:prstGeom prst="rect">
            <a:avLst/>
          </a:prstGeom>
          <a:noFill/>
        </p:spPr>
        <p:txBody>
          <a:bodyPr wrap="square" anchor="ctr" lIns="0" rIns="0" tIns="0" bIns="0">
            <a:spAutoFit/>
          </a:bodyPr>
          <a:lstStyle/>
          <a:p>
            <a:pPr algn="l"/>
            <a:r>
              <a:rPr sz="1050" b="0">
                <a:solidFill>
                  <a:srgbClr val="3F6B52"/>
                </a:solidFill>
                <a:latin typeface="Segoe UI"/>
              </a:rPr>
              <a:t>A-1005(FUSE) ▾</a:t>
            </a:r>
          </a:p>
        </p:txBody>
      </p:sp>
      <p:sp>
        <p:nvSpPr>
          <p:cNvPr id="38" name="TextBox 37"/>
          <p:cNvSpPr txBox="1"/>
          <p:nvPr/>
        </p:nvSpPr>
        <p:spPr>
          <a:xfrm>
            <a:off x="640080" y="4389120"/>
            <a:ext cx="11064240" cy="365760"/>
          </a:xfrm>
          <a:prstGeom prst="rect">
            <a:avLst/>
          </a:prstGeom>
          <a:noFill/>
        </p:spPr>
        <p:txBody>
          <a:bodyPr wrap="square" anchor="ctr" lIns="0" rIns="0" tIns="0" bIns="0">
            <a:spAutoFit/>
          </a:bodyPr>
          <a:lstStyle/>
          <a:p>
            <a:pPr algn="l"/>
            <a:r>
              <a:rPr sz="1250" b="1">
                <a:solidFill>
                  <a:srgbClr val="B45309"/>
                </a:solidFill>
                <a:latin typeface="Segoe UI"/>
              </a:rPr>
              <a:t>① Chọn linh kiện trong bảng    ② Từ chu kỳ 2 linh kiện tự động kế thừa</a:t>
            </a:r>
          </a:p>
        </p:txBody>
      </p:sp>
      <p:sp>
        <p:nvSpPr>
          <p:cNvPr id="39" name="TextBox 38"/>
          <p:cNvSpPr txBox="1"/>
          <p:nvPr/>
        </p:nvSpPr>
        <p:spPr>
          <a:xfrm>
            <a:off x="548640" y="489204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phân tích chuyền — bên trái đánh dấu, bên phải bảng tích lũy theo linh kiện.</a:t>
            </a:r>
          </a:p>
        </p:txBody>
      </p:sp>
      <p:sp>
        <p:nvSpPr>
          <p:cNvPr id="40" name="Rounded Rectangle 39"/>
          <p:cNvSpPr/>
          <p:nvPr/>
        </p:nvSpPr>
        <p:spPr>
          <a:xfrm>
            <a:off x="640080" y="5349240"/>
            <a:ext cx="10881360" cy="566928"/>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349240"/>
            <a:ext cx="10515600" cy="566928"/>
          </a:xfrm>
          <a:prstGeom prst="rect">
            <a:avLst/>
          </a:prstGeom>
          <a:noFill/>
        </p:spPr>
        <p:txBody>
          <a:bodyPr wrap="square" anchor="ctr" lIns="0" rIns="0" tIns="0" bIns="0">
            <a:spAutoFit/>
          </a:bodyPr>
          <a:lstStyle/>
          <a:p>
            <a:pPr algn="l"/>
            <a:r>
              <a:rPr sz="1250" b="0">
                <a:solidFill>
                  <a:srgbClr val="111827"/>
                </a:solidFill>
                <a:latin typeface="Segoe UI"/>
              </a:rPr>
              <a:t>ℹ Ở đây cũng có thể đo riêng </a:t>
            </a:r>
            <a:r>
              <a:rPr sz="1250" b="0">
                <a:solidFill>
                  <a:srgbClr val="111827"/>
                </a:solidFill>
                <a:latin typeface="Segoe UI"/>
              </a:rPr>
              <a:t>🤚 LH</a:t>
            </a:r>
            <a:r>
              <a:rPr sz="1250" b="0">
                <a:solidFill>
                  <a:srgbClr val="111827"/>
                </a:solidFill>
                <a:latin typeface="Segoe UI"/>
              </a:rPr>
              <a:t> / </a:t>
            </a:r>
            <a:r>
              <a:rPr sz="1250" b="0">
                <a:solidFill>
                  <a:srgbClr val="111827"/>
                </a:solidFill>
                <a:latin typeface="Segoe UI"/>
              </a:rPr>
              <a:t>✋ RH</a:t>
            </a:r>
            <a:r>
              <a:rPr sz="1250" b="0">
                <a:solidFill>
                  <a:srgbClr val="111827"/>
                </a:solidFill>
                <a:latin typeface="Segoe UI"/>
              </a:rPr>
              <a:t> / </a:t>
            </a:r>
            <a:r>
              <a:rPr sz="1250" b="0">
                <a:solidFill>
                  <a:srgbClr val="111827"/>
                </a:solidFill>
                <a:latin typeface="Segoe UI"/>
              </a:rPr>
              <a:t>🖐 một tay</a:t>
            </a:r>
            <a:r>
              <a:rPr sz="1250" b="0">
                <a:solidFill>
                  <a:srgbClr val="111827"/>
                </a:solidFill>
                <a:latin typeface="Segoe UI"/>
              </a:rPr>
              <a:t>. Khi đổi tay, video quay về đầu và ghi chép của tay khác được giữ lại bên dưới để tham khảo.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12. Phân bổ công việc — Tìm nút thắt và chia đều</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Nhìn một cái là biết ai bận ai rảnh, rồi kéo linh kiện sang để cân bằng.</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12/17</a:t>
            </a:r>
          </a:p>
        </p:txBody>
      </p:sp>
      <p:sp>
        <p:nvSpPr>
          <p:cNvPr id="6" name="TextBox 5"/>
          <p:cNvSpPr txBox="1"/>
          <p:nvPr/>
        </p:nvSpPr>
        <p:spPr>
          <a:xfrm>
            <a:off x="548640" y="1005840"/>
            <a:ext cx="5486400" cy="320040"/>
          </a:xfrm>
          <a:prstGeom prst="rect">
            <a:avLst/>
          </a:prstGeom>
          <a:noFill/>
        </p:spPr>
        <p:txBody>
          <a:bodyPr wrap="square" anchor="ctr" lIns="0" rIns="0" tIns="0" bIns="0">
            <a:spAutoFit/>
          </a:bodyPr>
          <a:lstStyle/>
          <a:p>
            <a:pPr algn="l"/>
            <a:r>
              <a:rPr sz="1500" b="1">
                <a:solidFill>
                  <a:srgbClr val="111827"/>
                </a:solidFill>
                <a:latin typeface="Segoe UI"/>
              </a:rPr>
              <a:t>📏 Biểu đồ Pitch</a:t>
            </a:r>
          </a:p>
        </p:txBody>
      </p:sp>
      <p:sp>
        <p:nvSpPr>
          <p:cNvPr id="7" name="TextBox 6"/>
          <p:cNvSpPr txBox="1"/>
          <p:nvPr/>
        </p:nvSpPr>
        <p:spPr>
          <a:xfrm>
            <a:off x="548640" y="1417320"/>
            <a:ext cx="1371600" cy="365760"/>
          </a:xfrm>
          <a:prstGeom prst="rect">
            <a:avLst/>
          </a:prstGeom>
          <a:noFill/>
        </p:spPr>
        <p:txBody>
          <a:bodyPr wrap="square" anchor="ctr" lIns="0" rIns="0" tIns="0" bIns="0">
            <a:spAutoFit/>
          </a:bodyPr>
          <a:lstStyle/>
          <a:p>
            <a:pPr algn="l"/>
            <a:r>
              <a:rPr sz="1200" b="0">
                <a:solidFill>
                  <a:srgbClr val="475569"/>
                </a:solidFill>
                <a:latin typeface="Segoe UI"/>
              </a:rPr>
              <a:t>Công nhân 1</a:t>
            </a:r>
          </a:p>
        </p:txBody>
      </p:sp>
      <p:sp>
        <p:nvSpPr>
          <p:cNvPr id="8" name="Rounded Rectangle 7"/>
          <p:cNvSpPr/>
          <p:nvPr/>
        </p:nvSpPr>
        <p:spPr>
          <a:xfrm>
            <a:off x="2011680" y="1472184"/>
            <a:ext cx="7498079" cy="292608"/>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11680" y="1472184"/>
            <a:ext cx="4686299" cy="29260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97979" y="1472184"/>
            <a:ext cx="2811779" cy="292608"/>
          </a:xfrm>
          <a:prstGeom prst="roundRect">
            <a:avLst>
              <a:gd name="adj" fmla="val 8000"/>
            </a:avLst>
          </a:prstGeom>
          <a:solidFill>
            <a:srgbClr val="991B1B"/>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46919" y="1472184"/>
            <a:ext cx="822960" cy="292608"/>
          </a:xfrm>
          <a:prstGeom prst="rect">
            <a:avLst/>
          </a:prstGeom>
          <a:noFill/>
        </p:spPr>
        <p:txBody>
          <a:bodyPr wrap="square" anchor="ctr" lIns="0" rIns="0" tIns="0" bIns="0">
            <a:spAutoFit/>
          </a:bodyPr>
          <a:lstStyle/>
          <a:p>
            <a:pPr algn="l"/>
            <a:r>
              <a:rPr sz="1250" b="1">
                <a:solidFill>
                  <a:srgbClr val="DC2626"/>
                </a:solidFill>
                <a:latin typeface="Segoe UI"/>
              </a:rPr>
              <a:t>160%</a:t>
            </a:r>
          </a:p>
        </p:txBody>
      </p:sp>
      <p:sp>
        <p:nvSpPr>
          <p:cNvPr id="12" name="TextBox 11"/>
          <p:cNvSpPr txBox="1"/>
          <p:nvPr/>
        </p:nvSpPr>
        <p:spPr>
          <a:xfrm>
            <a:off x="548640" y="2075688"/>
            <a:ext cx="1371600" cy="365760"/>
          </a:xfrm>
          <a:prstGeom prst="rect">
            <a:avLst/>
          </a:prstGeom>
          <a:noFill/>
        </p:spPr>
        <p:txBody>
          <a:bodyPr wrap="square" anchor="ctr" lIns="0" rIns="0" tIns="0" bIns="0">
            <a:spAutoFit/>
          </a:bodyPr>
          <a:lstStyle/>
          <a:p>
            <a:pPr algn="l"/>
            <a:r>
              <a:rPr sz="1200" b="0">
                <a:solidFill>
                  <a:srgbClr val="475569"/>
                </a:solidFill>
                <a:latin typeface="Segoe UI"/>
              </a:rPr>
              <a:t>Công nhân 2</a:t>
            </a:r>
          </a:p>
        </p:txBody>
      </p:sp>
      <p:sp>
        <p:nvSpPr>
          <p:cNvPr id="13" name="Rounded Rectangle 12"/>
          <p:cNvSpPr/>
          <p:nvPr/>
        </p:nvSpPr>
        <p:spPr>
          <a:xfrm>
            <a:off x="2011680" y="2130552"/>
            <a:ext cx="7498079" cy="292608"/>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011680" y="2130552"/>
            <a:ext cx="4686299" cy="29260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97979" y="2130552"/>
            <a:ext cx="1124712" cy="292608"/>
          </a:xfrm>
          <a:prstGeom prst="roundRect">
            <a:avLst>
              <a:gd name="adj" fmla="val 8000"/>
            </a:avLst>
          </a:prstGeom>
          <a:solidFill>
            <a:srgbClr val="991B1B"/>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46919" y="2130552"/>
            <a:ext cx="822960" cy="292608"/>
          </a:xfrm>
          <a:prstGeom prst="rect">
            <a:avLst/>
          </a:prstGeom>
          <a:noFill/>
        </p:spPr>
        <p:txBody>
          <a:bodyPr wrap="square" anchor="ctr" lIns="0" rIns="0" tIns="0" bIns="0">
            <a:spAutoFit/>
          </a:bodyPr>
          <a:lstStyle/>
          <a:p>
            <a:pPr algn="l"/>
            <a:r>
              <a:rPr sz="1250" b="1">
                <a:solidFill>
                  <a:srgbClr val="DC2626"/>
                </a:solidFill>
                <a:latin typeface="Segoe UI"/>
              </a:rPr>
              <a:t>124%</a:t>
            </a:r>
          </a:p>
        </p:txBody>
      </p:sp>
      <p:sp>
        <p:nvSpPr>
          <p:cNvPr id="17" name="TextBox 16"/>
          <p:cNvSpPr txBox="1"/>
          <p:nvPr/>
        </p:nvSpPr>
        <p:spPr>
          <a:xfrm>
            <a:off x="548640" y="2734056"/>
            <a:ext cx="1371600" cy="365760"/>
          </a:xfrm>
          <a:prstGeom prst="rect">
            <a:avLst/>
          </a:prstGeom>
          <a:noFill/>
        </p:spPr>
        <p:txBody>
          <a:bodyPr wrap="square" anchor="ctr" lIns="0" rIns="0" tIns="0" bIns="0">
            <a:spAutoFit/>
          </a:bodyPr>
          <a:lstStyle/>
          <a:p>
            <a:pPr algn="l"/>
            <a:r>
              <a:rPr sz="1200" b="0">
                <a:solidFill>
                  <a:srgbClr val="475569"/>
                </a:solidFill>
                <a:latin typeface="Segoe UI"/>
              </a:rPr>
              <a:t>Công nhân 3</a:t>
            </a:r>
          </a:p>
        </p:txBody>
      </p:sp>
      <p:sp>
        <p:nvSpPr>
          <p:cNvPr id="18" name="Rounded Rectangle 17"/>
          <p:cNvSpPr/>
          <p:nvPr/>
        </p:nvSpPr>
        <p:spPr>
          <a:xfrm>
            <a:off x="2011680" y="2788920"/>
            <a:ext cx="7498079" cy="292608"/>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011680" y="2788920"/>
            <a:ext cx="4686299" cy="29260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97979" y="2788920"/>
            <a:ext cx="843534" cy="292608"/>
          </a:xfrm>
          <a:prstGeom prst="roundRect">
            <a:avLst>
              <a:gd name="adj" fmla="val 8000"/>
            </a:avLst>
          </a:prstGeom>
          <a:solidFill>
            <a:srgbClr val="991B1B"/>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19" y="2788920"/>
            <a:ext cx="822960" cy="292608"/>
          </a:xfrm>
          <a:prstGeom prst="rect">
            <a:avLst/>
          </a:prstGeom>
          <a:noFill/>
        </p:spPr>
        <p:txBody>
          <a:bodyPr wrap="square" anchor="ctr" lIns="0" rIns="0" tIns="0" bIns="0">
            <a:spAutoFit/>
          </a:bodyPr>
          <a:lstStyle/>
          <a:p>
            <a:pPr algn="l"/>
            <a:r>
              <a:rPr sz="1250" b="1">
                <a:solidFill>
                  <a:srgbClr val="DC2626"/>
                </a:solidFill>
                <a:latin typeface="Segoe UI"/>
              </a:rPr>
              <a:t>118%</a:t>
            </a:r>
          </a:p>
        </p:txBody>
      </p:sp>
      <p:sp>
        <p:nvSpPr>
          <p:cNvPr id="22" name="TextBox 21"/>
          <p:cNvSpPr txBox="1"/>
          <p:nvPr/>
        </p:nvSpPr>
        <p:spPr>
          <a:xfrm>
            <a:off x="548640" y="3392424"/>
            <a:ext cx="1371600" cy="365760"/>
          </a:xfrm>
          <a:prstGeom prst="rect">
            <a:avLst/>
          </a:prstGeom>
          <a:noFill/>
        </p:spPr>
        <p:txBody>
          <a:bodyPr wrap="square" anchor="ctr" lIns="0" rIns="0" tIns="0" bIns="0">
            <a:spAutoFit/>
          </a:bodyPr>
          <a:lstStyle/>
          <a:p>
            <a:pPr algn="l"/>
            <a:r>
              <a:rPr sz="1200" b="0">
                <a:solidFill>
                  <a:srgbClr val="475569"/>
                </a:solidFill>
                <a:latin typeface="Segoe UI"/>
              </a:rPr>
              <a:t>Công nhân 4</a:t>
            </a:r>
          </a:p>
        </p:txBody>
      </p:sp>
      <p:sp>
        <p:nvSpPr>
          <p:cNvPr id="23" name="Rounded Rectangle 22"/>
          <p:cNvSpPr/>
          <p:nvPr/>
        </p:nvSpPr>
        <p:spPr>
          <a:xfrm>
            <a:off x="2011680" y="3447288"/>
            <a:ext cx="7498079" cy="292608"/>
          </a:xfrm>
          <a:prstGeom prst="roundRect">
            <a:avLst>
              <a:gd name="adj" fmla="val 8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11680" y="3447288"/>
            <a:ext cx="4686299" cy="29260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97979" y="3447288"/>
            <a:ext cx="187452" cy="292608"/>
          </a:xfrm>
          <a:prstGeom prst="roundRect">
            <a:avLst>
              <a:gd name="adj" fmla="val 8000"/>
            </a:avLst>
          </a:prstGeom>
          <a:solidFill>
            <a:srgbClr val="991B1B"/>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19" y="3447288"/>
            <a:ext cx="822960" cy="292608"/>
          </a:xfrm>
          <a:prstGeom prst="rect">
            <a:avLst/>
          </a:prstGeom>
          <a:noFill/>
        </p:spPr>
        <p:txBody>
          <a:bodyPr wrap="square" anchor="ctr" lIns="0" rIns="0" tIns="0" bIns="0">
            <a:spAutoFit/>
          </a:bodyPr>
          <a:lstStyle/>
          <a:p>
            <a:pPr algn="l"/>
            <a:r>
              <a:rPr sz="1250" b="1">
                <a:solidFill>
                  <a:srgbClr val="DC2626"/>
                </a:solidFill>
                <a:latin typeface="Segoe UI"/>
              </a:rPr>
              <a:t>104%</a:t>
            </a:r>
          </a:p>
        </p:txBody>
      </p:sp>
      <p:sp>
        <p:nvSpPr>
          <p:cNvPr id="27" name="Rectangle 26"/>
          <p:cNvSpPr/>
          <p:nvPr/>
        </p:nvSpPr>
        <p:spPr>
          <a:xfrm>
            <a:off x="6697979" y="1371600"/>
            <a:ext cx="13716" cy="2679191"/>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79" y="1033272"/>
            <a:ext cx="914400" cy="274320"/>
          </a:xfrm>
          <a:prstGeom prst="rect">
            <a:avLst/>
          </a:prstGeom>
          <a:noFill/>
        </p:spPr>
        <p:txBody>
          <a:bodyPr wrap="square" anchor="ctr" lIns="0" rIns="0" tIns="0" bIns="0">
            <a:spAutoFit/>
          </a:bodyPr>
          <a:lstStyle/>
          <a:p>
            <a:pPr algn="ctr"/>
            <a:r>
              <a:rPr sz="1100" b="1">
                <a:solidFill>
                  <a:srgbClr val="111827"/>
                </a:solidFill>
                <a:latin typeface="Segoe UI"/>
              </a:rPr>
              <a:t>100%</a:t>
            </a:r>
          </a:p>
        </p:txBody>
      </p:sp>
      <p:sp>
        <p:nvSpPr>
          <p:cNvPr id="29" name="TextBox 28"/>
          <p:cNvSpPr txBox="1"/>
          <p:nvPr/>
        </p:nvSpPr>
        <p:spPr>
          <a:xfrm>
            <a:off x="548640" y="4187952"/>
            <a:ext cx="11064240" cy="365760"/>
          </a:xfrm>
          <a:prstGeom prst="rect">
            <a:avLst/>
          </a:prstGeom>
          <a:noFill/>
        </p:spPr>
        <p:txBody>
          <a:bodyPr wrap="square" anchor="ctr" lIns="0" rIns="0" tIns="0" bIns="0">
            <a:spAutoFit/>
          </a:bodyPr>
          <a:lstStyle/>
          <a:p>
            <a:pPr algn="l"/>
            <a:r>
              <a:rPr sz="1250" b="1">
                <a:solidFill>
                  <a:srgbClr val="B45309"/>
                </a:solidFill>
                <a:latin typeface="Segoe UI"/>
              </a:rPr>
              <a:t>① Đường đứt đỏ = takt time    ② Phần gạch chéo vượt 100% = vượt takt (nút thắt)</a:t>
            </a:r>
          </a:p>
        </p:txBody>
      </p:sp>
      <p:sp>
        <p:nvSpPr>
          <p:cNvPr id="30" name="TextBox 29"/>
          <p:cNvSpPr txBox="1"/>
          <p:nvPr/>
        </p:nvSpPr>
        <p:spPr>
          <a:xfrm>
            <a:off x="548640" y="452628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phân bổ — biểu đồ Yamazumi và biểu đồ Pitch.</a:t>
            </a:r>
          </a:p>
        </p:txBody>
      </p:sp>
      <p:sp>
        <p:nvSpPr>
          <p:cNvPr id="31" name="TextBox 30"/>
          <p:cNvSpPr txBox="1"/>
          <p:nvPr/>
        </p:nvSpPr>
        <p:spPr>
          <a:xfrm>
            <a:off x="640080" y="4983480"/>
            <a:ext cx="10881360" cy="365760"/>
          </a:xfrm>
          <a:prstGeom prst="rect">
            <a:avLst/>
          </a:prstGeom>
          <a:noFill/>
        </p:spPr>
        <p:txBody>
          <a:bodyPr wrap="square" anchor="ctr" lIns="0" rIns="0" tIns="0" bIns="0">
            <a:spAutoFit/>
          </a:bodyPr>
          <a:lstStyle/>
          <a:p>
            <a:pPr algn="l"/>
            <a:r>
              <a:rPr sz="1500" b="1">
                <a:solidFill>
                  <a:srgbClr val="2563EB"/>
                </a:solidFill>
                <a:latin typeface="Segoe UI"/>
              </a:rPr>
              <a:t>Cách đọc biểu đồ Pitch</a:t>
            </a:r>
          </a:p>
        </p:txBody>
      </p:sp>
      <p:sp>
        <p:nvSpPr>
          <p:cNvPr id="32" name="TextBox 31"/>
          <p:cNvSpPr txBox="1"/>
          <p:nvPr/>
        </p:nvSpPr>
        <p:spPr>
          <a:xfrm>
            <a:off x="640080" y="5440680"/>
            <a:ext cx="10881360" cy="457200"/>
          </a:xfrm>
          <a:prstGeom prst="rect">
            <a:avLst/>
          </a:prstGeom>
          <a:noFill/>
        </p:spPr>
        <p:txBody>
          <a:bodyPr wrap="square" anchor="t" lIns="0" rIns="0" tIns="0" bIns="0">
            <a:spAutoFit/>
          </a:bodyPr>
          <a:lstStyle/>
          <a:p>
            <a:pPr algn="l"/>
            <a:r>
              <a:rPr sz="1350" b="0">
                <a:solidFill>
                  <a:srgbClr val="111827"/>
                </a:solidFill>
                <a:latin typeface="Segoe UI"/>
              </a:rPr>
              <a:t>Mỗi cột là một công nhân, giá trị là </a:t>
            </a:r>
            <a:r>
              <a:rPr sz="1350" b="1">
                <a:solidFill>
                  <a:srgbClr val="111827"/>
                </a:solidFill>
                <a:latin typeface="Segoe UI"/>
              </a:rPr>
              <a:t>thời gian chuẩn của người đó ÷ takt time</a:t>
            </a:r>
            <a:r>
              <a:rPr sz="1350" b="0">
                <a:solidFill>
                  <a:srgbClr val="111827"/>
                </a:solidFill>
                <a:latin typeface="Segoe UI"/>
              </a:rPr>
              <a:t>. Vạch dọc màu trắng ở giữa là </a:t>
            </a:r>
            <a:r>
              <a:rPr sz="1350" b="1">
                <a:solidFill>
                  <a:srgbClr val="111827"/>
                </a:solidFill>
                <a:latin typeface="Segoe UI"/>
              </a:rPr>
              <a:t>100% (takt)</a:t>
            </a:r>
            <a:r>
              <a:rPr sz="1350" b="0">
                <a:solidFill>
                  <a:srgbClr val="111827"/>
                </a:solidFill>
                <a:latin typeface="Segoe UI"/>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12. Phân bổ công việc — Tìm nút thắt và chia đều</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12/17</a:t>
            </a:r>
          </a:p>
        </p:txBody>
      </p:sp>
      <p:graphicFrame>
        <p:nvGraphicFramePr>
          <p:cNvPr id="5" name="Table 4"/>
          <p:cNvGraphicFramePr>
            <a:graphicFrameLocks noGrp="1"/>
          </p:cNvGraphicFramePr>
          <p:nvPr/>
        </p:nvGraphicFramePr>
        <p:xfrm>
          <a:off x="640080" y="1143000"/>
          <a:ext cx="10881360" cy="1188720"/>
        </p:xfrm>
        <a:graphic>
          <a:graphicData uri="http://schemas.openxmlformats.org/drawingml/2006/table">
            <a:tbl>
              <a:tblPr firstRow="1" bandRow="1">
                <a:tableStyleId>{5C22544A-7EE6-4342-B048-85BDC9FD1C3A}</a:tableStyleId>
              </a:tblPr>
              <a:tblGrid>
                <a:gridCol w="3627120"/>
                <a:gridCol w="3627120"/>
                <a:gridCol w="3627120"/>
              </a:tblGrid>
              <a:tr h="297180">
                <a:tc>
                  <a:txBody>
                    <a:bodyPr/>
                    <a:lstStyle/>
                    <a:p>
                      <a:r>
                        <a:rPr sz="1100" b="1">
                          <a:solidFill>
                            <a:srgbClr val="FFFFFF"/>
                          </a:solidFill>
                          <a:latin typeface="Segoe UI"/>
                        </a:rPr>
                        <a:t>Trạng thái</a:t>
                      </a:r>
                    </a:p>
                  </a:txBody>
                  <a:tcPr marL="54864" marR="54864">
                    <a:solidFill>
                      <a:srgbClr val="1E3A5F"/>
                    </a:solidFill>
                  </a:tcPr>
                </a:tc>
                <a:tc>
                  <a:txBody>
                    <a:bodyPr/>
                    <a:lstStyle/>
                    <a:p>
                      <a:r>
                        <a:rPr sz="1100" b="1">
                          <a:solidFill>
                            <a:srgbClr val="FFFFFF"/>
                          </a:solidFill>
                          <a:latin typeface="Segoe UI"/>
                        </a:rPr>
                        <a:t>Ý nghĩa</a:t>
                      </a:r>
                    </a:p>
                  </a:txBody>
                  <a:tcPr marL="54864" marR="54864">
                    <a:solidFill>
                      <a:srgbClr val="1E3A5F"/>
                    </a:solidFill>
                  </a:tcPr>
                </a:tc>
                <a:tc>
                  <a:txBody>
                    <a:bodyPr/>
                    <a:lstStyle/>
                    <a:p>
                      <a:r>
                        <a:rPr sz="1100" b="1">
                          <a:solidFill>
                            <a:srgbClr val="FFFFFF"/>
                          </a:solidFill>
                          <a:latin typeface="Segoe UI"/>
                        </a:rPr>
                        <a:t>Cần làm gì</a:t>
                      </a:r>
                    </a:p>
                  </a:txBody>
                  <a:tcPr marL="54864" marR="54864">
                    <a:solidFill>
                      <a:srgbClr val="1E3A5F"/>
                    </a:solidFill>
                  </a:tcPr>
                </a:tc>
              </a:tr>
              <a:tr h="297180">
                <a:tc>
                  <a:txBody>
                    <a:bodyPr/>
                    <a:lstStyle/>
                    <a:p>
                      <a:pPr>
                        <a:lnSpc>
                          <a:spcPct val="95000"/>
                        </a:lnSpc>
                      </a:pPr>
                      <a:r>
                        <a:rPr sz="1100" b="0">
                          <a:solidFill>
                            <a:srgbClr val="22C55E"/>
                          </a:solidFill>
                          <a:latin typeface="Segoe UI"/>
                        </a:rPr>
                        <a:t>Dưới 100%</a:t>
                      </a:r>
                    </a:p>
                  </a:txBody>
                  <a:tcPr marL="54864" marR="54864" marT="18288" marB="18288">
                    <a:solidFill>
                      <a:srgbClr val="F1F5F9"/>
                    </a:solidFill>
                  </a:tcPr>
                </a:tc>
                <a:tc>
                  <a:txBody>
                    <a:bodyPr/>
                    <a:lstStyle/>
                    <a:p>
                      <a:pPr>
                        <a:lnSpc>
                          <a:spcPct val="95000"/>
                        </a:lnSpc>
                      </a:pPr>
                      <a:r>
                        <a:rPr sz="1100" b="0">
                          <a:solidFill>
                            <a:srgbClr val="111827"/>
                          </a:solidFill>
                          <a:latin typeface="Segoe UI"/>
                        </a:rPr>
                        <a:t>Còn dư thời gian (rảnh)</a:t>
                      </a:r>
                    </a:p>
                  </a:txBody>
                  <a:tcPr marL="54864" marR="54864" marT="18288" marB="18288">
                    <a:solidFill>
                      <a:srgbClr val="F1F5F9"/>
                    </a:solidFill>
                  </a:tcPr>
                </a:tc>
                <a:tc>
                  <a:txBody>
                    <a:bodyPr/>
                    <a:lstStyle/>
                    <a:p>
                      <a:pPr>
                        <a:lnSpc>
                          <a:spcPct val="95000"/>
                        </a:lnSpc>
                      </a:pPr>
                      <a:r>
                        <a:rPr sz="1100" b="0">
                          <a:solidFill>
                            <a:srgbClr val="111827"/>
                          </a:solidFill>
                          <a:latin typeface="Segoe UI"/>
                        </a:rPr>
                        <a:t>Có thể nhận thêm việc từ người khác.</a:t>
                      </a:r>
                    </a:p>
                  </a:txBody>
                  <a:tcPr marL="54864" marR="54864" marT="18288" marB="18288">
                    <a:solidFill>
                      <a:srgbClr val="F1F5F9"/>
                    </a:solidFill>
                  </a:tcPr>
                </a:tc>
              </a:tr>
              <a:tr h="297180">
                <a:tc>
                  <a:txBody>
                    <a:bodyPr/>
                    <a:lstStyle/>
                    <a:p>
                      <a:pPr>
                        <a:lnSpc>
                          <a:spcPct val="95000"/>
                        </a:lnSpc>
                      </a:pPr>
                      <a:r>
                        <a:rPr sz="1100" b="0">
                          <a:solidFill>
                            <a:srgbClr val="F59E0B"/>
                          </a:solidFill>
                          <a:latin typeface="Segoe UI"/>
                        </a:rPr>
                        <a:t>90~100%</a:t>
                      </a:r>
                    </a:p>
                  </a:txBody>
                  <a:tcPr marL="54864" marR="54864" marT="18288" marB="18288">
                    <a:solidFill>
                      <a:srgbClr val="FFFFFF"/>
                    </a:solidFill>
                  </a:tcPr>
                </a:tc>
                <a:tc>
                  <a:txBody>
                    <a:bodyPr/>
                    <a:lstStyle/>
                    <a:p>
                      <a:pPr>
                        <a:lnSpc>
                          <a:spcPct val="95000"/>
                        </a:lnSpc>
                      </a:pPr>
                      <a:r>
                        <a:rPr sz="1100" b="0">
                          <a:solidFill>
                            <a:srgbClr val="111827"/>
                          </a:solidFill>
                          <a:latin typeface="Segoe UI"/>
                        </a:rPr>
                        <a:t>Gần đầy</a:t>
                      </a:r>
                    </a:p>
                  </a:txBody>
                  <a:tcPr marL="54864" marR="54864" marT="18288" marB="18288">
                    <a:solidFill>
                      <a:srgbClr val="FFFFFF"/>
                    </a:solidFill>
                  </a:tcPr>
                </a:tc>
                <a:tc>
                  <a:txBody>
                    <a:bodyPr/>
                    <a:lstStyle/>
                    <a:p>
                      <a:pPr>
                        <a:lnSpc>
                          <a:spcPct val="95000"/>
                        </a:lnSpc>
                      </a:pPr>
                      <a:r>
                        <a:rPr sz="1100" b="0">
                          <a:solidFill>
                            <a:srgbClr val="111827"/>
                          </a:solidFill>
                          <a:latin typeface="Segoe UI"/>
                        </a:rPr>
                        <a:t>Giao thêm là rủi ro.</a:t>
                      </a:r>
                    </a:p>
                  </a:txBody>
                  <a:tcPr marL="54864" marR="54864" marT="18288" marB="18288">
                    <a:solidFill>
                      <a:srgbClr val="FFFFFF"/>
                    </a:solidFill>
                  </a:tcPr>
                </a:tc>
              </a:tr>
              <a:tr h="297180">
                <a:tc>
                  <a:txBody>
                    <a:bodyPr/>
                    <a:lstStyle/>
                    <a:p>
                      <a:pPr>
                        <a:lnSpc>
                          <a:spcPct val="95000"/>
                        </a:lnSpc>
                      </a:pPr>
                      <a:r>
                        <a:rPr sz="1100" b="0">
                          <a:solidFill>
                            <a:srgbClr val="EF4444"/>
                          </a:solidFill>
                          <a:latin typeface="Segoe UI"/>
                        </a:rPr>
                        <a:t>Trên 100%</a:t>
                      </a:r>
                    </a:p>
                  </a:txBody>
                  <a:tcPr marL="54864" marR="54864" marT="18288" marB="18288">
                    <a:solidFill>
                      <a:srgbClr val="F1F5F9"/>
                    </a:solidFill>
                  </a:tcPr>
                </a:tc>
                <a:tc>
                  <a:txBody>
                    <a:bodyPr/>
                    <a:lstStyle/>
                    <a:p>
                      <a:pPr>
                        <a:lnSpc>
                          <a:spcPct val="95000"/>
                        </a:lnSpc>
                      </a:pPr>
                      <a:r>
                        <a:rPr sz="1100" b="1">
                          <a:solidFill>
                            <a:srgbClr val="111827"/>
                          </a:solidFill>
                          <a:latin typeface="Segoe UI"/>
                        </a:rPr>
                        <a:t>Không xong trong takt = nút thắt</a:t>
                      </a:r>
                    </a:p>
                  </a:txBody>
                  <a:tcPr marL="54864" marR="54864" marT="18288" marB="18288">
                    <a:solidFill>
                      <a:srgbClr val="F1F5F9"/>
                    </a:solidFill>
                  </a:tcPr>
                </a:tc>
                <a:tc>
                  <a:txBody>
                    <a:bodyPr/>
                    <a:lstStyle/>
                    <a:p>
                      <a:pPr>
                        <a:lnSpc>
                          <a:spcPct val="95000"/>
                        </a:lnSpc>
                      </a:pPr>
                      <a:r>
                        <a:rPr sz="1100" b="0">
                          <a:solidFill>
                            <a:srgbClr val="111827"/>
                          </a:solidFill>
                          <a:latin typeface="Segoe UI"/>
                        </a:rPr>
                        <a:t>Phần gạch chéo là phần vượt. Hãy bớt việc cho người này.</a:t>
                      </a:r>
                    </a:p>
                  </a:txBody>
                  <a:tcPr marL="54864" marR="54864" marT="18288" marB="18288">
                    <a:solidFill>
                      <a:srgbClr val="F1F5F9"/>
                    </a:solidFill>
                  </a:tcPr>
                </a:tc>
              </a:tr>
            </a:tbl>
          </a:graphicData>
        </a:graphic>
      </p:graphicFrame>
      <p:sp>
        <p:nvSpPr>
          <p:cNvPr id="6" name="Rounded Rectangle 5"/>
          <p:cNvSpPr/>
          <p:nvPr/>
        </p:nvSpPr>
        <p:spPr>
          <a:xfrm>
            <a:off x="640080" y="2560320"/>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60320"/>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Mục tiêu là đưa tất cả các cột lên mức đều nhau ngay dưới vạch takt.</a:t>
            </a:r>
            <a:r>
              <a:rPr sz="1250" b="0">
                <a:solidFill>
                  <a:srgbClr val="111827"/>
                </a:solidFill>
                <a:latin typeface="Segoe UI"/>
              </a:rPr>
              <a:t> Có vậy hiệu suất biên chế (tỷ lệ cân bằng) mới tăng.</a:t>
            </a:r>
          </a:p>
        </p:txBody>
      </p:sp>
      <p:sp>
        <p:nvSpPr>
          <p:cNvPr id="8" name="TextBox 7"/>
          <p:cNvSpPr txBox="1"/>
          <p:nvPr/>
        </p:nvSpPr>
        <p:spPr>
          <a:xfrm>
            <a:off x="640080" y="3273552"/>
            <a:ext cx="10881360" cy="365760"/>
          </a:xfrm>
          <a:prstGeom prst="rect">
            <a:avLst/>
          </a:prstGeom>
          <a:noFill/>
        </p:spPr>
        <p:txBody>
          <a:bodyPr wrap="square" anchor="ctr" lIns="0" rIns="0" tIns="0" bIns="0">
            <a:spAutoFit/>
          </a:bodyPr>
          <a:lstStyle/>
          <a:p>
            <a:pPr algn="l"/>
            <a:r>
              <a:rPr sz="1500" b="1">
                <a:solidFill>
                  <a:srgbClr val="2563EB"/>
                </a:solidFill>
                <a:latin typeface="Segoe UI"/>
              </a:rPr>
              <a:t>Chuyển linh kiện</a:t>
            </a:r>
          </a:p>
        </p:txBody>
      </p:sp>
      <p:sp>
        <p:nvSpPr>
          <p:cNvPr id="9" name="Oval 8"/>
          <p:cNvSpPr/>
          <p:nvPr/>
        </p:nvSpPr>
        <p:spPr>
          <a:xfrm>
            <a:off x="685800" y="3758184"/>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758184"/>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11" name="TextBox 10"/>
          <p:cNvSpPr txBox="1"/>
          <p:nvPr/>
        </p:nvSpPr>
        <p:spPr>
          <a:xfrm>
            <a:off x="1097280" y="3730752"/>
            <a:ext cx="10424160" cy="310896"/>
          </a:xfrm>
          <a:prstGeom prst="rect">
            <a:avLst/>
          </a:prstGeom>
          <a:noFill/>
        </p:spPr>
        <p:txBody>
          <a:bodyPr wrap="square" anchor="ctr" lIns="0" rIns="0" tIns="0" bIns="0">
            <a:spAutoFit/>
          </a:bodyPr>
          <a:lstStyle/>
          <a:p>
            <a:pPr algn="l"/>
            <a:r>
              <a:rPr sz="1300" b="1">
                <a:solidFill>
                  <a:srgbClr val="111827"/>
                </a:solidFill>
                <a:latin typeface="Segoe UI"/>
              </a:rPr>
              <a:t>Kéo bằng chuột</a:t>
            </a:r>
            <a:r>
              <a:rPr sz="1300" b="0">
                <a:solidFill>
                  <a:srgbClr val="111827"/>
                </a:solidFill>
                <a:latin typeface="Segoe UI"/>
              </a:rPr>
              <a:t> khối linh kiện của công nhân đang bận sang công nhân còn dư.</a:t>
            </a:r>
          </a:p>
        </p:txBody>
      </p:sp>
      <p:sp>
        <p:nvSpPr>
          <p:cNvPr id="12" name="Oval 11"/>
          <p:cNvSpPr/>
          <p:nvPr/>
        </p:nvSpPr>
        <p:spPr>
          <a:xfrm>
            <a:off x="685800" y="4087368"/>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87368"/>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4" name="TextBox 13"/>
          <p:cNvSpPr txBox="1"/>
          <p:nvPr/>
        </p:nvSpPr>
        <p:spPr>
          <a:xfrm>
            <a:off x="1097280" y="4059936"/>
            <a:ext cx="10424160" cy="310896"/>
          </a:xfrm>
          <a:prstGeom prst="rect">
            <a:avLst/>
          </a:prstGeom>
          <a:noFill/>
        </p:spPr>
        <p:txBody>
          <a:bodyPr wrap="square" anchor="ctr" lIns="0" rIns="0" tIns="0" bIns="0">
            <a:spAutoFit/>
          </a:bodyPr>
          <a:lstStyle/>
          <a:p>
            <a:pPr algn="l"/>
            <a:r>
              <a:rPr sz="1300" b="1">
                <a:solidFill>
                  <a:srgbClr val="111827"/>
                </a:solidFill>
                <a:latin typeface="Segoe UI"/>
              </a:rPr>
              <a:t>Thả vào chỗ trống sẽ thêm một công nhân mới.</a:t>
            </a:r>
            <a:r>
              <a:rPr sz="1300" b="0">
                <a:solidFill>
                  <a:srgbClr val="111827"/>
                </a:solidFill>
                <a:latin typeface="Segoe UI"/>
              </a:rPr>
              <a:t> Dùng khi muốn thử tăng người.</a:t>
            </a:r>
          </a:p>
        </p:txBody>
      </p:sp>
      <p:sp>
        <p:nvSpPr>
          <p:cNvPr id="15" name="Oval 14"/>
          <p:cNvSpPr/>
          <p:nvPr/>
        </p:nvSpPr>
        <p:spPr>
          <a:xfrm>
            <a:off x="685800" y="441655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416552"/>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7" name="TextBox 16"/>
          <p:cNvSpPr txBox="1"/>
          <p:nvPr/>
        </p:nvSpPr>
        <p:spPr>
          <a:xfrm>
            <a:off x="1097280" y="4389120"/>
            <a:ext cx="10424160" cy="310896"/>
          </a:xfrm>
          <a:prstGeom prst="rect">
            <a:avLst/>
          </a:prstGeom>
          <a:noFill/>
        </p:spPr>
        <p:txBody>
          <a:bodyPr wrap="square" anchor="ctr" lIns="0" rIns="0" tIns="0" bIns="0">
            <a:spAutoFit/>
          </a:bodyPr>
          <a:lstStyle/>
          <a:p>
            <a:pPr algn="l"/>
            <a:r>
              <a:rPr sz="1300" b="0">
                <a:solidFill>
                  <a:srgbClr val="111827"/>
                </a:solidFill>
                <a:latin typeface="Segoe UI"/>
              </a:rPr>
              <a:t>Hài lòng rồi thì xuất Excel bằng </a:t>
            </a:r>
            <a:r>
              <a:rPr sz="1300" b="1">
                <a:solidFill>
                  <a:srgbClr val="111827"/>
                </a:solidFill>
                <a:latin typeface="Segoe UI"/>
              </a:rPr>
              <a:t>[📥 Xuất phương án biên chế]</a:t>
            </a:r>
            <a:r>
              <a:rPr sz="1300" b="0">
                <a:solidFill>
                  <a:srgbClr val="111827"/>
                </a:solidFill>
                <a:latin typeface="Segoe U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13. Mô phỏng bố trí — Chạy thử theo phương án đã đổi</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Chạy chuyền theo biên chế đã đổi ở Phân bổ công việc để xác nhận thật sự không còn nút thắt.</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13/17</a:t>
            </a:r>
          </a:p>
        </p:txBody>
      </p:sp>
      <p:sp>
        <p:nvSpPr>
          <p:cNvPr id="6" name="Rounded Rectangle 5"/>
          <p:cNvSpPr/>
          <p:nvPr/>
        </p:nvSpPr>
        <p:spPr>
          <a:xfrm>
            <a:off x="640080" y="1417320"/>
            <a:ext cx="2651760" cy="77724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90472"/>
            <a:ext cx="2286000" cy="274320"/>
          </a:xfrm>
          <a:prstGeom prst="rect">
            <a:avLst/>
          </a:prstGeom>
          <a:noFill/>
        </p:spPr>
        <p:txBody>
          <a:bodyPr wrap="square" anchor="ctr" lIns="0" rIns="0" tIns="0" bIns="0">
            <a:spAutoFit/>
          </a:bodyPr>
          <a:lstStyle/>
          <a:p>
            <a:pPr algn="l"/>
            <a:r>
              <a:rPr sz="1100" b="0">
                <a:solidFill>
                  <a:srgbClr val="475569"/>
                </a:solidFill>
                <a:latin typeface="Segoe UI"/>
              </a:rPr>
              <a:t>Cycle time (CT)</a:t>
            </a:r>
          </a:p>
        </p:txBody>
      </p:sp>
      <p:sp>
        <p:nvSpPr>
          <p:cNvPr id="8" name="TextBox 7"/>
          <p:cNvSpPr txBox="1"/>
          <p:nvPr/>
        </p:nvSpPr>
        <p:spPr>
          <a:xfrm>
            <a:off x="822959" y="1764792"/>
            <a:ext cx="2286000" cy="384048"/>
          </a:xfrm>
          <a:prstGeom prst="rect">
            <a:avLst/>
          </a:prstGeom>
          <a:noFill/>
        </p:spPr>
        <p:txBody>
          <a:bodyPr wrap="square" anchor="ctr" lIns="0" rIns="0" tIns="0" bIns="0">
            <a:spAutoFit/>
          </a:bodyPr>
          <a:lstStyle/>
          <a:p>
            <a:pPr algn="l"/>
            <a:r>
              <a:rPr sz="1800" b="1">
                <a:solidFill>
                  <a:srgbClr val="DC2626"/>
                </a:solidFill>
                <a:latin typeface="Segoe UI"/>
              </a:rPr>
              <a:t>16.7s</a:t>
            </a:r>
          </a:p>
        </p:txBody>
      </p:sp>
      <p:sp>
        <p:nvSpPr>
          <p:cNvPr id="9" name="Rounded Rectangle 8"/>
          <p:cNvSpPr/>
          <p:nvPr/>
        </p:nvSpPr>
        <p:spPr>
          <a:xfrm>
            <a:off x="3474720" y="1417320"/>
            <a:ext cx="2651760" cy="77724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490472"/>
            <a:ext cx="2286000" cy="274320"/>
          </a:xfrm>
          <a:prstGeom prst="rect">
            <a:avLst/>
          </a:prstGeom>
          <a:noFill/>
        </p:spPr>
        <p:txBody>
          <a:bodyPr wrap="square" anchor="ctr" lIns="0" rIns="0" tIns="0" bIns="0">
            <a:spAutoFit/>
          </a:bodyPr>
          <a:lstStyle/>
          <a:p>
            <a:pPr algn="l"/>
            <a:r>
              <a:rPr sz="1100" b="0">
                <a:solidFill>
                  <a:srgbClr val="475569"/>
                </a:solidFill>
                <a:latin typeface="Segoe UI"/>
              </a:rPr>
              <a:t>Nút thắt</a:t>
            </a:r>
          </a:p>
        </p:txBody>
      </p:sp>
      <p:sp>
        <p:nvSpPr>
          <p:cNvPr id="11" name="TextBox 10"/>
          <p:cNvSpPr txBox="1"/>
          <p:nvPr/>
        </p:nvSpPr>
        <p:spPr>
          <a:xfrm>
            <a:off x="3657600" y="1764792"/>
            <a:ext cx="2286000" cy="384048"/>
          </a:xfrm>
          <a:prstGeom prst="rect">
            <a:avLst/>
          </a:prstGeom>
          <a:noFill/>
        </p:spPr>
        <p:txBody>
          <a:bodyPr wrap="square" anchor="ctr" lIns="0" rIns="0" tIns="0" bIns="0">
            <a:spAutoFit/>
          </a:bodyPr>
          <a:lstStyle/>
          <a:p>
            <a:pPr algn="l"/>
            <a:r>
              <a:rPr sz="1800" b="1">
                <a:solidFill>
                  <a:srgbClr val="B45309"/>
                </a:solidFill>
                <a:latin typeface="Segoe UI"/>
              </a:rPr>
              <a:t>Công nhân 1</a:t>
            </a:r>
          </a:p>
        </p:txBody>
      </p:sp>
      <p:sp>
        <p:nvSpPr>
          <p:cNvPr id="12" name="Rounded Rectangle 11"/>
          <p:cNvSpPr/>
          <p:nvPr/>
        </p:nvSpPr>
        <p:spPr>
          <a:xfrm>
            <a:off x="6309360" y="1417320"/>
            <a:ext cx="2651760" cy="77724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90472"/>
            <a:ext cx="2286000" cy="274320"/>
          </a:xfrm>
          <a:prstGeom prst="rect">
            <a:avLst/>
          </a:prstGeom>
          <a:noFill/>
        </p:spPr>
        <p:txBody>
          <a:bodyPr wrap="square" anchor="ctr" lIns="0" rIns="0" tIns="0" bIns="0">
            <a:spAutoFit/>
          </a:bodyPr>
          <a:lstStyle/>
          <a:p>
            <a:pPr algn="l"/>
            <a:r>
              <a:rPr sz="1100" b="0">
                <a:solidFill>
                  <a:srgbClr val="475569"/>
                </a:solidFill>
                <a:latin typeface="Segoe UI"/>
              </a:rPr>
              <a:t>Tỷ lệ cân bằng</a:t>
            </a:r>
          </a:p>
        </p:txBody>
      </p:sp>
      <p:sp>
        <p:nvSpPr>
          <p:cNvPr id="14" name="TextBox 13"/>
          <p:cNvSpPr txBox="1"/>
          <p:nvPr/>
        </p:nvSpPr>
        <p:spPr>
          <a:xfrm>
            <a:off x="6492240" y="1764792"/>
            <a:ext cx="2286000" cy="384048"/>
          </a:xfrm>
          <a:prstGeom prst="rect">
            <a:avLst/>
          </a:prstGeom>
          <a:noFill/>
        </p:spPr>
        <p:txBody>
          <a:bodyPr wrap="square" anchor="ctr" lIns="0" rIns="0" tIns="0" bIns="0">
            <a:spAutoFit/>
          </a:bodyPr>
          <a:lstStyle/>
          <a:p>
            <a:pPr algn="l"/>
            <a:r>
              <a:rPr sz="1800" b="1">
                <a:solidFill>
                  <a:srgbClr val="2563EB"/>
                </a:solidFill>
                <a:latin typeface="Segoe UI"/>
              </a:rPr>
              <a:t>79%</a:t>
            </a:r>
          </a:p>
        </p:txBody>
      </p:sp>
      <p:sp>
        <p:nvSpPr>
          <p:cNvPr id="15" name="Rounded Rectangle 14"/>
          <p:cNvSpPr/>
          <p:nvPr/>
        </p:nvSpPr>
        <p:spPr>
          <a:xfrm>
            <a:off x="9144000" y="1417320"/>
            <a:ext cx="2651760" cy="77724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1490472"/>
            <a:ext cx="2286000" cy="274320"/>
          </a:xfrm>
          <a:prstGeom prst="rect">
            <a:avLst/>
          </a:prstGeom>
          <a:noFill/>
        </p:spPr>
        <p:txBody>
          <a:bodyPr wrap="square" anchor="ctr" lIns="0" rIns="0" tIns="0" bIns="0">
            <a:spAutoFit/>
          </a:bodyPr>
          <a:lstStyle/>
          <a:p>
            <a:pPr algn="l"/>
            <a:r>
              <a:rPr sz="1100" b="0">
                <a:solidFill>
                  <a:srgbClr val="475569"/>
                </a:solidFill>
                <a:latin typeface="Segoe UI"/>
              </a:rPr>
              <a:t>Sản lượng/giờ</a:t>
            </a:r>
          </a:p>
        </p:txBody>
      </p:sp>
      <p:sp>
        <p:nvSpPr>
          <p:cNvPr id="17" name="TextBox 16"/>
          <p:cNvSpPr txBox="1"/>
          <p:nvPr/>
        </p:nvSpPr>
        <p:spPr>
          <a:xfrm>
            <a:off x="9326880" y="1764792"/>
            <a:ext cx="2286000" cy="384048"/>
          </a:xfrm>
          <a:prstGeom prst="rect">
            <a:avLst/>
          </a:prstGeom>
          <a:noFill/>
        </p:spPr>
        <p:txBody>
          <a:bodyPr wrap="square" anchor="ctr" lIns="0" rIns="0" tIns="0" bIns="0">
            <a:spAutoFit/>
          </a:bodyPr>
          <a:lstStyle/>
          <a:p>
            <a:pPr algn="l"/>
            <a:r>
              <a:rPr sz="1800" b="1">
                <a:solidFill>
                  <a:srgbClr val="159E4E"/>
                </a:solidFill>
                <a:latin typeface="Segoe UI"/>
              </a:rPr>
              <a:t>215 cái</a:t>
            </a:r>
          </a:p>
        </p:txBody>
      </p:sp>
      <p:sp>
        <p:nvSpPr>
          <p:cNvPr id="18" name="Rectangle 17"/>
          <p:cNvSpPr/>
          <p:nvPr/>
        </p:nvSpPr>
        <p:spPr>
          <a:xfrm>
            <a:off x="1463040" y="3017520"/>
            <a:ext cx="1737360" cy="1417320"/>
          </a:xfrm>
          <a:prstGeom prst="rect">
            <a:avLst/>
          </a:prstGeom>
          <a:solidFill>
            <a:srgbClr val="DC2626"/>
          </a:solidFill>
          <a:ln w="254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2670048"/>
            <a:ext cx="2286000" cy="292608"/>
          </a:xfrm>
          <a:prstGeom prst="rect">
            <a:avLst/>
          </a:prstGeom>
          <a:noFill/>
        </p:spPr>
        <p:txBody>
          <a:bodyPr wrap="square" anchor="ctr" lIns="0" rIns="0" tIns="0" bIns="0">
            <a:spAutoFit/>
          </a:bodyPr>
          <a:lstStyle/>
          <a:p>
            <a:pPr algn="ctr"/>
            <a:r>
              <a:rPr sz="1200" b="1">
                <a:solidFill>
                  <a:srgbClr val="DC2626"/>
                </a:solidFill>
                <a:latin typeface="Segoe UI"/>
              </a:rPr>
              <a:t>⚠ Nút thắt</a:t>
            </a:r>
          </a:p>
        </p:txBody>
      </p:sp>
      <p:sp>
        <p:nvSpPr>
          <p:cNvPr id="20" name="TextBox 19"/>
          <p:cNvSpPr txBox="1"/>
          <p:nvPr/>
        </p:nvSpPr>
        <p:spPr>
          <a:xfrm>
            <a:off x="1463040" y="4507992"/>
            <a:ext cx="1737360" cy="292608"/>
          </a:xfrm>
          <a:prstGeom prst="rect">
            <a:avLst/>
          </a:prstGeom>
          <a:noFill/>
        </p:spPr>
        <p:txBody>
          <a:bodyPr wrap="square" anchor="ctr" lIns="0" rIns="0" tIns="0" bIns="0">
            <a:spAutoFit/>
          </a:bodyPr>
          <a:lstStyle/>
          <a:p>
            <a:pPr algn="ctr"/>
            <a:r>
              <a:rPr sz="1150" b="1">
                <a:solidFill>
                  <a:srgbClr val="475569"/>
                </a:solidFill>
                <a:latin typeface="Segoe UI"/>
              </a:rPr>
              <a:t>Công nhân 1</a:t>
            </a:r>
          </a:p>
        </p:txBody>
      </p:sp>
      <p:sp>
        <p:nvSpPr>
          <p:cNvPr id="21" name="Rectangle 20"/>
          <p:cNvSpPr/>
          <p:nvPr/>
        </p:nvSpPr>
        <p:spPr>
          <a:xfrm>
            <a:off x="3840480" y="3017520"/>
            <a:ext cx="1737360" cy="5029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0" y="3017520"/>
            <a:ext cx="1737360" cy="502920"/>
          </a:xfrm>
          <a:prstGeom prst="rect">
            <a:avLst/>
          </a:prstGeom>
          <a:noFill/>
        </p:spPr>
        <p:txBody>
          <a:bodyPr wrap="square" anchor="ctr" lIns="0" rIns="0" tIns="0" bIns="0">
            <a:spAutoFit/>
          </a:bodyPr>
          <a:lstStyle/>
          <a:p>
            <a:pPr algn="ctr"/>
            <a:r>
              <a:rPr sz="1100" b="0">
                <a:solidFill>
                  <a:srgbClr val="475569"/>
                </a:solidFill>
                <a:latin typeface="Segoe UI"/>
              </a:rPr>
              <a:t>Rảnh</a:t>
            </a:r>
          </a:p>
        </p:txBody>
      </p:sp>
      <p:sp>
        <p:nvSpPr>
          <p:cNvPr id="23" name="Rectangle 22"/>
          <p:cNvSpPr/>
          <p:nvPr/>
        </p:nvSpPr>
        <p:spPr>
          <a:xfrm>
            <a:off x="3840480" y="3520439"/>
            <a:ext cx="1737360" cy="914400"/>
          </a:xfrm>
          <a:prstGeom prst="rect">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0" y="4507992"/>
            <a:ext cx="1737360" cy="292608"/>
          </a:xfrm>
          <a:prstGeom prst="rect">
            <a:avLst/>
          </a:prstGeom>
          <a:noFill/>
        </p:spPr>
        <p:txBody>
          <a:bodyPr wrap="square" anchor="ctr" lIns="0" rIns="0" tIns="0" bIns="0">
            <a:spAutoFit/>
          </a:bodyPr>
          <a:lstStyle/>
          <a:p>
            <a:pPr algn="ctr"/>
            <a:r>
              <a:rPr sz="1150" b="1">
                <a:solidFill>
                  <a:srgbClr val="475569"/>
                </a:solidFill>
                <a:latin typeface="Segoe UI"/>
              </a:rPr>
              <a:t>Công nhân 2</a:t>
            </a:r>
          </a:p>
        </p:txBody>
      </p:sp>
      <p:sp>
        <p:nvSpPr>
          <p:cNvPr id="25" name="Rectangle 24"/>
          <p:cNvSpPr/>
          <p:nvPr/>
        </p:nvSpPr>
        <p:spPr>
          <a:xfrm>
            <a:off x="6217920" y="3017520"/>
            <a:ext cx="1737360" cy="5486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3017520"/>
            <a:ext cx="1737360" cy="548640"/>
          </a:xfrm>
          <a:prstGeom prst="rect">
            <a:avLst/>
          </a:prstGeom>
          <a:noFill/>
        </p:spPr>
        <p:txBody>
          <a:bodyPr wrap="square" anchor="ctr" lIns="0" rIns="0" tIns="0" bIns="0">
            <a:spAutoFit/>
          </a:bodyPr>
          <a:lstStyle/>
          <a:p>
            <a:pPr algn="ctr"/>
            <a:r>
              <a:rPr sz="1100" b="0">
                <a:solidFill>
                  <a:srgbClr val="475569"/>
                </a:solidFill>
                <a:latin typeface="Segoe UI"/>
              </a:rPr>
              <a:t>Rảnh</a:t>
            </a:r>
          </a:p>
        </p:txBody>
      </p:sp>
      <p:sp>
        <p:nvSpPr>
          <p:cNvPr id="27" name="Rectangle 26"/>
          <p:cNvSpPr/>
          <p:nvPr/>
        </p:nvSpPr>
        <p:spPr>
          <a:xfrm>
            <a:off x="6217920" y="3566159"/>
            <a:ext cx="1737360" cy="868680"/>
          </a:xfrm>
          <a:prstGeom prst="rect">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4507992"/>
            <a:ext cx="1737360" cy="292608"/>
          </a:xfrm>
          <a:prstGeom prst="rect">
            <a:avLst/>
          </a:prstGeom>
          <a:noFill/>
        </p:spPr>
        <p:txBody>
          <a:bodyPr wrap="square" anchor="ctr" lIns="0" rIns="0" tIns="0" bIns="0">
            <a:spAutoFit/>
          </a:bodyPr>
          <a:lstStyle/>
          <a:p>
            <a:pPr algn="ctr"/>
            <a:r>
              <a:rPr sz="1150" b="1">
                <a:solidFill>
                  <a:srgbClr val="475569"/>
                </a:solidFill>
                <a:latin typeface="Segoe UI"/>
              </a:rPr>
              <a:t>Công nhân 3</a:t>
            </a:r>
          </a:p>
        </p:txBody>
      </p:sp>
      <p:sp>
        <p:nvSpPr>
          <p:cNvPr id="29" name="Rectangle 28"/>
          <p:cNvSpPr/>
          <p:nvPr/>
        </p:nvSpPr>
        <p:spPr>
          <a:xfrm>
            <a:off x="8595360" y="3017520"/>
            <a:ext cx="1737360" cy="66751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0" y="3017520"/>
            <a:ext cx="1737360" cy="667512"/>
          </a:xfrm>
          <a:prstGeom prst="rect">
            <a:avLst/>
          </a:prstGeom>
          <a:noFill/>
        </p:spPr>
        <p:txBody>
          <a:bodyPr wrap="square" anchor="ctr" lIns="0" rIns="0" tIns="0" bIns="0">
            <a:spAutoFit/>
          </a:bodyPr>
          <a:lstStyle/>
          <a:p>
            <a:pPr algn="ctr"/>
            <a:r>
              <a:rPr sz="1100" b="0">
                <a:solidFill>
                  <a:srgbClr val="475569"/>
                </a:solidFill>
                <a:latin typeface="Segoe UI"/>
              </a:rPr>
              <a:t>Rảnh</a:t>
            </a:r>
          </a:p>
        </p:txBody>
      </p:sp>
      <p:sp>
        <p:nvSpPr>
          <p:cNvPr id="31" name="Rectangle 30"/>
          <p:cNvSpPr/>
          <p:nvPr/>
        </p:nvSpPr>
        <p:spPr>
          <a:xfrm>
            <a:off x="8595360" y="3685031"/>
            <a:ext cx="1737360" cy="749808"/>
          </a:xfrm>
          <a:prstGeom prst="rect">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0" y="4507992"/>
            <a:ext cx="1737360" cy="292608"/>
          </a:xfrm>
          <a:prstGeom prst="rect">
            <a:avLst/>
          </a:prstGeom>
          <a:noFill/>
        </p:spPr>
        <p:txBody>
          <a:bodyPr wrap="square" anchor="ctr" lIns="0" rIns="0" tIns="0" bIns="0">
            <a:spAutoFit/>
          </a:bodyPr>
          <a:lstStyle/>
          <a:p>
            <a:pPr algn="ctr"/>
            <a:r>
              <a:rPr sz="1150" b="1">
                <a:solidFill>
                  <a:srgbClr val="475569"/>
                </a:solidFill>
                <a:latin typeface="Segoe UI"/>
              </a:rPr>
              <a:t>Công nhân 4</a:t>
            </a:r>
          </a:p>
        </p:txBody>
      </p:sp>
      <p:sp>
        <p:nvSpPr>
          <p:cNvPr id="33" name="TextBox 32"/>
          <p:cNvSpPr txBox="1"/>
          <p:nvPr/>
        </p:nvSpPr>
        <p:spPr>
          <a:xfrm>
            <a:off x="640080" y="4937759"/>
            <a:ext cx="11064240" cy="365760"/>
          </a:xfrm>
          <a:prstGeom prst="rect">
            <a:avLst/>
          </a:prstGeom>
          <a:noFill/>
        </p:spPr>
        <p:txBody>
          <a:bodyPr wrap="square" anchor="ctr" lIns="0" rIns="0" tIns="0" bIns="0">
            <a:spAutoFit/>
          </a:bodyPr>
          <a:lstStyle/>
          <a:p>
            <a:pPr algn="l"/>
            <a:r>
              <a:rPr sz="1250" b="1">
                <a:solidFill>
                  <a:srgbClr val="B45309"/>
                </a:solidFill>
                <a:latin typeface="Segoe UI"/>
              </a:rPr>
              <a:t>※ Màu xám là rảnh — giảm việc cho nút thắt (đỏ) thì cả chuyền nhanh hơn</a:t>
            </a:r>
          </a:p>
        </p:txBody>
      </p:sp>
      <p:sp>
        <p:nvSpPr>
          <p:cNvPr id="34" name="TextBox 33"/>
          <p:cNvSpPr txBox="1"/>
          <p:nvPr/>
        </p:nvSpPr>
        <p:spPr>
          <a:xfrm>
            <a:off x="548640" y="5074920"/>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mô phỏng — hiển thị công nhân nút thắt và thời gian rảnh.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13. Mô phỏng bố trí — Chạy thử theo phương án đã đổi</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13/17</a:t>
            </a:r>
          </a:p>
        </p:txBody>
      </p:sp>
      <p:graphicFrame>
        <p:nvGraphicFramePr>
          <p:cNvPr id="5" name="Table 4"/>
          <p:cNvGraphicFramePr>
            <a:graphicFrameLocks noGrp="1"/>
          </p:cNvGraphicFramePr>
          <p:nvPr/>
        </p:nvGraphicFramePr>
        <p:xfrm>
          <a:off x="640080" y="1143000"/>
          <a:ext cx="10881360" cy="1773936"/>
        </p:xfrm>
        <a:graphic>
          <a:graphicData uri="http://schemas.openxmlformats.org/drawingml/2006/table">
            <a:tbl>
              <a:tblPr firstRow="1" bandRow="1">
                <a:tableStyleId>{5C22544A-7EE6-4342-B048-85BDC9FD1C3A}</a:tableStyleId>
              </a:tblPr>
              <a:tblGrid>
                <a:gridCol w="5440680"/>
                <a:gridCol w="5440680"/>
              </a:tblGrid>
              <a:tr h="295656">
                <a:tc>
                  <a:txBody>
                    <a:bodyPr/>
                    <a:lstStyle/>
                    <a:p>
                      <a:r>
                        <a:rPr sz="1100" b="1">
                          <a:solidFill>
                            <a:srgbClr val="FFFFFF"/>
                          </a:solidFill>
                          <a:latin typeface="Segoe UI"/>
                        </a:rPr>
                        <a:t>Nội dung hiển thị</a:t>
                      </a:r>
                    </a:p>
                  </a:txBody>
                  <a:tcPr marL="54864" marR="54864">
                    <a:solidFill>
                      <a:srgbClr val="1E3A5F"/>
                    </a:solidFill>
                  </a:tcPr>
                </a:tc>
                <a:tc>
                  <a:txBody>
                    <a:bodyPr/>
                    <a:lstStyle/>
                    <a:p>
                      <a:r>
                        <a:rPr sz="1100" b="1">
                          <a:solidFill>
                            <a:srgbClr val="FFFFFF"/>
                          </a:solidFill>
                          <a:latin typeface="Segoe UI"/>
                        </a:rPr>
                        <a:t>Ý nghĩa</a:t>
                      </a:r>
                    </a:p>
                  </a:txBody>
                  <a:tcPr marL="54864" marR="54864">
                    <a:solidFill>
                      <a:srgbClr val="1E3A5F"/>
                    </a:solidFill>
                  </a:tcPr>
                </a:tc>
              </a:tr>
              <a:tr h="295656">
                <a:tc>
                  <a:txBody>
                    <a:bodyPr/>
                    <a:lstStyle/>
                    <a:p>
                      <a:pPr>
                        <a:lnSpc>
                          <a:spcPct val="95000"/>
                        </a:lnSpc>
                      </a:pPr>
                      <a:r>
                        <a:rPr sz="1100" b="0">
                          <a:solidFill>
                            <a:srgbClr val="111827"/>
                          </a:solidFill>
                          <a:latin typeface="Segoe UI"/>
                        </a:rPr>
                        <a:t>Cycle time (CT)</a:t>
                      </a:r>
                    </a:p>
                  </a:txBody>
                  <a:tcPr marL="54864" marR="54864" marT="18288" marB="18288">
                    <a:solidFill>
                      <a:srgbClr val="F1F5F9"/>
                    </a:solidFill>
                  </a:tcPr>
                </a:tc>
                <a:tc>
                  <a:txBody>
                    <a:bodyPr/>
                    <a:lstStyle/>
                    <a:p>
                      <a:pPr>
                        <a:lnSpc>
                          <a:spcPct val="95000"/>
                        </a:lnSpc>
                      </a:pPr>
                      <a:r>
                        <a:rPr sz="1100" b="0">
                          <a:solidFill>
                            <a:srgbClr val="111827"/>
                          </a:solidFill>
                          <a:latin typeface="Segoe UI"/>
                        </a:rPr>
                        <a:t>Thời gian chuyền cho ra một sản phẩm. Do </a:t>
                      </a:r>
                      <a:r>
                        <a:rPr sz="1100" b="1">
                          <a:solidFill>
                            <a:srgbClr val="111827"/>
                          </a:solidFill>
                          <a:latin typeface="Segoe UI"/>
                        </a:rPr>
                        <a:t>người chậm nhất</a:t>
                      </a:r>
                      <a:r>
                        <a:rPr sz="1100" b="0">
                          <a:solidFill>
                            <a:srgbClr val="111827"/>
                          </a:solidFill>
                          <a:latin typeface="Segoe UI"/>
                        </a:rPr>
                        <a:t> quyết định.</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Đánh dấu nút thắt</a:t>
                      </a:r>
                    </a:p>
                  </a:txBody>
                  <a:tcPr marL="54864" marR="54864" marT="18288" marB="18288">
                    <a:solidFill>
                      <a:srgbClr val="FFFFFF"/>
                    </a:solidFill>
                  </a:tcPr>
                </a:tc>
                <a:tc>
                  <a:txBody>
                    <a:bodyPr/>
                    <a:lstStyle/>
                    <a:p>
                      <a:pPr>
                        <a:lnSpc>
                          <a:spcPct val="95000"/>
                        </a:lnSpc>
                      </a:pPr>
                      <a:r>
                        <a:rPr sz="1100" b="0">
                          <a:solidFill>
                            <a:srgbClr val="111827"/>
                          </a:solidFill>
                          <a:latin typeface="Segoe UI"/>
                        </a:rPr>
                        <a:t>Người quyết định CT. Phải giảm ở đây thì chuyền mới nhanh hơn.</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Thời gian rảnh</a:t>
                      </a:r>
                    </a:p>
                  </a:txBody>
                  <a:tcPr marL="54864" marR="54864" marT="18288" marB="18288">
                    <a:solidFill>
                      <a:srgbClr val="F1F5F9"/>
                    </a:solidFill>
                  </a:tcPr>
                </a:tc>
                <a:tc>
                  <a:txBody>
                    <a:bodyPr/>
                    <a:lstStyle/>
                    <a:p>
                      <a:pPr>
                        <a:lnSpc>
                          <a:spcPct val="95000"/>
                        </a:lnSpc>
                      </a:pPr>
                      <a:r>
                        <a:rPr sz="1100" b="0">
                          <a:solidFill>
                            <a:srgbClr val="111827"/>
                          </a:solidFill>
                          <a:latin typeface="Segoe UI"/>
                        </a:rPr>
                        <a:t>Tổng thời gian chờ của từng người.</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Tỷ lệ cân bằng</a:t>
                      </a:r>
                    </a:p>
                  </a:txBody>
                  <a:tcPr marL="54864" marR="54864" marT="18288" marB="18288">
                    <a:solidFill>
                      <a:srgbClr val="FFFFFF"/>
                    </a:solidFill>
                  </a:tcPr>
                </a:tc>
                <a:tc>
                  <a:txBody>
                    <a:bodyPr/>
                    <a:lstStyle/>
                    <a:p>
                      <a:pPr>
                        <a:lnSpc>
                          <a:spcPct val="95000"/>
                        </a:lnSpc>
                      </a:pPr>
                      <a:r>
                        <a:rPr sz="1100" b="0">
                          <a:solidFill>
                            <a:srgbClr val="111827"/>
                          </a:solidFill>
                          <a:latin typeface="Segoe UI"/>
                        </a:rPr>
                        <a:t>Tổng khối lượng ÷ (CT × số người). Càng cao càng chia đều.</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Sản lượng mỗi giờ</a:t>
                      </a:r>
                    </a:p>
                  </a:txBody>
                  <a:tcPr marL="54864" marR="54864" marT="18288" marB="18288">
                    <a:solidFill>
                      <a:srgbClr val="F1F5F9"/>
                    </a:solidFill>
                  </a:tcPr>
                </a:tc>
                <a:tc>
                  <a:txBody>
                    <a:bodyPr/>
                    <a:lstStyle/>
                    <a:p>
                      <a:pPr>
                        <a:lnSpc>
                          <a:spcPct val="95000"/>
                        </a:lnSpc>
                      </a:pPr>
                      <a:r>
                        <a:rPr sz="1100" b="0">
                          <a:solidFill>
                            <a:srgbClr val="111827"/>
                          </a:solidFill>
                          <a:latin typeface="Segoe UI"/>
                        </a:rPr>
                        <a:t>3600 ÷ CT.</a:t>
                      </a:r>
                    </a:p>
                  </a:txBody>
                  <a:tcPr marL="54864" marR="54864" marT="18288" marB="18288">
                    <a:solidFill>
                      <a:srgbClr val="F1F5F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14. Dự đoán chuyền — Tính trước cho model mới</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AI·SMT có thể suy ra takt từ số linh kiện, nhưng MI thì không. Vì vậy phải tính bằng thời gian chuẩn đã tích lũy.</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14/17</a:t>
            </a:r>
          </a:p>
        </p:txBody>
      </p:sp>
      <p:sp>
        <p:nvSpPr>
          <p:cNvPr id="6" name="Oval 5"/>
          <p:cNvSpPr/>
          <p:nvPr/>
        </p:nvSpPr>
        <p:spPr>
          <a:xfrm>
            <a:off x="685800" y="1170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70432"/>
            <a:ext cx="274320" cy="274320"/>
          </a:xfrm>
          <a:prstGeom prst="rect">
            <a:avLst/>
          </a:prstGeom>
          <a:noFill/>
        </p:spPr>
        <p:txBody>
          <a:bodyPr wrap="square" anchor="ctr" lIns="0" rIns="0" tIns="0" bIns="0">
            <a:spAutoFit/>
          </a:bodyPr>
          <a:lstStyle/>
          <a:p>
            <a:pPr algn="ctr"/>
            <a:r>
              <a:rPr sz="1200" b="1">
                <a:solidFill>
                  <a:srgbClr val="FFFFFF"/>
                </a:solidFill>
                <a:latin typeface="Segoe UI"/>
              </a:rPr>
              <a:t>1</a:t>
            </a:r>
          </a:p>
        </p:txBody>
      </p:sp>
      <p:sp>
        <p:nvSpPr>
          <p:cNvPr id="8" name="TextBox 7"/>
          <p:cNvSpPr txBox="1"/>
          <p:nvPr/>
        </p:nvSpPr>
        <p:spPr>
          <a:xfrm>
            <a:off x="1097280" y="1143000"/>
            <a:ext cx="10424160" cy="310896"/>
          </a:xfrm>
          <a:prstGeom prst="rect">
            <a:avLst/>
          </a:prstGeom>
          <a:noFill/>
        </p:spPr>
        <p:txBody>
          <a:bodyPr wrap="square" anchor="ctr" lIns="0" rIns="0" tIns="0" bIns="0">
            <a:spAutoFit/>
          </a:bodyPr>
          <a:lstStyle/>
          <a:p>
            <a:pPr algn="l"/>
            <a:r>
              <a:rPr sz="1300" b="0">
                <a:solidFill>
                  <a:srgbClr val="111827"/>
                </a:solidFill>
                <a:latin typeface="Segoe UI"/>
              </a:rPr>
              <a:t>Mở </a:t>
            </a:r>
            <a:r>
              <a:rPr sz="1300" b="1">
                <a:solidFill>
                  <a:srgbClr val="111827"/>
                </a:solidFill>
                <a:latin typeface="Segoe UI"/>
              </a:rPr>
              <a:t>📈 Dự đoán chuyền</a:t>
            </a:r>
            <a:r>
              <a:rPr sz="1300" b="0">
                <a:solidFill>
                  <a:srgbClr val="111827"/>
                </a:solidFill>
                <a:latin typeface="Segoe UI"/>
              </a:rPr>
              <a:t>.</a:t>
            </a:r>
          </a:p>
        </p:txBody>
      </p:sp>
      <p:sp>
        <p:nvSpPr>
          <p:cNvPr id="9" name="Oval 8"/>
          <p:cNvSpPr/>
          <p:nvPr/>
        </p:nvSpPr>
        <p:spPr>
          <a:xfrm>
            <a:off x="685800" y="14996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9616"/>
            <a:ext cx="274320" cy="274320"/>
          </a:xfrm>
          <a:prstGeom prst="rect">
            <a:avLst/>
          </a:prstGeom>
          <a:noFill/>
        </p:spPr>
        <p:txBody>
          <a:bodyPr wrap="square" anchor="ctr" lIns="0" rIns="0" tIns="0" bIns="0">
            <a:spAutoFit/>
          </a:bodyPr>
          <a:lstStyle/>
          <a:p>
            <a:pPr algn="ctr"/>
            <a:r>
              <a:rPr sz="1200" b="1">
                <a:solidFill>
                  <a:srgbClr val="FFFFFF"/>
                </a:solidFill>
                <a:latin typeface="Segoe UI"/>
              </a:rPr>
              <a:t>2</a:t>
            </a:r>
          </a:p>
        </p:txBody>
      </p:sp>
      <p:sp>
        <p:nvSpPr>
          <p:cNvPr id="11" name="TextBox 10"/>
          <p:cNvSpPr txBox="1"/>
          <p:nvPr/>
        </p:nvSpPr>
        <p:spPr>
          <a:xfrm>
            <a:off x="1097280" y="1472184"/>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Nhập linh kiện và số lượng của model mới. (Chọn từ danh sách rồi nhập số lượng)</a:t>
            </a:r>
          </a:p>
        </p:txBody>
      </p:sp>
      <p:sp>
        <p:nvSpPr>
          <p:cNvPr id="12" name="Oval 11"/>
          <p:cNvSpPr/>
          <p:nvPr/>
        </p:nvSpPr>
        <p:spPr>
          <a:xfrm>
            <a:off x="685800" y="1828799"/>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28799"/>
            <a:ext cx="274320" cy="274320"/>
          </a:xfrm>
          <a:prstGeom prst="rect">
            <a:avLst/>
          </a:prstGeom>
          <a:noFill/>
        </p:spPr>
        <p:txBody>
          <a:bodyPr wrap="square" anchor="ctr" lIns="0" rIns="0" tIns="0" bIns="0">
            <a:spAutoFit/>
          </a:bodyPr>
          <a:lstStyle/>
          <a:p>
            <a:pPr algn="ctr"/>
            <a:r>
              <a:rPr sz="1200" b="1">
                <a:solidFill>
                  <a:srgbClr val="FFFFFF"/>
                </a:solidFill>
                <a:latin typeface="Segoe UI"/>
              </a:rPr>
              <a:t>3</a:t>
            </a:r>
          </a:p>
        </p:txBody>
      </p:sp>
      <p:sp>
        <p:nvSpPr>
          <p:cNvPr id="14" name="TextBox 13"/>
          <p:cNvSpPr txBox="1"/>
          <p:nvPr/>
        </p:nvSpPr>
        <p:spPr>
          <a:xfrm>
            <a:off x="1097280" y="1801367"/>
            <a:ext cx="10424160" cy="310896"/>
          </a:xfrm>
          <a:prstGeom prst="rect">
            <a:avLst/>
          </a:prstGeom>
          <a:noFill/>
        </p:spPr>
        <p:txBody>
          <a:bodyPr wrap="square" anchor="ctr" lIns="0" rIns="0" tIns="0" bIns="0">
            <a:spAutoFit/>
          </a:bodyPr>
          <a:lstStyle/>
          <a:p>
            <a:pPr algn="l"/>
            <a:r>
              <a:rPr sz="1300" b="0">
                <a:solidFill>
                  <a:srgbClr val="111827"/>
                </a:solidFill>
                <a:latin typeface="Segoe UI"/>
              </a:rPr>
              <a:t>Nhập thời gian vận hành và mục tiêu sản lượng ngày, </a:t>
            </a:r>
            <a:r>
              <a:rPr sz="1300" b="1">
                <a:solidFill>
                  <a:srgbClr val="111827"/>
                </a:solidFill>
                <a:latin typeface="Segoe UI"/>
              </a:rPr>
              <a:t>takt time mục tiêu</a:t>
            </a:r>
            <a:r>
              <a:rPr sz="1300" b="0">
                <a:solidFill>
                  <a:srgbClr val="111827"/>
                </a:solidFill>
                <a:latin typeface="Segoe UI"/>
              </a:rPr>
              <a:t> sẽ được tính ngược.</a:t>
            </a:r>
          </a:p>
        </p:txBody>
      </p:sp>
      <p:sp>
        <p:nvSpPr>
          <p:cNvPr id="15" name="Oval 14"/>
          <p:cNvSpPr/>
          <p:nvPr/>
        </p:nvSpPr>
        <p:spPr>
          <a:xfrm>
            <a:off x="685800" y="2157983"/>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57983"/>
            <a:ext cx="274320" cy="274320"/>
          </a:xfrm>
          <a:prstGeom prst="rect">
            <a:avLst/>
          </a:prstGeom>
          <a:noFill/>
        </p:spPr>
        <p:txBody>
          <a:bodyPr wrap="square" anchor="ctr" lIns="0" rIns="0" tIns="0" bIns="0">
            <a:spAutoFit/>
          </a:bodyPr>
          <a:lstStyle/>
          <a:p>
            <a:pPr algn="ctr"/>
            <a:r>
              <a:rPr sz="1200" b="1">
                <a:solidFill>
                  <a:srgbClr val="FFFFFF"/>
                </a:solidFill>
                <a:latin typeface="Segoe UI"/>
              </a:rPr>
              <a:t>4</a:t>
            </a:r>
          </a:p>
        </p:txBody>
      </p:sp>
      <p:sp>
        <p:nvSpPr>
          <p:cNvPr id="17" name="TextBox 16"/>
          <p:cNvSpPr txBox="1"/>
          <p:nvPr/>
        </p:nvSpPr>
        <p:spPr>
          <a:xfrm>
            <a:off x="1097280" y="2130551"/>
            <a:ext cx="10424160" cy="310896"/>
          </a:xfrm>
          <a:prstGeom prst="rect">
            <a:avLst/>
          </a:prstGeom>
          <a:noFill/>
        </p:spPr>
        <p:txBody>
          <a:bodyPr wrap="square" anchor="ctr" lIns="0" rIns="0" tIns="0" bIns="0">
            <a:spAutoFit/>
          </a:bodyPr>
          <a:lstStyle/>
          <a:p>
            <a:pPr algn="l"/>
            <a:r>
              <a:rPr sz="1300" b="0">
                <a:solidFill>
                  <a:srgbClr val="111827"/>
                </a:solidFill>
                <a:latin typeface="Segoe UI"/>
              </a:rPr>
              <a:t>Kết quả cho ra </a:t>
            </a:r>
            <a:r>
              <a:rPr sz="1300" b="1">
                <a:solidFill>
                  <a:srgbClr val="111827"/>
                </a:solidFill>
                <a:latin typeface="Segoe UI"/>
              </a:rPr>
              <a:t>cycle time dự kiến · số người cần · tỷ lệ cân bằng · trình tự thao tác từng công đoạn</a:t>
            </a:r>
            <a:r>
              <a:rPr sz="1300" b="0">
                <a:solidFill>
                  <a:srgbClr val="111827"/>
                </a:solidFill>
                <a:latin typeface="Segoe UI"/>
              </a:rPr>
              <a:t>.</a:t>
            </a:r>
          </a:p>
        </p:txBody>
      </p:sp>
      <p:sp>
        <p:nvSpPr>
          <p:cNvPr id="18" name="Oval 17"/>
          <p:cNvSpPr/>
          <p:nvPr/>
        </p:nvSpPr>
        <p:spPr>
          <a:xfrm>
            <a:off x="685800" y="2487167"/>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487167"/>
            <a:ext cx="274320" cy="274320"/>
          </a:xfrm>
          <a:prstGeom prst="rect">
            <a:avLst/>
          </a:prstGeom>
          <a:noFill/>
        </p:spPr>
        <p:txBody>
          <a:bodyPr wrap="square" anchor="ctr" lIns="0" rIns="0" tIns="0" bIns="0">
            <a:spAutoFit/>
          </a:bodyPr>
          <a:lstStyle/>
          <a:p>
            <a:pPr algn="ctr"/>
            <a:r>
              <a:rPr sz="1200" b="1">
                <a:solidFill>
                  <a:srgbClr val="FFFFFF"/>
                </a:solidFill>
                <a:latin typeface="Segoe UI"/>
              </a:rPr>
              <a:t>5</a:t>
            </a:r>
          </a:p>
        </p:txBody>
      </p:sp>
      <p:sp>
        <p:nvSpPr>
          <p:cNvPr id="20" name="TextBox 19"/>
          <p:cNvSpPr txBox="1"/>
          <p:nvPr/>
        </p:nvSpPr>
        <p:spPr>
          <a:xfrm>
            <a:off x="1097280" y="2459735"/>
            <a:ext cx="10424160" cy="310896"/>
          </a:xfrm>
          <a:prstGeom prst="rect">
            <a:avLst/>
          </a:prstGeom>
          <a:noFill/>
        </p:spPr>
        <p:txBody>
          <a:bodyPr wrap="square" anchor="ctr" lIns="0" rIns="0" tIns="0" bIns="0">
            <a:spAutoFit/>
          </a:bodyPr>
          <a:lstStyle/>
          <a:p>
            <a:pPr algn="l"/>
            <a:r>
              <a:rPr sz="1300" b="0">
                <a:solidFill>
                  <a:srgbClr val="111827"/>
                </a:solidFill>
                <a:latin typeface="Segoe UI"/>
              </a:rPr>
              <a:t>Lưu cấu hình để lần sau mở lại, cũng có thể xuất Excel.</a:t>
            </a:r>
          </a:p>
        </p:txBody>
      </p:sp>
      <p:sp>
        <p:nvSpPr>
          <p:cNvPr id="21" name="Rounded Rectangle 20"/>
          <p:cNvSpPr/>
          <p:nvPr/>
        </p:nvSpPr>
        <p:spPr>
          <a:xfrm>
            <a:off x="640080" y="3200399"/>
            <a:ext cx="3931920" cy="265176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310127"/>
            <a:ext cx="3474720" cy="320040"/>
          </a:xfrm>
          <a:prstGeom prst="rect">
            <a:avLst/>
          </a:prstGeom>
          <a:noFill/>
        </p:spPr>
        <p:txBody>
          <a:bodyPr wrap="square" anchor="ctr" lIns="0" rIns="0" tIns="0" bIns="0">
            <a:spAutoFit/>
          </a:bodyPr>
          <a:lstStyle/>
          <a:p>
            <a:pPr algn="l"/>
            <a:r>
              <a:rPr sz="1300" b="1">
                <a:solidFill>
                  <a:srgbClr val="2563EB"/>
                </a:solidFill>
                <a:latin typeface="Segoe UI"/>
              </a:rPr>
              <a:t>Nhập cấu hình linh kiện (BOM)</a:t>
            </a:r>
          </a:p>
        </p:txBody>
      </p:sp>
      <p:sp>
        <p:nvSpPr>
          <p:cNvPr id="23" name="Rectangle 22"/>
          <p:cNvSpPr/>
          <p:nvPr/>
        </p:nvSpPr>
        <p:spPr>
          <a:xfrm>
            <a:off x="868680" y="3703319"/>
            <a:ext cx="3474720" cy="34747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03319"/>
            <a:ext cx="3291840" cy="347472"/>
          </a:xfrm>
          <a:prstGeom prst="rect">
            <a:avLst/>
          </a:prstGeom>
          <a:noFill/>
        </p:spPr>
        <p:txBody>
          <a:bodyPr wrap="square" anchor="ctr" lIns="0" rIns="0" tIns="0" bIns="0">
            <a:spAutoFit/>
          </a:bodyPr>
          <a:lstStyle/>
          <a:p>
            <a:pPr algn="l"/>
            <a:r>
              <a:rPr sz="1150" b="0">
                <a:solidFill>
                  <a:srgbClr val="475569"/>
                </a:solidFill>
                <a:latin typeface="Segoe UI"/>
              </a:rPr>
              <a:t>Chọn linh kiện... ▾</a:t>
            </a:r>
          </a:p>
        </p:txBody>
      </p:sp>
      <p:sp>
        <p:nvSpPr>
          <p:cNvPr id="25" name="TextBox 24"/>
          <p:cNvSpPr txBox="1"/>
          <p:nvPr/>
        </p:nvSpPr>
        <p:spPr>
          <a:xfrm>
            <a:off x="868680" y="4160519"/>
            <a:ext cx="822960" cy="320040"/>
          </a:xfrm>
          <a:prstGeom prst="rect">
            <a:avLst/>
          </a:prstGeom>
          <a:noFill/>
        </p:spPr>
        <p:txBody>
          <a:bodyPr wrap="square" anchor="ctr" lIns="0" rIns="0" tIns="0" bIns="0">
            <a:spAutoFit/>
          </a:bodyPr>
          <a:lstStyle/>
          <a:p>
            <a:pPr algn="l"/>
            <a:r>
              <a:rPr sz="1150" b="0">
                <a:solidFill>
                  <a:srgbClr val="475569"/>
                </a:solidFill>
                <a:latin typeface="Segoe UI"/>
              </a:rPr>
              <a:t>Số lượng</a:t>
            </a:r>
          </a:p>
        </p:txBody>
      </p:sp>
      <p:sp>
        <p:nvSpPr>
          <p:cNvPr id="26" name="Rectangle 25"/>
          <p:cNvSpPr/>
          <p:nvPr/>
        </p:nvSpPr>
        <p:spPr>
          <a:xfrm>
            <a:off x="1645920" y="4160519"/>
            <a:ext cx="640080" cy="32004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45920" y="4160519"/>
            <a:ext cx="640080" cy="320040"/>
          </a:xfrm>
          <a:prstGeom prst="rect">
            <a:avLst/>
          </a:prstGeom>
          <a:noFill/>
        </p:spPr>
        <p:txBody>
          <a:bodyPr wrap="square" anchor="ctr" lIns="0" rIns="0" tIns="0" bIns="0">
            <a:spAutoFit/>
          </a:bodyPr>
          <a:lstStyle/>
          <a:p>
            <a:pPr algn="ctr"/>
            <a:r>
              <a:rPr sz="1200" b="1">
                <a:solidFill>
                  <a:srgbClr val="111827"/>
                </a:solidFill>
                <a:latin typeface="Segoe UI"/>
              </a:rPr>
              <a:t>2</a:t>
            </a:r>
          </a:p>
        </p:txBody>
      </p:sp>
      <p:sp>
        <p:nvSpPr>
          <p:cNvPr id="28" name="Rounded Rectangle 27"/>
          <p:cNvSpPr/>
          <p:nvPr/>
        </p:nvSpPr>
        <p:spPr>
          <a:xfrm>
            <a:off x="2423160" y="4160519"/>
            <a:ext cx="914400" cy="32004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23160" y="4160519"/>
            <a:ext cx="914400" cy="320040"/>
          </a:xfrm>
          <a:prstGeom prst="rect">
            <a:avLst/>
          </a:prstGeom>
          <a:noFill/>
        </p:spPr>
        <p:txBody>
          <a:bodyPr wrap="square" anchor="ctr" lIns="0" rIns="0" tIns="0" bIns="0">
            <a:spAutoFit/>
          </a:bodyPr>
          <a:lstStyle/>
          <a:p>
            <a:pPr algn="ctr"/>
            <a:r>
              <a:rPr sz="1150" b="1">
                <a:solidFill>
                  <a:srgbClr val="FFFFFF"/>
                </a:solidFill>
                <a:latin typeface="Segoe UI"/>
              </a:rPr>
              <a:t>+ Thêm</a:t>
            </a:r>
          </a:p>
        </p:txBody>
      </p:sp>
      <p:sp>
        <p:nvSpPr>
          <p:cNvPr id="30" name="Rectangle 29"/>
          <p:cNvSpPr/>
          <p:nvPr/>
        </p:nvSpPr>
        <p:spPr>
          <a:xfrm>
            <a:off x="868680" y="4663440"/>
            <a:ext cx="3474720" cy="3291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63440"/>
            <a:ext cx="2194560" cy="329184"/>
          </a:xfrm>
          <a:prstGeom prst="rect">
            <a:avLst/>
          </a:prstGeom>
          <a:noFill/>
        </p:spPr>
        <p:txBody>
          <a:bodyPr wrap="square" anchor="ctr" lIns="0" rIns="0" tIns="0" bIns="0">
            <a:spAutoFit/>
          </a:bodyPr>
          <a:lstStyle/>
          <a:p>
            <a:pPr algn="l"/>
            <a:r>
              <a:rPr sz="1100" b="0">
                <a:solidFill>
                  <a:srgbClr val="111827"/>
                </a:solidFill>
                <a:latin typeface="Segoe UI"/>
              </a:rPr>
              <a:t>A-1001(CAP-ELEC)</a:t>
            </a:r>
          </a:p>
        </p:txBody>
      </p:sp>
      <p:sp>
        <p:nvSpPr>
          <p:cNvPr id="32" name="TextBox 31"/>
          <p:cNvSpPr txBox="1"/>
          <p:nvPr/>
        </p:nvSpPr>
        <p:spPr>
          <a:xfrm>
            <a:off x="3200400" y="4663440"/>
            <a:ext cx="457200" cy="329184"/>
          </a:xfrm>
          <a:prstGeom prst="rect">
            <a:avLst/>
          </a:prstGeom>
          <a:noFill/>
        </p:spPr>
        <p:txBody>
          <a:bodyPr wrap="square" anchor="ctr" lIns="0" rIns="0" tIns="0" bIns="0">
            <a:spAutoFit/>
          </a:bodyPr>
          <a:lstStyle/>
          <a:p>
            <a:pPr algn="l"/>
            <a:r>
              <a:rPr sz="1100" b="0">
                <a:solidFill>
                  <a:srgbClr val="475569"/>
                </a:solidFill>
                <a:latin typeface="Segoe UI"/>
              </a:rPr>
              <a:t>×1</a:t>
            </a:r>
          </a:p>
        </p:txBody>
      </p:sp>
      <p:sp>
        <p:nvSpPr>
          <p:cNvPr id="33" name="TextBox 32"/>
          <p:cNvSpPr txBox="1"/>
          <p:nvPr/>
        </p:nvSpPr>
        <p:spPr>
          <a:xfrm>
            <a:off x="3657600" y="4663440"/>
            <a:ext cx="640080" cy="329184"/>
          </a:xfrm>
          <a:prstGeom prst="rect">
            <a:avLst/>
          </a:prstGeom>
          <a:noFill/>
        </p:spPr>
        <p:txBody>
          <a:bodyPr wrap="square" anchor="ctr" lIns="0" rIns="0" tIns="0" bIns="0">
            <a:spAutoFit/>
          </a:bodyPr>
          <a:lstStyle/>
          <a:p>
            <a:pPr algn="l"/>
            <a:r>
              <a:rPr sz="1100" b="1">
                <a:solidFill>
                  <a:srgbClr val="7C3AED"/>
                </a:solidFill>
                <a:latin typeface="Segoe UI"/>
              </a:rPr>
              <a:t>4.2s</a:t>
            </a:r>
          </a:p>
        </p:txBody>
      </p:sp>
      <p:sp>
        <p:nvSpPr>
          <p:cNvPr id="34" name="Rectangle 33"/>
          <p:cNvSpPr/>
          <p:nvPr/>
        </p:nvSpPr>
        <p:spPr>
          <a:xfrm>
            <a:off x="868680" y="5047488"/>
            <a:ext cx="3474720" cy="3291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047488"/>
            <a:ext cx="2194560" cy="329184"/>
          </a:xfrm>
          <a:prstGeom prst="rect">
            <a:avLst/>
          </a:prstGeom>
          <a:noFill/>
        </p:spPr>
        <p:txBody>
          <a:bodyPr wrap="square" anchor="ctr" lIns="0" rIns="0" tIns="0" bIns="0">
            <a:spAutoFit/>
          </a:bodyPr>
          <a:lstStyle/>
          <a:p>
            <a:pPr algn="l"/>
            <a:r>
              <a:rPr sz="1100" b="0">
                <a:solidFill>
                  <a:srgbClr val="111827"/>
                </a:solidFill>
                <a:latin typeface="Segoe UI"/>
              </a:rPr>
              <a:t>A-1002(CAP-ELEC)</a:t>
            </a:r>
          </a:p>
        </p:txBody>
      </p:sp>
      <p:sp>
        <p:nvSpPr>
          <p:cNvPr id="36" name="TextBox 35"/>
          <p:cNvSpPr txBox="1"/>
          <p:nvPr/>
        </p:nvSpPr>
        <p:spPr>
          <a:xfrm>
            <a:off x="3200400" y="5047488"/>
            <a:ext cx="457200" cy="329184"/>
          </a:xfrm>
          <a:prstGeom prst="rect">
            <a:avLst/>
          </a:prstGeom>
          <a:noFill/>
        </p:spPr>
        <p:txBody>
          <a:bodyPr wrap="square" anchor="ctr" lIns="0" rIns="0" tIns="0" bIns="0">
            <a:spAutoFit/>
          </a:bodyPr>
          <a:lstStyle/>
          <a:p>
            <a:pPr algn="l"/>
            <a:r>
              <a:rPr sz="1100" b="0">
                <a:solidFill>
                  <a:srgbClr val="475569"/>
                </a:solidFill>
                <a:latin typeface="Segoe UI"/>
              </a:rPr>
              <a:t>×2</a:t>
            </a:r>
          </a:p>
        </p:txBody>
      </p:sp>
      <p:sp>
        <p:nvSpPr>
          <p:cNvPr id="37" name="TextBox 36"/>
          <p:cNvSpPr txBox="1"/>
          <p:nvPr/>
        </p:nvSpPr>
        <p:spPr>
          <a:xfrm>
            <a:off x="3657600" y="5047488"/>
            <a:ext cx="640080" cy="329184"/>
          </a:xfrm>
          <a:prstGeom prst="rect">
            <a:avLst/>
          </a:prstGeom>
          <a:noFill/>
        </p:spPr>
        <p:txBody>
          <a:bodyPr wrap="square" anchor="ctr" lIns="0" rIns="0" tIns="0" bIns="0">
            <a:spAutoFit/>
          </a:bodyPr>
          <a:lstStyle/>
          <a:p>
            <a:pPr algn="l"/>
            <a:r>
              <a:rPr sz="1100" b="1">
                <a:solidFill>
                  <a:srgbClr val="7C3AED"/>
                </a:solidFill>
                <a:latin typeface="Segoe UI"/>
              </a:rPr>
              <a:t>5.2s</a:t>
            </a:r>
          </a:p>
        </p:txBody>
      </p:sp>
      <p:sp>
        <p:nvSpPr>
          <p:cNvPr id="38" name="Rectangle 37"/>
          <p:cNvSpPr/>
          <p:nvPr/>
        </p:nvSpPr>
        <p:spPr>
          <a:xfrm>
            <a:off x="868680" y="5431536"/>
            <a:ext cx="3474720" cy="3291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431536"/>
            <a:ext cx="2194560" cy="329184"/>
          </a:xfrm>
          <a:prstGeom prst="rect">
            <a:avLst/>
          </a:prstGeom>
          <a:noFill/>
        </p:spPr>
        <p:txBody>
          <a:bodyPr wrap="square" anchor="ctr" lIns="0" rIns="0" tIns="0" bIns="0">
            <a:spAutoFit/>
          </a:bodyPr>
          <a:lstStyle/>
          <a:p>
            <a:pPr algn="l"/>
            <a:r>
              <a:rPr sz="1100" b="0">
                <a:solidFill>
                  <a:srgbClr val="111827"/>
                </a:solidFill>
                <a:latin typeface="Segoe UI"/>
              </a:rPr>
              <a:t>A-1003(CAP-ELEC)</a:t>
            </a:r>
          </a:p>
        </p:txBody>
      </p:sp>
      <p:sp>
        <p:nvSpPr>
          <p:cNvPr id="40" name="TextBox 39"/>
          <p:cNvSpPr txBox="1"/>
          <p:nvPr/>
        </p:nvSpPr>
        <p:spPr>
          <a:xfrm>
            <a:off x="3200400" y="5431536"/>
            <a:ext cx="457200" cy="329184"/>
          </a:xfrm>
          <a:prstGeom prst="rect">
            <a:avLst/>
          </a:prstGeom>
          <a:noFill/>
        </p:spPr>
        <p:txBody>
          <a:bodyPr wrap="square" anchor="ctr" lIns="0" rIns="0" tIns="0" bIns="0">
            <a:spAutoFit/>
          </a:bodyPr>
          <a:lstStyle/>
          <a:p>
            <a:pPr algn="l"/>
            <a:r>
              <a:rPr sz="1100" b="0">
                <a:solidFill>
                  <a:srgbClr val="475569"/>
                </a:solidFill>
                <a:latin typeface="Segoe UI"/>
              </a:rPr>
              <a:t>×3</a:t>
            </a:r>
          </a:p>
        </p:txBody>
      </p:sp>
      <p:sp>
        <p:nvSpPr>
          <p:cNvPr id="41" name="TextBox 40"/>
          <p:cNvSpPr txBox="1"/>
          <p:nvPr/>
        </p:nvSpPr>
        <p:spPr>
          <a:xfrm>
            <a:off x="3657600" y="5431536"/>
            <a:ext cx="640080" cy="329184"/>
          </a:xfrm>
          <a:prstGeom prst="rect">
            <a:avLst/>
          </a:prstGeom>
          <a:noFill/>
        </p:spPr>
        <p:txBody>
          <a:bodyPr wrap="square" anchor="ctr" lIns="0" rIns="0" tIns="0" bIns="0">
            <a:spAutoFit/>
          </a:bodyPr>
          <a:lstStyle/>
          <a:p>
            <a:pPr algn="l"/>
            <a:r>
              <a:rPr sz="1100" b="1">
                <a:solidFill>
                  <a:srgbClr val="7C3AED"/>
                </a:solidFill>
                <a:latin typeface="Segoe UI"/>
              </a:rPr>
              <a:t>6.2s</a:t>
            </a:r>
          </a:p>
        </p:txBody>
      </p:sp>
      <p:sp>
        <p:nvSpPr>
          <p:cNvPr id="42" name="Rounded Rectangle 41"/>
          <p:cNvSpPr/>
          <p:nvPr/>
        </p:nvSpPr>
        <p:spPr>
          <a:xfrm>
            <a:off x="4892040" y="3200399"/>
            <a:ext cx="2103120" cy="86868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56631" y="3291839"/>
            <a:ext cx="1828800" cy="274320"/>
          </a:xfrm>
          <a:prstGeom prst="rect">
            <a:avLst/>
          </a:prstGeom>
          <a:noFill/>
        </p:spPr>
        <p:txBody>
          <a:bodyPr wrap="square" anchor="ctr" lIns="0" rIns="0" tIns="0" bIns="0">
            <a:spAutoFit/>
          </a:bodyPr>
          <a:lstStyle/>
          <a:p>
            <a:pPr algn="l"/>
            <a:r>
              <a:rPr sz="1100" b="0">
                <a:solidFill>
                  <a:srgbClr val="475569"/>
                </a:solidFill>
                <a:latin typeface="Segoe UI"/>
              </a:rPr>
              <a:t>Cycle time dự kiến</a:t>
            </a:r>
          </a:p>
        </p:txBody>
      </p:sp>
      <p:sp>
        <p:nvSpPr>
          <p:cNvPr id="44" name="TextBox 43"/>
          <p:cNvSpPr txBox="1"/>
          <p:nvPr/>
        </p:nvSpPr>
        <p:spPr>
          <a:xfrm>
            <a:off x="5056631" y="3584447"/>
            <a:ext cx="1828800" cy="411480"/>
          </a:xfrm>
          <a:prstGeom prst="rect">
            <a:avLst/>
          </a:prstGeom>
          <a:noFill/>
        </p:spPr>
        <p:txBody>
          <a:bodyPr wrap="square" anchor="ctr" lIns="0" rIns="0" tIns="0" bIns="0">
            <a:spAutoFit/>
          </a:bodyPr>
          <a:lstStyle/>
          <a:p>
            <a:pPr algn="l"/>
            <a:r>
              <a:rPr sz="1900" b="1">
                <a:solidFill>
                  <a:srgbClr val="2563EB"/>
                </a:solidFill>
                <a:latin typeface="Segoe UI"/>
              </a:rPr>
              <a:t>22.4s</a:t>
            </a:r>
          </a:p>
        </p:txBody>
      </p:sp>
      <p:sp>
        <p:nvSpPr>
          <p:cNvPr id="45" name="Rounded Rectangle 44"/>
          <p:cNvSpPr/>
          <p:nvPr/>
        </p:nvSpPr>
        <p:spPr>
          <a:xfrm>
            <a:off x="7178040" y="3200399"/>
            <a:ext cx="2103120" cy="86868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2631" y="3291839"/>
            <a:ext cx="1828800" cy="274320"/>
          </a:xfrm>
          <a:prstGeom prst="rect">
            <a:avLst/>
          </a:prstGeom>
          <a:noFill/>
        </p:spPr>
        <p:txBody>
          <a:bodyPr wrap="square" anchor="ctr" lIns="0" rIns="0" tIns="0" bIns="0">
            <a:spAutoFit/>
          </a:bodyPr>
          <a:lstStyle/>
          <a:p>
            <a:pPr algn="l"/>
            <a:r>
              <a:rPr sz="1100" b="0">
                <a:solidFill>
                  <a:srgbClr val="475569"/>
                </a:solidFill>
                <a:latin typeface="Segoe UI"/>
              </a:rPr>
              <a:t>Số người cần</a:t>
            </a:r>
          </a:p>
        </p:txBody>
      </p:sp>
      <p:sp>
        <p:nvSpPr>
          <p:cNvPr id="47" name="TextBox 46"/>
          <p:cNvSpPr txBox="1"/>
          <p:nvPr/>
        </p:nvSpPr>
        <p:spPr>
          <a:xfrm>
            <a:off x="7342631" y="3584447"/>
            <a:ext cx="1828800" cy="411480"/>
          </a:xfrm>
          <a:prstGeom prst="rect">
            <a:avLst/>
          </a:prstGeom>
          <a:noFill/>
        </p:spPr>
        <p:txBody>
          <a:bodyPr wrap="square" anchor="ctr" lIns="0" rIns="0" tIns="0" bIns="0">
            <a:spAutoFit/>
          </a:bodyPr>
          <a:lstStyle/>
          <a:p>
            <a:pPr algn="l"/>
            <a:r>
              <a:rPr sz="1900" b="1">
                <a:solidFill>
                  <a:srgbClr val="B45309"/>
                </a:solidFill>
                <a:latin typeface="Segoe UI"/>
              </a:rPr>
              <a:t>5 người</a:t>
            </a:r>
          </a:p>
        </p:txBody>
      </p:sp>
      <p:sp>
        <p:nvSpPr>
          <p:cNvPr id="48" name="Rounded Rectangle 47"/>
          <p:cNvSpPr/>
          <p:nvPr/>
        </p:nvSpPr>
        <p:spPr>
          <a:xfrm>
            <a:off x="9464040" y="3200399"/>
            <a:ext cx="2103120" cy="868680"/>
          </a:xfrm>
          <a:prstGeom prst="roundRect">
            <a:avLst>
              <a:gd name="adj" fmla="val 8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28632" y="3291839"/>
            <a:ext cx="1828800" cy="274320"/>
          </a:xfrm>
          <a:prstGeom prst="rect">
            <a:avLst/>
          </a:prstGeom>
          <a:noFill/>
        </p:spPr>
        <p:txBody>
          <a:bodyPr wrap="square" anchor="ctr" lIns="0" rIns="0" tIns="0" bIns="0">
            <a:spAutoFit/>
          </a:bodyPr>
          <a:lstStyle/>
          <a:p>
            <a:pPr algn="l"/>
            <a:r>
              <a:rPr sz="1100" b="0">
                <a:solidFill>
                  <a:srgbClr val="475569"/>
                </a:solidFill>
                <a:latin typeface="Segoe UI"/>
              </a:rPr>
              <a:t>Tỷ lệ cân bằng</a:t>
            </a:r>
          </a:p>
        </p:txBody>
      </p:sp>
      <p:sp>
        <p:nvSpPr>
          <p:cNvPr id="50" name="TextBox 49"/>
          <p:cNvSpPr txBox="1"/>
          <p:nvPr/>
        </p:nvSpPr>
        <p:spPr>
          <a:xfrm>
            <a:off x="9628632" y="3584447"/>
            <a:ext cx="1828800" cy="411480"/>
          </a:xfrm>
          <a:prstGeom prst="rect">
            <a:avLst/>
          </a:prstGeom>
          <a:noFill/>
        </p:spPr>
        <p:txBody>
          <a:bodyPr wrap="square" anchor="ctr" lIns="0" rIns="0" tIns="0" bIns="0">
            <a:spAutoFit/>
          </a:bodyPr>
          <a:lstStyle/>
          <a:p>
            <a:pPr algn="l"/>
            <a:r>
              <a:rPr sz="1900" b="1">
                <a:solidFill>
                  <a:srgbClr val="159E4E"/>
                </a:solidFill>
                <a:latin typeface="Segoe UI"/>
              </a:rPr>
              <a:t>86%</a:t>
            </a:r>
          </a:p>
        </p:txBody>
      </p:sp>
      <p:sp>
        <p:nvSpPr>
          <p:cNvPr id="51" name="TextBox 50"/>
          <p:cNvSpPr txBox="1"/>
          <p:nvPr/>
        </p:nvSpPr>
        <p:spPr>
          <a:xfrm>
            <a:off x="4892040" y="4251959"/>
            <a:ext cx="4572000" cy="320040"/>
          </a:xfrm>
          <a:prstGeom prst="rect">
            <a:avLst/>
          </a:prstGeom>
          <a:noFill/>
        </p:spPr>
        <p:txBody>
          <a:bodyPr wrap="square" anchor="ctr" lIns="0" rIns="0" tIns="0" bIns="0">
            <a:spAutoFit/>
          </a:bodyPr>
          <a:lstStyle/>
          <a:p>
            <a:pPr algn="l"/>
            <a:r>
              <a:rPr sz="1250" b="1">
                <a:solidFill>
                  <a:srgbClr val="2563EB"/>
                </a:solidFill>
                <a:latin typeface="Segoe UI"/>
              </a:rPr>
              <a:t>Biên chế công đoạn dự kiến</a:t>
            </a:r>
          </a:p>
        </p:txBody>
      </p:sp>
      <p:sp>
        <p:nvSpPr>
          <p:cNvPr id="52" name="Rectangle 51"/>
          <p:cNvSpPr/>
          <p:nvPr/>
        </p:nvSpPr>
        <p:spPr>
          <a:xfrm>
            <a:off x="4892040" y="4617719"/>
            <a:ext cx="6675120" cy="34747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0" y="4617719"/>
            <a:ext cx="1188720" cy="347472"/>
          </a:xfrm>
          <a:prstGeom prst="rect">
            <a:avLst/>
          </a:prstGeom>
          <a:noFill/>
        </p:spPr>
        <p:txBody>
          <a:bodyPr wrap="square" anchor="ctr" lIns="0" rIns="0" tIns="0" bIns="0">
            <a:spAutoFit/>
          </a:bodyPr>
          <a:lstStyle/>
          <a:p>
            <a:pPr algn="l"/>
            <a:r>
              <a:rPr sz="1100" b="1">
                <a:solidFill>
                  <a:srgbClr val="475569"/>
                </a:solidFill>
                <a:latin typeface="Segoe UI"/>
              </a:rPr>
              <a:t>Công đoạn 1</a:t>
            </a:r>
          </a:p>
        </p:txBody>
      </p:sp>
      <p:sp>
        <p:nvSpPr>
          <p:cNvPr id="54" name="Rounded Rectangle 53"/>
          <p:cNvSpPr/>
          <p:nvPr/>
        </p:nvSpPr>
        <p:spPr>
          <a:xfrm>
            <a:off x="6263640" y="4663439"/>
            <a:ext cx="1828800" cy="256032"/>
          </a:xfrm>
          <a:prstGeom prst="roundRect">
            <a:avLst>
              <a:gd name="adj" fmla="val 8000"/>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0" y="4617719"/>
            <a:ext cx="3200400" cy="347472"/>
          </a:xfrm>
          <a:prstGeom prst="rect">
            <a:avLst/>
          </a:prstGeom>
          <a:noFill/>
        </p:spPr>
        <p:txBody>
          <a:bodyPr wrap="square" anchor="ctr" lIns="0" rIns="0" tIns="0" bIns="0">
            <a:spAutoFit/>
          </a:bodyPr>
          <a:lstStyle/>
          <a:p>
            <a:pPr algn="l"/>
            <a:r>
              <a:rPr sz="1000" b="0">
                <a:solidFill>
                  <a:srgbClr val="FFFFFF"/>
                </a:solidFill>
                <a:latin typeface="Segoe UI"/>
              </a:rPr>
              <a:t>A-1001 → A-1002</a:t>
            </a:r>
          </a:p>
        </p:txBody>
      </p:sp>
      <p:sp>
        <p:nvSpPr>
          <p:cNvPr id="56" name="Rectangle 55"/>
          <p:cNvSpPr/>
          <p:nvPr/>
        </p:nvSpPr>
        <p:spPr>
          <a:xfrm>
            <a:off x="4892040" y="5029199"/>
            <a:ext cx="6675120" cy="34747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0" y="5029199"/>
            <a:ext cx="1188720" cy="347472"/>
          </a:xfrm>
          <a:prstGeom prst="rect">
            <a:avLst/>
          </a:prstGeom>
          <a:noFill/>
        </p:spPr>
        <p:txBody>
          <a:bodyPr wrap="square" anchor="ctr" lIns="0" rIns="0" tIns="0" bIns="0">
            <a:spAutoFit/>
          </a:bodyPr>
          <a:lstStyle/>
          <a:p>
            <a:pPr algn="l"/>
            <a:r>
              <a:rPr sz="1100" b="1">
                <a:solidFill>
                  <a:srgbClr val="475569"/>
                </a:solidFill>
                <a:latin typeface="Segoe UI"/>
              </a:rPr>
              <a:t>Công đoạn 2</a:t>
            </a:r>
          </a:p>
        </p:txBody>
      </p:sp>
      <p:sp>
        <p:nvSpPr>
          <p:cNvPr id="58" name="Rounded Rectangle 57"/>
          <p:cNvSpPr/>
          <p:nvPr/>
        </p:nvSpPr>
        <p:spPr>
          <a:xfrm>
            <a:off x="6263640" y="5074919"/>
            <a:ext cx="2377440" cy="256032"/>
          </a:xfrm>
          <a:prstGeom prst="roundRect">
            <a:avLst>
              <a:gd name="adj" fmla="val 8000"/>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0" y="5029199"/>
            <a:ext cx="3200400" cy="347472"/>
          </a:xfrm>
          <a:prstGeom prst="rect">
            <a:avLst/>
          </a:prstGeom>
          <a:noFill/>
        </p:spPr>
        <p:txBody>
          <a:bodyPr wrap="square" anchor="ctr" lIns="0" rIns="0" tIns="0" bIns="0">
            <a:spAutoFit/>
          </a:bodyPr>
          <a:lstStyle/>
          <a:p>
            <a:pPr algn="l"/>
            <a:r>
              <a:rPr sz="1000" b="0">
                <a:solidFill>
                  <a:srgbClr val="FFFFFF"/>
                </a:solidFill>
                <a:latin typeface="Segoe UI"/>
              </a:rPr>
              <a:t>A-1002 → A-1003</a:t>
            </a:r>
          </a:p>
        </p:txBody>
      </p:sp>
      <p:sp>
        <p:nvSpPr>
          <p:cNvPr id="60" name="Rectangle 59"/>
          <p:cNvSpPr/>
          <p:nvPr/>
        </p:nvSpPr>
        <p:spPr>
          <a:xfrm>
            <a:off x="4892040" y="5440679"/>
            <a:ext cx="6675120" cy="34747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0" y="5440679"/>
            <a:ext cx="1188720" cy="347472"/>
          </a:xfrm>
          <a:prstGeom prst="rect">
            <a:avLst/>
          </a:prstGeom>
          <a:noFill/>
        </p:spPr>
        <p:txBody>
          <a:bodyPr wrap="square" anchor="ctr" lIns="0" rIns="0" tIns="0" bIns="0">
            <a:spAutoFit/>
          </a:bodyPr>
          <a:lstStyle/>
          <a:p>
            <a:pPr algn="l"/>
            <a:r>
              <a:rPr sz="1100" b="1">
                <a:solidFill>
                  <a:srgbClr val="475569"/>
                </a:solidFill>
                <a:latin typeface="Segoe UI"/>
              </a:rPr>
              <a:t>Công đoạn 3</a:t>
            </a:r>
          </a:p>
        </p:txBody>
      </p:sp>
      <p:sp>
        <p:nvSpPr>
          <p:cNvPr id="62" name="Rounded Rectangle 61"/>
          <p:cNvSpPr/>
          <p:nvPr/>
        </p:nvSpPr>
        <p:spPr>
          <a:xfrm>
            <a:off x="6263640" y="5486399"/>
            <a:ext cx="2926080" cy="256032"/>
          </a:xfrm>
          <a:prstGeom prst="roundRect">
            <a:avLst>
              <a:gd name="adj" fmla="val 8000"/>
            </a:avLst>
          </a:prstGeom>
          <a:solidFill>
            <a:srgbClr val="159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0" y="5440679"/>
            <a:ext cx="3200400" cy="347472"/>
          </a:xfrm>
          <a:prstGeom prst="rect">
            <a:avLst/>
          </a:prstGeom>
          <a:noFill/>
        </p:spPr>
        <p:txBody>
          <a:bodyPr wrap="square" anchor="ctr" lIns="0" rIns="0" tIns="0" bIns="0">
            <a:spAutoFit/>
          </a:bodyPr>
          <a:lstStyle/>
          <a:p>
            <a:pPr algn="l"/>
            <a:r>
              <a:rPr sz="1000" b="0">
                <a:solidFill>
                  <a:srgbClr val="FFFFFF"/>
                </a:solidFill>
                <a:latin typeface="Segoe UI"/>
              </a:rPr>
              <a:t>A-1003 → A-1004</a:t>
            </a:r>
          </a:p>
        </p:txBody>
      </p:sp>
      <p:sp>
        <p:nvSpPr>
          <p:cNvPr id="64" name="TextBox 63"/>
          <p:cNvSpPr txBox="1"/>
          <p:nvPr/>
        </p:nvSpPr>
        <p:spPr>
          <a:xfrm>
            <a:off x="548640" y="6126479"/>
            <a:ext cx="11064240" cy="292608"/>
          </a:xfrm>
          <a:prstGeom prst="rect">
            <a:avLst/>
          </a:prstGeom>
          <a:noFill/>
        </p:spPr>
        <p:txBody>
          <a:bodyPr wrap="square" anchor="ctr" lIns="0" rIns="0" tIns="0" bIns="0">
            <a:spAutoFit/>
          </a:bodyPr>
          <a:lstStyle/>
          <a:p>
            <a:pPr algn="ctr"/>
            <a:r>
              <a:rPr sz="1150" b="0">
                <a:solidFill>
                  <a:srgbClr val="94A3B8"/>
                </a:solidFill>
                <a:latin typeface="Segoe UI"/>
              </a:rPr>
              <a:t>Màn hình dự đoán — nhập cấu hình linh kiện sẽ ra takt, số người và biên chế công đoạn.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14. Dự đoán chuyền — Tính trước cho model mới</a:t>
            </a:r>
          </a:p>
        </p:txBody>
      </p:sp>
      <p:sp>
        <p:nvSpPr>
          <p:cNvPr id="4" name="TextBox 3"/>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14/17</a:t>
            </a:r>
          </a:p>
        </p:txBody>
      </p:sp>
      <p:sp>
        <p:nvSpPr>
          <p:cNvPr id="5" name="Rounded Rectangle 4"/>
          <p:cNvSpPr/>
          <p:nvPr/>
        </p:nvSpPr>
        <p:spPr>
          <a:xfrm>
            <a:off x="640080" y="1143000"/>
            <a:ext cx="10881360" cy="566928"/>
          </a:xfrm>
          <a:prstGeom prst="roundRect">
            <a:avLst>
              <a:gd name="adj" fmla="val 8000"/>
            </a:avLst>
          </a:prstGeom>
          <a:solidFill>
            <a:srgbClr val="FE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43000"/>
            <a:ext cx="10515600" cy="566928"/>
          </a:xfrm>
          <a:prstGeom prst="rect">
            <a:avLst/>
          </a:prstGeom>
          <a:noFill/>
        </p:spPr>
        <p:txBody>
          <a:bodyPr wrap="square" anchor="ctr" lIns="0" rIns="0" tIns="0" bIns="0">
            <a:spAutoFit/>
          </a:bodyPr>
          <a:lstStyle/>
          <a:p>
            <a:pPr algn="l"/>
            <a:r>
              <a:rPr sz="1250" b="0">
                <a:solidFill>
                  <a:srgbClr val="111827"/>
                </a:solidFill>
                <a:latin typeface="Segoe UI"/>
              </a:rPr>
              <a:t>⚠ Chỉ tính các linh kiện đã lưu thời gian chuẩn. Linh kiện thiếu sẽ được hiển thị riêng — hãy </a:t>
            </a:r>
            <a:r>
              <a:rPr sz="1250" b="1">
                <a:solidFill>
                  <a:srgbClr val="111827"/>
                </a:solidFill>
                <a:latin typeface="Segoe UI"/>
              </a:rPr>
              <a:t>đo và lưu bằng Phân tích thao tác</a:t>
            </a:r>
            <a:r>
              <a:rPr sz="1250" b="0">
                <a:solidFill>
                  <a:srgbClr val="111827"/>
                </a:solidFill>
                <a:latin typeface="Segoe UI"/>
              </a:rPr>
              <a:t> trước.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15. Lưu và làm tiếp</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Lưu giữa chừng thì sau này có thể làm tiếp y nguyên.</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15/17</a:t>
            </a:r>
          </a:p>
        </p:txBody>
      </p:sp>
      <p:graphicFrame>
        <p:nvGraphicFramePr>
          <p:cNvPr id="6" name="Table 5"/>
          <p:cNvGraphicFramePr>
            <a:graphicFrameLocks noGrp="1"/>
          </p:cNvGraphicFramePr>
          <p:nvPr/>
        </p:nvGraphicFramePr>
        <p:xfrm>
          <a:off x="640080" y="1143000"/>
          <a:ext cx="10881360" cy="1773936"/>
        </p:xfrm>
        <a:graphic>
          <a:graphicData uri="http://schemas.openxmlformats.org/drawingml/2006/table">
            <a:tbl>
              <a:tblPr firstRow="1" bandRow="1">
                <a:tableStyleId>{5C22544A-7EE6-4342-B048-85BDC9FD1C3A}</a:tableStyleId>
              </a:tblPr>
              <a:tblGrid>
                <a:gridCol w="3627120"/>
                <a:gridCol w="3627120"/>
                <a:gridCol w="3627120"/>
              </a:tblGrid>
              <a:tr h="295656">
                <a:tc>
                  <a:txBody>
                    <a:bodyPr/>
                    <a:lstStyle/>
                    <a:p>
                      <a:r>
                        <a:rPr sz="1100" b="1">
                          <a:solidFill>
                            <a:srgbClr val="FFFFFF"/>
                          </a:solidFill>
                          <a:latin typeface="Segoe UI"/>
                        </a:rPr>
                        <a:t>Cách</a:t>
                      </a:r>
                    </a:p>
                  </a:txBody>
                  <a:tcPr marL="54864" marR="54864">
                    <a:solidFill>
                      <a:srgbClr val="1E3A5F"/>
                    </a:solidFill>
                  </a:tcPr>
                </a:tc>
                <a:tc>
                  <a:txBody>
                    <a:bodyPr/>
                    <a:lstStyle/>
                    <a:p>
                      <a:r>
                        <a:rPr sz="1100" b="1">
                          <a:solidFill>
                            <a:srgbClr val="FFFFFF"/>
                          </a:solidFill>
                          <a:latin typeface="Segoe UI"/>
                        </a:rPr>
                        <a:t>Nơi lưu</a:t>
                      </a:r>
                    </a:p>
                  </a:txBody>
                  <a:tcPr marL="54864" marR="54864">
                    <a:solidFill>
                      <a:srgbClr val="1E3A5F"/>
                    </a:solidFill>
                  </a:tcPr>
                </a:tc>
                <a:tc>
                  <a:txBody>
                    <a:bodyPr/>
                    <a:lstStyle/>
                    <a:p>
                      <a:r>
                        <a:rPr sz="1100" b="1">
                          <a:solidFill>
                            <a:srgbClr val="FFFFFF"/>
                          </a:solidFill>
                          <a:latin typeface="Segoe UI"/>
                        </a:rPr>
                        <a:t>Khi nào dùng</a:t>
                      </a:r>
                    </a:p>
                  </a:txBody>
                  <a:tcPr marL="54864" marR="54864">
                    <a:solidFill>
                      <a:srgbClr val="1E3A5F"/>
                    </a:solidFill>
                  </a:tcPr>
                </a:tc>
              </a:tr>
              <a:tr h="295656">
                <a:tc>
                  <a:txBody>
                    <a:bodyPr/>
                    <a:lstStyle/>
                    <a:p>
                      <a:pPr>
                        <a:lnSpc>
                          <a:spcPct val="95000"/>
                        </a:lnSpc>
                      </a:pPr>
                      <a:r>
                        <a:rPr sz="1100" b="0">
                          <a:solidFill>
                            <a:srgbClr val="111827"/>
                          </a:solidFill>
                          <a:latin typeface="Segoe UI"/>
                        </a:rPr>
                        <a:t>💾 Lưu nội dung phân tích (phiên)</a:t>
                      </a:r>
                    </a:p>
                  </a:txBody>
                  <a:tcPr marL="54864" marR="54864" marT="18288" marB="18288">
                    <a:solidFill>
                      <a:srgbClr val="F1F5F9"/>
                    </a:solidFill>
                  </a:tcPr>
                </a:tc>
                <a:tc>
                  <a:txBody>
                    <a:bodyPr/>
                    <a:lstStyle/>
                    <a:p>
                      <a:pPr>
                        <a:lnSpc>
                          <a:spcPct val="95000"/>
                        </a:lnSpc>
                      </a:pPr>
                      <a:r>
                        <a:rPr sz="1100" b="0">
                          <a:solidFill>
                            <a:srgbClr val="111827"/>
                          </a:solidFill>
                          <a:latin typeface="Segoe UI"/>
                        </a:rPr>
                        <a:t>Trong trình duyệt máy này</a:t>
                      </a:r>
                    </a:p>
                  </a:txBody>
                  <a:tcPr marL="54864" marR="54864" marT="18288" marB="18288">
                    <a:solidFill>
                      <a:srgbClr val="F1F5F9"/>
                    </a:solidFill>
                  </a:tcPr>
                </a:tc>
                <a:tc>
                  <a:txBody>
                    <a:bodyPr/>
                    <a:lstStyle/>
                    <a:p>
                      <a:pPr>
                        <a:lnSpc>
                          <a:spcPct val="95000"/>
                        </a:lnSpc>
                      </a:pPr>
                      <a:r>
                        <a:rPr sz="1100" b="0">
                          <a:solidFill>
                            <a:srgbClr val="111827"/>
                          </a:solidFill>
                          <a:latin typeface="Segoe UI"/>
                        </a:rPr>
                        <a:t>Khi làm tiếp trên cùng một máy</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 Xuất tệp (.wvas)</a:t>
                      </a:r>
                    </a:p>
                  </a:txBody>
                  <a:tcPr marL="54864" marR="54864" marT="18288" marB="18288">
                    <a:solidFill>
                      <a:srgbClr val="FFFFFF"/>
                    </a:solidFill>
                  </a:tcPr>
                </a:tc>
                <a:tc>
                  <a:txBody>
                    <a:bodyPr/>
                    <a:lstStyle/>
                    <a:p>
                      <a:pPr>
                        <a:lnSpc>
                          <a:spcPct val="95000"/>
                        </a:lnSpc>
                      </a:pPr>
                      <a:r>
                        <a:rPr sz="1100" b="0">
                          <a:solidFill>
                            <a:srgbClr val="111827"/>
                          </a:solidFill>
                          <a:latin typeface="Segoe UI"/>
                        </a:rPr>
                        <a:t>Tệp trong thư mục tùy chọn</a:t>
                      </a:r>
                    </a:p>
                  </a:txBody>
                  <a:tcPr marL="54864" marR="54864" marT="18288" marB="18288">
                    <a:solidFill>
                      <a:srgbClr val="FFFFFF"/>
                    </a:solidFill>
                  </a:tcPr>
                </a:tc>
                <a:tc>
                  <a:txBody>
                    <a:bodyPr/>
                    <a:lstStyle/>
                    <a:p>
                      <a:pPr>
                        <a:lnSpc>
                          <a:spcPct val="95000"/>
                        </a:lnSpc>
                      </a:pPr>
                      <a:r>
                        <a:rPr sz="1100" b="0">
                          <a:solidFill>
                            <a:srgbClr val="111827"/>
                          </a:solidFill>
                          <a:latin typeface="Segoe UI"/>
                        </a:rPr>
                        <a:t>Khi chuyển sang máy khác hoặc sao lưu</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Lưu ST linh kiện</a:t>
                      </a:r>
                    </a:p>
                  </a:txBody>
                  <a:tcPr marL="54864" marR="54864" marT="18288" marB="18288">
                    <a:solidFill>
                      <a:srgbClr val="F1F5F9"/>
                    </a:solidFill>
                  </a:tcPr>
                </a:tc>
                <a:tc>
                  <a:txBody>
                    <a:bodyPr/>
                    <a:lstStyle/>
                    <a:p>
                      <a:pPr>
                        <a:lnSpc>
                          <a:spcPct val="95000"/>
                        </a:lnSpc>
                      </a:pPr>
                      <a:r>
                        <a:rPr sz="1100" b="0">
                          <a:solidFill>
                            <a:srgbClr val="111827"/>
                          </a:solidFill>
                          <a:latin typeface="Segoe UI"/>
                        </a:rPr>
                        <a:t>DB Quản lý linh kiện</a:t>
                      </a:r>
                    </a:p>
                  </a:txBody>
                  <a:tcPr marL="54864" marR="54864" marT="18288" marB="18288">
                    <a:solidFill>
                      <a:srgbClr val="F1F5F9"/>
                    </a:solidFill>
                  </a:tcPr>
                </a:tc>
                <a:tc>
                  <a:txBody>
                    <a:bodyPr/>
                    <a:lstStyle/>
                    <a:p>
                      <a:pPr>
                        <a:lnSpc>
                          <a:spcPct val="95000"/>
                        </a:lnSpc>
                      </a:pPr>
                      <a:r>
                        <a:rPr sz="1100" b="0">
                          <a:solidFill>
                            <a:srgbClr val="111827"/>
                          </a:solidFill>
                          <a:latin typeface="Segoe UI"/>
                        </a:rPr>
                        <a:t>Khi tích lũy thời gian chuẩn từng linh kiện</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Cài đặt &gt; Kho lưu trữ chung</a:t>
                      </a:r>
                    </a:p>
                  </a:txBody>
                  <a:tcPr marL="54864" marR="54864" marT="18288" marB="18288">
                    <a:solidFill>
                      <a:srgbClr val="FFFFFF"/>
                    </a:solidFill>
                  </a:tcPr>
                </a:tc>
                <a:tc>
                  <a:txBody>
                    <a:bodyPr/>
                    <a:lstStyle/>
                    <a:p>
                      <a:pPr>
                        <a:lnSpc>
                          <a:spcPct val="95000"/>
                        </a:lnSpc>
                      </a:pPr>
                      <a:r>
                        <a:rPr sz="1100" b="0">
                          <a:solidFill>
                            <a:srgbClr val="111827"/>
                          </a:solidFill>
                          <a:latin typeface="Segoe UI"/>
                        </a:rPr>
                        <a:t>Thư mục mạng hoặc máy chủ nội bộ</a:t>
                      </a:r>
                    </a:p>
                  </a:txBody>
                  <a:tcPr marL="54864" marR="54864" marT="18288" marB="18288">
                    <a:solidFill>
                      <a:srgbClr val="FFFFFF"/>
                    </a:solidFill>
                  </a:tcPr>
                </a:tc>
                <a:tc>
                  <a:txBody>
                    <a:bodyPr/>
                    <a:lstStyle/>
                    <a:p>
                      <a:pPr>
                        <a:lnSpc>
                          <a:spcPct val="95000"/>
                        </a:lnSpc>
                      </a:pPr>
                      <a:r>
                        <a:rPr sz="1100" b="1">
                          <a:solidFill>
                            <a:srgbClr val="111827"/>
                          </a:solidFill>
                          <a:latin typeface="Segoe UI"/>
                        </a:rPr>
                        <a:t>Khi tích lũy chung trong cùng một nhà máy</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Cài đặt &gt; Kho lưu trữ chung &gt; 📊 Google Sheets</a:t>
                      </a:r>
                    </a:p>
                  </a:txBody>
                  <a:tcPr marL="54864" marR="54864" marT="18288" marB="18288">
                    <a:solidFill>
                      <a:srgbClr val="F1F5F9"/>
                    </a:solidFill>
                  </a:tcPr>
                </a:tc>
                <a:tc>
                  <a:txBody>
                    <a:bodyPr/>
                    <a:lstStyle/>
                    <a:p>
                      <a:pPr>
                        <a:lnSpc>
                          <a:spcPct val="95000"/>
                        </a:lnSpc>
                      </a:pPr>
                      <a:r>
                        <a:rPr sz="1100" b="0">
                          <a:solidFill>
                            <a:srgbClr val="111827"/>
                          </a:solidFill>
                          <a:latin typeface="Segoe UI"/>
                        </a:rPr>
                        <a:t>Google Trang tính</a:t>
                      </a:r>
                    </a:p>
                  </a:txBody>
                  <a:tcPr marL="54864" marR="54864" marT="18288" marB="18288">
                    <a:solidFill>
                      <a:srgbClr val="F1F5F9"/>
                    </a:solidFill>
                  </a:tcPr>
                </a:tc>
                <a:tc>
                  <a:txBody>
                    <a:bodyPr/>
                    <a:lstStyle/>
                    <a:p>
                      <a:pPr>
                        <a:lnSpc>
                          <a:spcPct val="95000"/>
                        </a:lnSpc>
                      </a:pPr>
                      <a:r>
                        <a:rPr sz="1100" b="1">
                          <a:solidFill>
                            <a:srgbClr val="111827"/>
                          </a:solidFill>
                          <a:latin typeface="Segoe UI"/>
                        </a:rPr>
                        <a:t>Khi chia sẻ giữa các khu vực xa nhau</a:t>
                      </a:r>
                      <a:r>
                        <a:rPr sz="1100" b="0">
                          <a:solidFill>
                            <a:srgbClr val="111827"/>
                          </a:solidFill>
                          <a:latin typeface="Segoe UI"/>
                        </a:rPr>
                        <a:t> (cần Internet)</a:t>
                      </a:r>
                    </a:p>
                  </a:txBody>
                  <a:tcPr marL="54864" marR="54864" marT="18288" marB="18288">
                    <a:solidFill>
                      <a:srgbClr val="F1F5F9"/>
                    </a:solidFill>
                  </a:tcPr>
                </a:tc>
              </a:tr>
            </a:tbl>
          </a:graphicData>
        </a:graphic>
      </p:graphicFrame>
      <p:sp>
        <p:nvSpPr>
          <p:cNvPr id="7" name="Rounded Rectangle 6"/>
          <p:cNvSpPr/>
          <p:nvPr/>
        </p:nvSpPr>
        <p:spPr>
          <a:xfrm>
            <a:off x="640080" y="3145536"/>
            <a:ext cx="10881360" cy="566928"/>
          </a:xfrm>
          <a:prstGeom prst="roundRect">
            <a:avLst>
              <a:gd name="adj" fmla="val 8000"/>
            </a:avLst>
          </a:prstGeom>
          <a:solidFill>
            <a:srgbClr val="E8F8EE"/>
          </a:solidFill>
          <a:ln w="12700">
            <a:solidFill>
              <a:srgbClr val="159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45536"/>
            <a:ext cx="10515600" cy="566928"/>
          </a:xfrm>
          <a:prstGeom prst="rect">
            <a:avLst/>
          </a:prstGeom>
          <a:noFill/>
        </p:spPr>
        <p:txBody>
          <a:bodyPr wrap="square" anchor="ctr" lIns="0" rIns="0" tIns="0" bIns="0">
            <a:spAutoFit/>
          </a:bodyPr>
          <a:lstStyle/>
          <a:p>
            <a:pPr algn="l"/>
            <a:r>
              <a:rPr sz="1250" b="0">
                <a:solidFill>
                  <a:srgbClr val="111827"/>
                </a:solidFill>
                <a:latin typeface="Segoe UI"/>
              </a:rPr>
              <a:t>💡 </a:t>
            </a:r>
            <a:r>
              <a:rPr sz="1250" b="1">
                <a:solidFill>
                  <a:srgbClr val="111827"/>
                </a:solidFill>
                <a:latin typeface="Segoe UI"/>
              </a:rPr>
              <a:t>Khi nhiều người chia nhau đo</a:t>
            </a:r>
            <a:r>
              <a:rPr sz="1250" b="0">
                <a:solidFill>
                  <a:srgbClr val="111827"/>
                </a:solidFill>
                <a:latin typeface="Segoe UI"/>
              </a:rPr>
              <a:t>, hãy đăng ký thư mục chung (hoặc máy chủ) trong Cài đặt. Mỗi lần khởi động chương trình sẽ tự động hợp nhất dữ liệu của nhau.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16. Khi gặp sự cố</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Hầu như mọi vấn đề đều thuộc một trong bốn trường hợp dưới đây.</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16/17</a:t>
            </a:r>
          </a:p>
        </p:txBody>
      </p:sp>
      <p:graphicFrame>
        <p:nvGraphicFramePr>
          <p:cNvPr id="6" name="Table 5"/>
          <p:cNvGraphicFramePr>
            <a:graphicFrameLocks noGrp="1"/>
          </p:cNvGraphicFramePr>
          <p:nvPr/>
        </p:nvGraphicFramePr>
        <p:xfrm>
          <a:off x="640080" y="1143000"/>
          <a:ext cx="10881360" cy="1773936"/>
        </p:xfrm>
        <a:graphic>
          <a:graphicData uri="http://schemas.openxmlformats.org/drawingml/2006/table">
            <a:tbl>
              <a:tblPr firstRow="1" bandRow="1">
                <a:tableStyleId>{5C22544A-7EE6-4342-B048-85BDC9FD1C3A}</a:tableStyleId>
              </a:tblPr>
              <a:tblGrid>
                <a:gridCol w="3627120"/>
                <a:gridCol w="3627120"/>
                <a:gridCol w="3627120"/>
              </a:tblGrid>
              <a:tr h="295656">
                <a:tc>
                  <a:txBody>
                    <a:bodyPr/>
                    <a:lstStyle/>
                    <a:p>
                      <a:r>
                        <a:rPr sz="1100" b="1">
                          <a:solidFill>
                            <a:srgbClr val="FFFFFF"/>
                          </a:solidFill>
                          <a:latin typeface="Segoe UI"/>
                        </a:rPr>
                        <a:t>Hiện tượng</a:t>
                      </a:r>
                    </a:p>
                  </a:txBody>
                  <a:tcPr marL="54864" marR="54864">
                    <a:solidFill>
                      <a:srgbClr val="1E3A5F"/>
                    </a:solidFill>
                  </a:tcPr>
                </a:tc>
                <a:tc>
                  <a:txBody>
                    <a:bodyPr/>
                    <a:lstStyle/>
                    <a:p>
                      <a:r>
                        <a:rPr sz="1100" b="1">
                          <a:solidFill>
                            <a:srgbClr val="FFFFFF"/>
                          </a:solidFill>
                          <a:latin typeface="Segoe UI"/>
                        </a:rPr>
                        <a:t>Nguyên nhân</a:t>
                      </a:r>
                    </a:p>
                  </a:txBody>
                  <a:tcPr marL="54864" marR="54864">
                    <a:solidFill>
                      <a:srgbClr val="1E3A5F"/>
                    </a:solidFill>
                  </a:tcPr>
                </a:tc>
                <a:tc>
                  <a:txBody>
                    <a:bodyPr/>
                    <a:lstStyle/>
                    <a:p>
                      <a:r>
                        <a:rPr sz="1100" b="1">
                          <a:solidFill>
                            <a:srgbClr val="FFFFFF"/>
                          </a:solidFill>
                          <a:latin typeface="Segoe UI"/>
                        </a:rPr>
                        <a:t>Cách xử lý</a:t>
                      </a:r>
                    </a:p>
                  </a:txBody>
                  <a:tcPr marL="54864" marR="54864">
                    <a:solidFill>
                      <a:srgbClr val="1E3A5F"/>
                    </a:solidFill>
                  </a:tcPr>
                </a:tc>
              </a:tr>
              <a:tr h="295656">
                <a:tc>
                  <a:txBody>
                    <a:bodyPr/>
                    <a:lstStyle/>
                    <a:p>
                      <a:pPr>
                        <a:lnSpc>
                          <a:spcPct val="95000"/>
                        </a:lnSpc>
                      </a:pPr>
                      <a:r>
                        <a:rPr sz="1100" b="0">
                          <a:solidFill>
                            <a:srgbClr val="111827"/>
                          </a:solidFill>
                          <a:latin typeface="Segoe UI"/>
                        </a:rPr>
                        <a:t>Linh kiện·thời gian chuẩn </a:t>
                      </a:r>
                      <a:r>
                        <a:rPr sz="1100" b="1">
                          <a:solidFill>
                            <a:srgbClr val="111827"/>
                          </a:solidFill>
                          <a:latin typeface="Segoe UI"/>
                        </a:rPr>
                        <a:t>biến mất hết</a:t>
                      </a:r>
                    </a:p>
                  </a:txBody>
                  <a:tcPr marL="54864" marR="54864" marT="18288" marB="18288">
                    <a:solidFill>
                      <a:srgbClr val="F1F5F9"/>
                    </a:solidFill>
                  </a:tcPr>
                </a:tc>
                <a:tc>
                  <a:txBody>
                    <a:bodyPr/>
                    <a:lstStyle/>
                    <a:p>
                      <a:pPr>
                        <a:lnSpc>
                          <a:spcPct val="95000"/>
                        </a:lnSpc>
                      </a:pPr>
                      <a:r>
                        <a:rPr sz="1100" b="0">
                          <a:solidFill>
                            <a:srgbClr val="111827"/>
                          </a:solidFill>
                          <a:latin typeface="Segoe UI"/>
                        </a:rPr>
                        <a:t>Địa chỉ (cổng) bị lệch. Dữ liệu không bị xóa.</a:t>
                      </a:r>
                    </a:p>
                  </a:txBody>
                  <a:tcPr marL="54864" marR="54864" marT="18288" marB="18288">
                    <a:solidFill>
                      <a:srgbClr val="F1F5F9"/>
                    </a:solidFill>
                  </a:tcPr>
                </a:tc>
                <a:tc>
                  <a:txBody>
                    <a:bodyPr/>
                    <a:lstStyle/>
                    <a:p>
                      <a:pPr>
                        <a:lnSpc>
                          <a:spcPct val="95000"/>
                        </a:lnSpc>
                      </a:pPr>
                      <a:r>
                        <a:rPr sz="1100" b="1">
                          <a:solidFill>
                            <a:srgbClr val="111827"/>
                          </a:solidFill>
                          <a:latin typeface="Segoe UI"/>
                        </a:rPr>
                        <a:t>Đóng hết</a:t>
                      </a:r>
                      <a:r>
                        <a:rPr sz="1100" b="0">
                          <a:solidFill>
                            <a:srgbClr val="111827"/>
                          </a:solidFill>
                          <a:latin typeface="Segoe UI"/>
                        </a:rPr>
                        <a:t> cửa sổ đen và cửa sổ PIE rồi chạy lại. Hoặc nhấn </a:t>
                      </a:r>
                      <a:r>
                        <a:rPr sz="1100" b="1">
                          <a:solidFill>
                            <a:srgbClr val="111827"/>
                          </a:solidFill>
                          <a:latin typeface="Segoe UI"/>
                        </a:rPr>
                        <a:t>[Mở bằng địa chỉ chuẩn]</a:t>
                      </a:r>
                      <a:r>
                        <a:rPr sz="1100" b="0">
                          <a:solidFill>
                            <a:srgbClr val="111827"/>
                          </a:solidFill>
                          <a:latin typeface="Segoe UI"/>
                        </a:rPr>
                        <a:t> trên dải cảnh báo đỏ.</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Đã chạy nhưng </a:t>
                      </a:r>
                      <a:r>
                        <a:rPr sz="1100" b="1">
                          <a:solidFill>
                            <a:srgbClr val="111827"/>
                          </a:solidFill>
                          <a:latin typeface="Segoe UI"/>
                        </a:rPr>
                        <a:t>không thấy màn hình</a:t>
                      </a:r>
                    </a:p>
                  </a:txBody>
                  <a:tcPr marL="54864" marR="54864" marT="18288" marB="18288">
                    <a:solidFill>
                      <a:srgbClr val="FFFFFF"/>
                    </a:solidFill>
                  </a:tcPr>
                </a:tc>
                <a:tc>
                  <a:txBody>
                    <a:bodyPr/>
                    <a:lstStyle/>
                    <a:p>
                      <a:pPr>
                        <a:lnSpc>
                          <a:spcPct val="95000"/>
                        </a:lnSpc>
                      </a:pPr>
                      <a:r>
                        <a:rPr sz="1100" b="0">
                          <a:solidFill>
                            <a:srgbClr val="111827"/>
                          </a:solidFill>
                          <a:latin typeface="Segoe UI"/>
                        </a:rPr>
                        <a:t>Cửa sổ trình duyệt bị khuất phía sau.</a:t>
                      </a:r>
                    </a:p>
                  </a:txBody>
                  <a:tcPr marL="54864" marR="54864" marT="18288" marB="18288">
                    <a:solidFill>
                      <a:srgbClr val="FFFFFF"/>
                    </a:solidFill>
                  </a:tcPr>
                </a:tc>
                <a:tc>
                  <a:txBody>
                    <a:bodyPr/>
                    <a:lstStyle/>
                    <a:p>
                      <a:pPr>
                        <a:lnSpc>
                          <a:spcPct val="95000"/>
                        </a:lnSpc>
                      </a:pPr>
                      <a:r>
                        <a:rPr sz="1100" b="0">
                          <a:solidFill>
                            <a:srgbClr val="111827"/>
                          </a:solidFill>
                          <a:latin typeface="Segoe UI"/>
                        </a:rPr>
                        <a:t>Mở trực tiếp </a:t>
                      </a:r>
                      <a:r>
                        <a:rPr sz="1100" b="1">
                          <a:solidFill>
                            <a:srgbClr val="2563EB"/>
                          </a:solidFill>
                          <a:latin typeface="Segoe UI"/>
                        </a:rPr>
                        <a:t>http://127.0.0.1:8791/PIE.html</a:t>
                      </a:r>
                      <a:r>
                        <a:rPr sz="1100" b="0">
                          <a:solidFill>
                            <a:srgbClr val="111827"/>
                          </a:solidFill>
                          <a:latin typeface="Segoe UI"/>
                        </a:rPr>
                        <a:t> trong trình duyệt.</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So sánh tư thế (Pose) </a:t>
                      </a:r>
                      <a:r>
                        <a:rPr sz="1100" b="1">
                          <a:solidFill>
                            <a:srgbClr val="111827"/>
                          </a:solidFill>
                          <a:latin typeface="Segoe UI"/>
                        </a:rPr>
                        <a:t>không chạy</a:t>
                      </a:r>
                    </a:p>
                  </a:txBody>
                  <a:tcPr marL="54864" marR="54864" marT="18288" marB="18288">
                    <a:solidFill>
                      <a:srgbClr val="F1F5F9"/>
                    </a:solidFill>
                  </a:tcPr>
                </a:tc>
                <a:tc>
                  <a:txBody>
                    <a:bodyPr/>
                    <a:lstStyle/>
                    <a:p>
                      <a:pPr>
                        <a:lnSpc>
                          <a:spcPct val="95000"/>
                        </a:lnSpc>
                      </a:pPr>
                      <a:r>
                        <a:rPr sz="1100" b="0">
                          <a:solidFill>
                            <a:srgbClr val="111827"/>
                          </a:solidFill>
                          <a:latin typeface="Segoe UI"/>
                        </a:rPr>
                        <a:t>Thiếu thư mục </a:t>
                      </a:r>
                      <a:r>
                        <a:rPr sz="1100" b="1">
                          <a:solidFill>
                            <a:srgbClr val="2563EB"/>
                          </a:solidFill>
                          <a:latin typeface="Segoe UI"/>
                        </a:rPr>
                        <a:t>mediapipe</a:t>
                      </a:r>
                      <a:r>
                        <a:rPr sz="1100" b="0">
                          <a:solidFill>
                            <a:srgbClr val="111827"/>
                          </a:solidFill>
                          <a:latin typeface="Segoe UI"/>
                        </a:rPr>
                        <a:t>, hoặc mở tệp bằng nhấp đúp.</a:t>
                      </a:r>
                    </a:p>
                  </a:txBody>
                  <a:tcPr marL="54864" marR="54864" marT="18288" marB="18288">
                    <a:solidFill>
                      <a:srgbClr val="F1F5F9"/>
                    </a:solidFill>
                  </a:tcPr>
                </a:tc>
                <a:tc>
                  <a:txBody>
                    <a:bodyPr/>
                    <a:lstStyle/>
                    <a:p>
                      <a:pPr>
                        <a:lnSpc>
                          <a:spcPct val="95000"/>
                        </a:lnSpc>
                      </a:pPr>
                      <a:r>
                        <a:rPr sz="1100" b="0">
                          <a:solidFill>
                            <a:srgbClr val="111827"/>
                          </a:solidFill>
                          <a:latin typeface="Segoe UI"/>
                        </a:rPr>
                        <a:t>Nhất định phải chạy bằng </a:t>
                      </a:r>
                      <a:r>
                        <a:rPr sz="1100" b="1">
                          <a:solidFill>
                            <a:srgbClr val="2563EB"/>
                          </a:solidFill>
                          <a:latin typeface="Segoe UI"/>
                        </a:rPr>
                        <a:t>PIE(중국).bat</a:t>
                      </a:r>
                      <a:r>
                        <a:rPr sz="1100" b="0">
                          <a:solidFill>
                            <a:srgbClr val="111827"/>
                          </a:solidFill>
                          <a:latin typeface="Segoe UI"/>
                        </a:rPr>
                        <a:t> và kiểm tra đã sao chép nguyên thư mục.</a:t>
                      </a:r>
                    </a:p>
                  </a:txBody>
                  <a:tcPr marL="54864" marR="54864" marT="18288" marB="18288">
                    <a:solidFill>
                      <a:srgbClr val="F1F5F9"/>
                    </a:solidFill>
                  </a:tcPr>
                </a:tc>
              </a:tr>
              <a:tr h="295656">
                <a:tc>
                  <a:txBody>
                    <a:bodyPr/>
                    <a:lstStyle/>
                    <a:p>
                      <a:pPr>
                        <a:lnSpc>
                          <a:spcPct val="95000"/>
                        </a:lnSpc>
                      </a:pPr>
                      <a:r>
                        <a:rPr sz="1100" b="0">
                          <a:solidFill>
                            <a:srgbClr val="111827"/>
                          </a:solidFill>
                          <a:latin typeface="Segoe UI"/>
                        </a:rPr>
                        <a:t>Video </a:t>
                      </a:r>
                      <a:r>
                        <a:rPr sz="1100" b="1">
                          <a:solidFill>
                            <a:srgbClr val="111827"/>
                          </a:solidFill>
                          <a:latin typeface="Segoe UI"/>
                        </a:rPr>
                        <a:t>không mở được</a:t>
                      </a:r>
                    </a:p>
                  </a:txBody>
                  <a:tcPr marL="54864" marR="54864" marT="18288" marB="18288">
                    <a:solidFill>
                      <a:srgbClr val="FFFFFF"/>
                    </a:solidFill>
                  </a:tcPr>
                </a:tc>
                <a:tc>
                  <a:txBody>
                    <a:bodyPr/>
                    <a:lstStyle/>
                    <a:p>
                      <a:pPr>
                        <a:lnSpc>
                          <a:spcPct val="95000"/>
                        </a:lnSpc>
                      </a:pPr>
                      <a:r>
                        <a:rPr sz="1100" b="0">
                          <a:solidFill>
                            <a:srgbClr val="111827"/>
                          </a:solidFill>
                          <a:latin typeface="Segoe UI"/>
                        </a:rPr>
                        <a:t>Trình duyệt không hỗ trợ codec đó.</a:t>
                      </a:r>
                    </a:p>
                  </a:txBody>
                  <a:tcPr marL="54864" marR="54864" marT="18288" marB="18288">
                    <a:solidFill>
                      <a:srgbClr val="FFFFFF"/>
                    </a:solidFill>
                  </a:tcPr>
                </a:tc>
                <a:tc>
                  <a:txBody>
                    <a:bodyPr/>
                    <a:lstStyle/>
                    <a:p>
                      <a:pPr>
                        <a:lnSpc>
                          <a:spcPct val="95000"/>
                        </a:lnSpc>
                      </a:pPr>
                      <a:r>
                        <a:rPr sz="1100" b="0">
                          <a:solidFill>
                            <a:srgbClr val="111827"/>
                          </a:solidFill>
                          <a:latin typeface="Segoe UI"/>
                        </a:rPr>
                        <a:t>Hãy chuyển sang định dạng MP4 (H.264).</a:t>
                      </a:r>
                    </a:p>
                  </a:txBody>
                  <a:tcPr marL="54864" marR="54864" marT="18288" marB="18288">
                    <a:solidFill>
                      <a:srgbClr val="FFFFFF"/>
                    </a:solidFill>
                  </a:tcPr>
                </a:tc>
              </a:tr>
              <a:tr h="295656">
                <a:tc>
                  <a:txBody>
                    <a:bodyPr/>
                    <a:lstStyle/>
                    <a:p>
                      <a:pPr>
                        <a:lnSpc>
                          <a:spcPct val="95000"/>
                        </a:lnSpc>
                      </a:pPr>
                      <a:r>
                        <a:rPr sz="1100" b="0">
                          <a:solidFill>
                            <a:srgbClr val="111827"/>
                          </a:solidFill>
                          <a:latin typeface="Segoe UI"/>
                        </a:rPr>
                        <a:t>Không thấy </a:t>
                      </a:r>
                      <a:r>
                        <a:rPr sz="1100" b="1">
                          <a:solidFill>
                            <a:srgbClr val="111827"/>
                          </a:solidFill>
                          <a:latin typeface="Segoe UI"/>
                        </a:rPr>
                        <a:t>nút lưu·mở</a:t>
                      </a:r>
                    </a:p>
                  </a:txBody>
                  <a:tcPr marL="54864" marR="54864" marT="18288" marB="18288">
                    <a:solidFill>
                      <a:srgbClr val="F1F5F9"/>
                    </a:solidFill>
                  </a:tcPr>
                </a:tc>
                <a:tc>
                  <a:txBody>
                    <a:bodyPr/>
                    <a:lstStyle/>
                    <a:p>
                      <a:pPr>
                        <a:lnSpc>
                          <a:spcPct val="95000"/>
                        </a:lnSpc>
                      </a:pPr>
                      <a:r>
                        <a:rPr sz="1100" b="0">
                          <a:solidFill>
                            <a:srgbClr val="111827"/>
                          </a:solidFill>
                          <a:latin typeface="Segoe UI"/>
                        </a:rPr>
                        <a:t>Không phải Chrome/Edge.</a:t>
                      </a:r>
                    </a:p>
                  </a:txBody>
                  <a:tcPr marL="54864" marR="54864" marT="18288" marB="18288">
                    <a:solidFill>
                      <a:srgbClr val="F1F5F9"/>
                    </a:solidFill>
                  </a:tcPr>
                </a:tc>
                <a:tc>
                  <a:txBody>
                    <a:bodyPr/>
                    <a:lstStyle/>
                    <a:p>
                      <a:pPr>
                        <a:lnSpc>
                          <a:spcPct val="95000"/>
                        </a:lnSpc>
                      </a:pPr>
                      <a:r>
                        <a:rPr sz="1100" b="0">
                          <a:solidFill>
                            <a:srgbClr val="111827"/>
                          </a:solidFill>
                          <a:latin typeface="Segoe UI"/>
                        </a:rPr>
                        <a:t>Hãy mở bằng Chrome hoặc Edge.</a:t>
                      </a:r>
                    </a:p>
                  </a:txBody>
                  <a:tcPr marL="54864" marR="54864" marT="18288" marB="18288">
                    <a:solidFill>
                      <a:srgbClr val="F1F5F9"/>
                    </a:solidFill>
                  </a:tcPr>
                </a:tc>
              </a:tr>
            </a:tbl>
          </a:graphicData>
        </a:graphic>
      </p:graphicFrame>
      <p:sp>
        <p:nvSpPr>
          <p:cNvPr id="7" name="Rounded Rectangle 6"/>
          <p:cNvSpPr/>
          <p:nvPr/>
        </p:nvSpPr>
        <p:spPr>
          <a:xfrm>
            <a:off x="640080" y="3419856"/>
            <a:ext cx="10881360" cy="1005840"/>
          </a:xfrm>
          <a:prstGeom prst="roundRect">
            <a:avLst>
              <a:gd name="adj" fmla="val 8000"/>
            </a:avLst>
          </a:prstGeom>
          <a:solidFill>
            <a:srgbClr val="7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511296"/>
            <a:ext cx="457200" cy="365760"/>
          </a:xfrm>
          <a:prstGeom prst="rect">
            <a:avLst/>
          </a:prstGeom>
          <a:noFill/>
        </p:spPr>
        <p:txBody>
          <a:bodyPr wrap="square" anchor="ctr" lIns="0" rIns="0" tIns="0" bIns="0">
            <a:spAutoFit/>
          </a:bodyPr>
          <a:lstStyle/>
          <a:p>
            <a:pPr algn="l"/>
            <a:r>
              <a:rPr sz="2000" b="0">
                <a:solidFill>
                  <a:srgbClr val="FEE2E2"/>
                </a:solidFill>
                <a:latin typeface="Segoe UI"/>
              </a:rPr>
              <a:t>⚠</a:t>
            </a:r>
          </a:p>
        </p:txBody>
      </p:sp>
      <p:sp>
        <p:nvSpPr>
          <p:cNvPr id="9" name="TextBox 8"/>
          <p:cNvSpPr txBox="1"/>
          <p:nvPr/>
        </p:nvSpPr>
        <p:spPr>
          <a:xfrm>
            <a:off x="1325880" y="3529584"/>
            <a:ext cx="7772400" cy="365760"/>
          </a:xfrm>
          <a:prstGeom prst="rect">
            <a:avLst/>
          </a:prstGeom>
          <a:noFill/>
        </p:spPr>
        <p:txBody>
          <a:bodyPr wrap="square" anchor="ctr" lIns="0" rIns="0" tIns="0" bIns="0">
            <a:spAutoFit/>
          </a:bodyPr>
          <a:lstStyle/>
          <a:p>
            <a:pPr algn="l"/>
            <a:r>
              <a:rPr sz="1350" b="1">
                <a:solidFill>
                  <a:srgbClr val="FEE2E2"/>
                </a:solidFill>
                <a:latin typeface="Segoe UI"/>
              </a:rPr>
              <a:t>Đã mở bằng địa chỉ khác thường lệ — linh kiện·thời gian chuẩn đã lưu không hiện ra</a:t>
            </a:r>
          </a:p>
        </p:txBody>
      </p:sp>
      <p:sp>
        <p:nvSpPr>
          <p:cNvPr id="10" name="TextBox 9"/>
          <p:cNvSpPr txBox="1"/>
          <p:nvPr/>
        </p:nvSpPr>
        <p:spPr>
          <a:xfrm>
            <a:off x="1325880" y="3950208"/>
            <a:ext cx="7772400" cy="365760"/>
          </a:xfrm>
          <a:prstGeom prst="rect">
            <a:avLst/>
          </a:prstGeom>
          <a:noFill/>
        </p:spPr>
        <p:txBody>
          <a:bodyPr wrap="square" anchor="ctr" lIns="0" rIns="0" tIns="0" bIns="0">
            <a:spAutoFit/>
          </a:bodyPr>
          <a:lstStyle/>
          <a:p>
            <a:pPr algn="l"/>
            <a:r>
              <a:rPr sz="1150" b="0">
                <a:solidFill>
                  <a:srgbClr val="FECACA"/>
                </a:solidFill>
                <a:latin typeface="Segoe UI"/>
              </a:rPr>
              <a:t>Trình duyệt lưu dữ liệu theo từng địa chỉ. (Dữ liệu không bị xóa)</a:t>
            </a:r>
          </a:p>
        </p:txBody>
      </p:sp>
      <p:sp>
        <p:nvSpPr>
          <p:cNvPr id="11" name="Rounded Rectangle 10"/>
          <p:cNvSpPr/>
          <p:nvPr/>
        </p:nvSpPr>
        <p:spPr>
          <a:xfrm>
            <a:off x="9326880" y="3694176"/>
            <a:ext cx="1920240" cy="45720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0" y="3694176"/>
            <a:ext cx="1920240" cy="457200"/>
          </a:xfrm>
          <a:prstGeom prst="rect">
            <a:avLst/>
          </a:prstGeom>
          <a:noFill/>
        </p:spPr>
        <p:txBody>
          <a:bodyPr wrap="square" anchor="ctr" lIns="0" rIns="0" tIns="0" bIns="0">
            <a:spAutoFit/>
          </a:bodyPr>
          <a:lstStyle/>
          <a:p>
            <a:pPr algn="ctr"/>
            <a:r>
              <a:rPr sz="1150" b="1">
                <a:solidFill>
                  <a:srgbClr val="FFFFFF"/>
                </a:solidFill>
                <a:latin typeface="Segoe UI"/>
              </a:rPr>
              <a:t>Mở bằng địa chỉ chuẩn</a:t>
            </a:r>
          </a:p>
        </p:txBody>
      </p:sp>
      <p:sp>
        <p:nvSpPr>
          <p:cNvPr id="13" name="TextBox 12"/>
          <p:cNvSpPr txBox="1"/>
          <p:nvPr/>
        </p:nvSpPr>
        <p:spPr>
          <a:xfrm>
            <a:off x="640080" y="4654296"/>
            <a:ext cx="11064240" cy="365760"/>
          </a:xfrm>
          <a:prstGeom prst="rect">
            <a:avLst/>
          </a:prstGeom>
          <a:noFill/>
        </p:spPr>
        <p:txBody>
          <a:bodyPr wrap="square" anchor="ctr" lIns="0" rIns="0" tIns="0" bIns="0">
            <a:spAutoFit/>
          </a:bodyPr>
          <a:lstStyle/>
          <a:p>
            <a:pPr algn="l"/>
            <a:r>
              <a:rPr sz="1250" b="1">
                <a:solidFill>
                  <a:srgbClr val="B45309"/>
                </a:solidFill>
                <a:latin typeface="Segoe UI"/>
              </a:rPr>
              <a:t>※ Thấy dải này thì nhấn nút, hoặc đóng hết cửa sổ rồi chạy lại</a:t>
            </a:r>
          </a:p>
        </p:txBody>
      </p:sp>
      <p:sp>
        <p:nvSpPr>
          <p:cNvPr id="14" name="TextBox 13"/>
          <p:cNvSpPr txBox="1"/>
          <p:nvPr/>
        </p:nvSpPr>
        <p:spPr>
          <a:xfrm>
            <a:off x="548640" y="5248656"/>
            <a:ext cx="11064240" cy="292608"/>
          </a:xfrm>
          <a:prstGeom prst="rect">
            <a:avLst/>
          </a:prstGeom>
          <a:noFill/>
        </p:spPr>
        <p:txBody>
          <a:bodyPr wrap="square" anchor="ctr" lIns="0" rIns="0" tIns="0" bIns="0">
            <a:spAutoFit/>
          </a:bodyPr>
          <a:lstStyle/>
          <a:p>
            <a:pPr algn="ctr"/>
            <a:r>
              <a:rPr sz="1150" b="0">
                <a:solidFill>
                  <a:srgbClr val="94A3B8"/>
                </a:solidFill>
                <a:latin typeface="Segoe UI"/>
              </a:rPr>
              <a:t>Dải cảnh báo hiện ở đầu màn hình khi địa chỉ bị lệch</a:t>
            </a:r>
          </a:p>
        </p:txBody>
      </p:sp>
      <p:sp>
        <p:nvSpPr>
          <p:cNvPr id="15" name="Rounded Rectangle 14"/>
          <p:cNvSpPr/>
          <p:nvPr/>
        </p:nvSpPr>
        <p:spPr>
          <a:xfrm>
            <a:off x="640080" y="5705856"/>
            <a:ext cx="10881360" cy="566928"/>
          </a:xfrm>
          <a:prstGeom prst="roundRect">
            <a:avLst>
              <a:gd name="adj" fmla="val 8000"/>
            </a:avLst>
          </a:prstGeom>
          <a:solidFill>
            <a:srgbClr val="E8F1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705856"/>
            <a:ext cx="10515600" cy="566928"/>
          </a:xfrm>
          <a:prstGeom prst="rect">
            <a:avLst/>
          </a:prstGeom>
          <a:noFill/>
        </p:spPr>
        <p:txBody>
          <a:bodyPr wrap="square" anchor="ctr" lIns="0" rIns="0" tIns="0" bIns="0">
            <a:spAutoFit/>
          </a:bodyPr>
          <a:lstStyle/>
          <a:p>
            <a:pPr algn="l"/>
            <a:r>
              <a:rPr sz="1250" b="0">
                <a:solidFill>
                  <a:srgbClr val="111827"/>
                </a:solidFill>
                <a:latin typeface="Segoe UI"/>
              </a:rPr>
              <a:t>ℹ Nếu vẫn không được, hãy gửi </a:t>
            </a:r>
            <a:r>
              <a:rPr sz="1250" b="1">
                <a:solidFill>
                  <a:srgbClr val="111827"/>
                </a:solidFill>
                <a:latin typeface="Segoe UI"/>
              </a:rPr>
              <a:t>hiện tượng + ảnh chụp màn hình</a:t>
            </a:r>
            <a:r>
              <a:rPr sz="1250" b="0">
                <a:solidFill>
                  <a:srgbClr val="111827"/>
                </a:solidFill>
                <a:latin typeface="Segoe UI"/>
              </a:rPr>
              <a:t> cho người phụ trách. lovekhl83@gmail.com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41248"/>
          </a:xfrm>
          <a:prstGeom prst="rect">
            <a:avLst/>
          </a:prstGeom>
          <a:solidFill>
            <a:srgbClr val="0F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
            <a:ext cx="9601200" cy="365760"/>
          </a:xfrm>
          <a:prstGeom prst="rect">
            <a:avLst/>
          </a:prstGeom>
          <a:noFill/>
        </p:spPr>
        <p:txBody>
          <a:bodyPr wrap="square" anchor="ctr" lIns="0" rIns="0" tIns="0" bIns="0">
            <a:spAutoFit/>
          </a:bodyPr>
          <a:lstStyle/>
          <a:p>
            <a:pPr algn="l"/>
            <a:r>
              <a:rPr sz="2200" b="1">
                <a:solidFill>
                  <a:srgbClr val="FFFFFF"/>
                </a:solidFill>
                <a:latin typeface="Segoe UI"/>
              </a:rPr>
              <a:t>📖  17. Bảng thuật ngữ</a:t>
            </a:r>
          </a:p>
        </p:txBody>
      </p:sp>
      <p:sp>
        <p:nvSpPr>
          <p:cNvPr id="4" name="TextBox 3"/>
          <p:cNvSpPr txBox="1"/>
          <p:nvPr/>
        </p:nvSpPr>
        <p:spPr>
          <a:xfrm>
            <a:off x="502920" y="502920"/>
            <a:ext cx="10515600" cy="274320"/>
          </a:xfrm>
          <a:prstGeom prst="rect">
            <a:avLst/>
          </a:prstGeom>
          <a:noFill/>
        </p:spPr>
        <p:txBody>
          <a:bodyPr wrap="square" anchor="ctr" lIns="0" rIns="0" tIns="0" bIns="0">
            <a:spAutoFit/>
          </a:bodyPr>
          <a:lstStyle/>
          <a:p>
            <a:pPr algn="l"/>
            <a:r>
              <a:rPr sz="1150" b="0">
                <a:solidFill>
                  <a:srgbClr val="93C5FD"/>
                </a:solidFill>
                <a:latin typeface="Segoe UI"/>
              </a:rPr>
              <a:t>Chỉ gom những từ hay dùng tại hiện trường.</a:t>
            </a:r>
          </a:p>
        </p:txBody>
      </p:sp>
      <p:sp>
        <p:nvSpPr>
          <p:cNvPr id="5" name="TextBox 4"/>
          <p:cNvSpPr txBox="1"/>
          <p:nvPr/>
        </p:nvSpPr>
        <p:spPr>
          <a:xfrm>
            <a:off x="10728655" y="256032"/>
            <a:ext cx="1005840" cy="320040"/>
          </a:xfrm>
          <a:prstGeom prst="rect">
            <a:avLst/>
          </a:prstGeom>
          <a:noFill/>
        </p:spPr>
        <p:txBody>
          <a:bodyPr wrap="square" anchor="ctr" lIns="0" rIns="0" tIns="0" bIns="0">
            <a:spAutoFit/>
          </a:bodyPr>
          <a:lstStyle/>
          <a:p>
            <a:pPr algn="r"/>
            <a:r>
              <a:rPr sz="1200" b="0">
                <a:solidFill>
                  <a:srgbClr val="93C5FD"/>
                </a:solidFill>
                <a:latin typeface="Segoe UI"/>
              </a:rPr>
              <a:t>17/17</a:t>
            </a:r>
          </a:p>
        </p:txBody>
      </p:sp>
      <p:graphicFrame>
        <p:nvGraphicFramePr>
          <p:cNvPr id="6" name="Table 5"/>
          <p:cNvGraphicFramePr>
            <a:graphicFrameLocks noGrp="1"/>
          </p:cNvGraphicFramePr>
          <p:nvPr/>
        </p:nvGraphicFramePr>
        <p:xfrm>
          <a:off x="640080" y="1143000"/>
          <a:ext cx="10881360" cy="4114800"/>
        </p:xfrm>
        <a:graphic>
          <a:graphicData uri="http://schemas.openxmlformats.org/drawingml/2006/table">
            <a:tbl>
              <a:tblPr firstRow="1" bandRow="1">
                <a:tableStyleId>{5C22544A-7EE6-4342-B048-85BDC9FD1C3A}</a:tableStyleId>
              </a:tblPr>
              <a:tblGrid>
                <a:gridCol w="5440680"/>
                <a:gridCol w="5440680"/>
              </a:tblGrid>
              <a:tr h="293914">
                <a:tc>
                  <a:txBody>
                    <a:bodyPr/>
                    <a:lstStyle/>
                    <a:p>
                      <a:r>
                        <a:rPr sz="1100" b="1">
                          <a:solidFill>
                            <a:srgbClr val="FFFFFF"/>
                          </a:solidFill>
                          <a:latin typeface="Segoe UI"/>
                        </a:rPr>
                        <a:t>Thuật ngữ</a:t>
                      </a:r>
                    </a:p>
                  </a:txBody>
                  <a:tcPr marL="54864" marR="54864">
                    <a:solidFill>
                      <a:srgbClr val="1E3A5F"/>
                    </a:solidFill>
                  </a:tcPr>
                </a:tc>
                <a:tc>
                  <a:txBody>
                    <a:bodyPr/>
                    <a:lstStyle/>
                    <a:p>
                      <a:r>
                        <a:rPr sz="1100" b="1">
                          <a:solidFill>
                            <a:srgbClr val="FFFFFF"/>
                          </a:solidFill>
                          <a:latin typeface="Segoe UI"/>
                        </a:rPr>
                        <a:t>Giải thích dễ hiểu</a:t>
                      </a:r>
                    </a:p>
                  </a:txBody>
                  <a:tcPr marL="54864" marR="54864">
                    <a:solidFill>
                      <a:srgbClr val="1E3A5F"/>
                    </a:solidFill>
                  </a:tcPr>
                </a:tc>
              </a:tr>
              <a:tr h="293914">
                <a:tc>
                  <a:txBody>
                    <a:bodyPr/>
                    <a:lstStyle/>
                    <a:p>
                      <a:pPr>
                        <a:lnSpc>
                          <a:spcPct val="95000"/>
                        </a:lnSpc>
                      </a:pPr>
                      <a:r>
                        <a:rPr sz="1100" b="0">
                          <a:solidFill>
                            <a:srgbClr val="111827"/>
                          </a:solidFill>
                          <a:latin typeface="Segoe UI"/>
                        </a:rPr>
                        <a:t>Takt time (T/T)</a:t>
                      </a:r>
                    </a:p>
                  </a:txBody>
                  <a:tcPr marL="54864" marR="54864" marT="18288" marB="18288">
                    <a:solidFill>
                      <a:srgbClr val="F1F5F9"/>
                    </a:solidFill>
                  </a:tcPr>
                </a:tc>
                <a:tc>
                  <a:txBody>
                    <a:bodyPr/>
                    <a:lstStyle/>
                    <a:p>
                      <a:pPr>
                        <a:lnSpc>
                          <a:spcPct val="95000"/>
                        </a:lnSpc>
                      </a:pPr>
                      <a:r>
                        <a:rPr sz="1100" b="0">
                          <a:solidFill>
                            <a:srgbClr val="111827"/>
                          </a:solidFill>
                          <a:latin typeface="Segoe UI"/>
                        </a:rPr>
                        <a:t>Cứ bao nhiêu giây phải ra một sản phẩm. </a:t>
                      </a:r>
                      <a:r>
                        <a:rPr sz="1100" b="1">
                          <a:solidFill>
                            <a:srgbClr val="111827"/>
                          </a:solidFill>
                          <a:latin typeface="Segoe UI"/>
                        </a:rPr>
                        <a:t>Thời gian vận hành ÷ Mục tiêu sản lượng</a:t>
                      </a:r>
                    </a:p>
                  </a:txBody>
                  <a:tcPr marL="54864" marR="54864" marT="18288" marB="18288">
                    <a:solidFill>
                      <a:srgbClr val="F1F5F9"/>
                    </a:solidFill>
                  </a:tcPr>
                </a:tc>
              </a:tr>
              <a:tr h="293914">
                <a:tc>
                  <a:txBody>
                    <a:bodyPr/>
                    <a:lstStyle/>
                    <a:p>
                      <a:pPr>
                        <a:lnSpc>
                          <a:spcPct val="95000"/>
                        </a:lnSpc>
                      </a:pPr>
                      <a:r>
                        <a:rPr sz="1100" b="0">
                          <a:solidFill>
                            <a:srgbClr val="111827"/>
                          </a:solidFill>
                          <a:latin typeface="Segoe UI"/>
                        </a:rPr>
                        <a:t>Cycle time (CT)</a:t>
                      </a:r>
                    </a:p>
                  </a:txBody>
                  <a:tcPr marL="54864" marR="54864" marT="18288" marB="18288">
                    <a:solidFill>
                      <a:srgbClr val="FFFFFF"/>
                    </a:solidFill>
                  </a:tcPr>
                </a:tc>
                <a:tc>
                  <a:txBody>
                    <a:bodyPr/>
                    <a:lstStyle/>
                    <a:p>
                      <a:pPr>
                        <a:lnSpc>
                          <a:spcPct val="95000"/>
                        </a:lnSpc>
                      </a:pPr>
                      <a:r>
                        <a:rPr sz="1100" b="0">
                          <a:solidFill>
                            <a:srgbClr val="111827"/>
                          </a:solidFill>
                          <a:latin typeface="Segoe UI"/>
                        </a:rPr>
                        <a:t>Thời gian thực tế để ra một sản phẩm. Do người chậm nhất quyết định.</a:t>
                      </a:r>
                    </a:p>
                  </a:txBody>
                  <a:tcPr marL="54864" marR="54864" marT="18288" marB="18288">
                    <a:solidFill>
                      <a:srgbClr val="FFFFFF"/>
                    </a:solidFill>
                  </a:tcPr>
                </a:tc>
              </a:tr>
              <a:tr h="293914">
                <a:tc>
                  <a:txBody>
                    <a:bodyPr/>
                    <a:lstStyle/>
                    <a:p>
                      <a:pPr>
                        <a:lnSpc>
                          <a:spcPct val="95000"/>
                        </a:lnSpc>
                      </a:pPr>
                      <a:r>
                        <a:rPr sz="1100" b="0">
                          <a:solidFill>
                            <a:srgbClr val="111827"/>
                          </a:solidFill>
                          <a:latin typeface="Segoe UI"/>
                        </a:rPr>
                        <a:t>Thời gian chuẩn (ST)</a:t>
                      </a:r>
                    </a:p>
                  </a:txBody>
                  <a:tcPr marL="54864" marR="54864" marT="18288" marB="18288">
                    <a:solidFill>
                      <a:srgbClr val="F1F5F9"/>
                    </a:solidFill>
                  </a:tcPr>
                </a:tc>
                <a:tc>
                  <a:txBody>
                    <a:bodyPr/>
                    <a:lstStyle/>
                    <a:p>
                      <a:pPr>
                        <a:lnSpc>
                          <a:spcPct val="95000"/>
                        </a:lnSpc>
                      </a:pPr>
                      <a:r>
                        <a:rPr sz="1100" b="0">
                          <a:solidFill>
                            <a:srgbClr val="111827"/>
                          </a:solidFill>
                          <a:latin typeface="Segoe UI"/>
                        </a:rPr>
                        <a:t>Thời gian quy định ai làm cũng mất khoảng đó. Thời gian đo × Rating × (1+Dung sai)</a:t>
                      </a:r>
                    </a:p>
                  </a:txBody>
                  <a:tcPr marL="54864" marR="54864" marT="18288" marB="18288">
                    <a:solidFill>
                      <a:srgbClr val="F1F5F9"/>
                    </a:solidFill>
                  </a:tcPr>
                </a:tc>
              </a:tr>
              <a:tr h="293914">
                <a:tc>
                  <a:txBody>
                    <a:bodyPr/>
                    <a:lstStyle/>
                    <a:p>
                      <a:pPr>
                        <a:lnSpc>
                          <a:spcPct val="95000"/>
                        </a:lnSpc>
                      </a:pPr>
                      <a:r>
                        <a:rPr sz="1100" b="0">
                          <a:solidFill>
                            <a:srgbClr val="111827"/>
                          </a:solidFill>
                          <a:latin typeface="Segoe UI"/>
                        </a:rPr>
                        <a:t>Rating</a:t>
                      </a:r>
                    </a:p>
                  </a:txBody>
                  <a:tcPr marL="54864" marR="54864" marT="18288" marB="18288">
                    <a:solidFill>
                      <a:srgbClr val="FFFFFF"/>
                    </a:solidFill>
                  </a:tcPr>
                </a:tc>
                <a:tc>
                  <a:txBody>
                    <a:bodyPr/>
                    <a:lstStyle/>
                    <a:p>
                      <a:pPr>
                        <a:lnSpc>
                          <a:spcPct val="95000"/>
                        </a:lnSpc>
                      </a:pPr>
                      <a:r>
                        <a:rPr sz="1100" b="0">
                          <a:solidFill>
                            <a:srgbClr val="111827"/>
                          </a:solidFill>
                          <a:latin typeface="Segoe UI"/>
                        </a:rPr>
                        <a:t>Tốc độ người được quay bằng bao nhiêu % so với mức bình thường</a:t>
                      </a:r>
                    </a:p>
                  </a:txBody>
                  <a:tcPr marL="54864" marR="54864" marT="18288" marB="18288">
                    <a:solidFill>
                      <a:srgbClr val="FFFFFF"/>
                    </a:solidFill>
                  </a:tcPr>
                </a:tc>
              </a:tr>
              <a:tr h="293914">
                <a:tc>
                  <a:txBody>
                    <a:bodyPr/>
                    <a:lstStyle/>
                    <a:p>
                      <a:pPr>
                        <a:lnSpc>
                          <a:spcPct val="95000"/>
                        </a:lnSpc>
                      </a:pPr>
                      <a:r>
                        <a:rPr sz="1100" b="0">
                          <a:solidFill>
                            <a:srgbClr val="111827"/>
                          </a:solidFill>
                          <a:latin typeface="Segoe UI"/>
                        </a:rPr>
                        <a:t>Dung sai</a:t>
                      </a:r>
                    </a:p>
                  </a:txBody>
                  <a:tcPr marL="54864" marR="54864" marT="18288" marB="18288">
                    <a:solidFill>
                      <a:srgbClr val="F1F5F9"/>
                    </a:solidFill>
                  </a:tcPr>
                </a:tc>
                <a:tc>
                  <a:txBody>
                    <a:bodyPr/>
                    <a:lstStyle/>
                    <a:p>
                      <a:pPr>
                        <a:lnSpc>
                          <a:spcPct val="95000"/>
                        </a:lnSpc>
                      </a:pPr>
                      <a:r>
                        <a:rPr sz="1100" b="0">
                          <a:solidFill>
                            <a:srgbClr val="111827"/>
                          </a:solidFill>
                          <a:latin typeface="Segoe UI"/>
                        </a:rPr>
                        <a:t>Tỷ lệ cộng thêm cho mệt mỏi·vệ sinh...</a:t>
                      </a:r>
                    </a:p>
                  </a:txBody>
                  <a:tcPr marL="54864" marR="54864" marT="18288" marB="18288">
                    <a:solidFill>
                      <a:srgbClr val="F1F5F9"/>
                    </a:solidFill>
                  </a:tcPr>
                </a:tc>
              </a:tr>
              <a:tr h="293914">
                <a:tc>
                  <a:txBody>
                    <a:bodyPr/>
                    <a:lstStyle/>
                    <a:p>
                      <a:pPr>
                        <a:lnSpc>
                          <a:spcPct val="95000"/>
                        </a:lnSpc>
                      </a:pPr>
                      <a:r>
                        <a:rPr sz="1100" b="0">
                          <a:solidFill>
                            <a:srgbClr val="111827"/>
                          </a:solidFill>
                          <a:latin typeface="Segoe UI"/>
                        </a:rPr>
                        <a:t>Thao tác giá trị</a:t>
                      </a:r>
                    </a:p>
                  </a:txBody>
                  <a:tcPr marL="54864" marR="54864" marT="18288" marB="18288">
                    <a:solidFill>
                      <a:srgbClr val="FFFFFF"/>
                    </a:solidFill>
                  </a:tcPr>
                </a:tc>
                <a:tc>
                  <a:txBody>
                    <a:bodyPr/>
                    <a:lstStyle/>
                    <a:p>
                      <a:pPr>
                        <a:lnSpc>
                          <a:spcPct val="95000"/>
                        </a:lnSpc>
                      </a:pPr>
                      <a:r>
                        <a:rPr sz="1100" b="0">
                          <a:solidFill>
                            <a:srgbClr val="111827"/>
                          </a:solidFill>
                          <a:latin typeface="Segoe UI"/>
                        </a:rPr>
                        <a:t>Thao tác cần thiết tạo ra giá trị sản phẩm</a:t>
                      </a:r>
                    </a:p>
                  </a:txBody>
                  <a:tcPr marL="54864" marR="54864" marT="18288" marB="18288">
                    <a:solidFill>
                      <a:srgbClr val="FFFFFF"/>
                    </a:solidFill>
                  </a:tcPr>
                </a:tc>
              </a:tr>
              <a:tr h="293914">
                <a:tc>
                  <a:txBody>
                    <a:bodyPr/>
                    <a:lstStyle/>
                    <a:p>
                      <a:pPr>
                        <a:lnSpc>
                          <a:spcPct val="95000"/>
                        </a:lnSpc>
                      </a:pPr>
                      <a:r>
                        <a:rPr sz="1100" b="0">
                          <a:solidFill>
                            <a:srgbClr val="111827"/>
                          </a:solidFill>
                          <a:latin typeface="Segoe UI"/>
                        </a:rPr>
                        <a:t>Thao tác phụ trợ</a:t>
                      </a:r>
                    </a:p>
                  </a:txBody>
                  <a:tcPr marL="54864" marR="54864" marT="18288" marB="18288">
                    <a:solidFill>
                      <a:srgbClr val="F1F5F9"/>
                    </a:solidFill>
                  </a:tcPr>
                </a:tc>
                <a:tc>
                  <a:txBody>
                    <a:bodyPr/>
                    <a:lstStyle/>
                    <a:p>
                      <a:pPr>
                        <a:lnSpc>
                          <a:spcPct val="95000"/>
                        </a:lnSpc>
                      </a:pPr>
                      <a:r>
                        <a:rPr sz="1100" b="0">
                          <a:solidFill>
                            <a:srgbClr val="111827"/>
                          </a:solidFill>
                          <a:latin typeface="Segoe UI"/>
                        </a:rPr>
                        <a:t>Hiện cần nhưng nên loại bỏ nếu được</a:t>
                      </a:r>
                    </a:p>
                  </a:txBody>
                  <a:tcPr marL="54864" marR="54864" marT="18288" marB="18288">
                    <a:solidFill>
                      <a:srgbClr val="F1F5F9"/>
                    </a:solidFill>
                  </a:tcPr>
                </a:tc>
              </a:tr>
              <a:tr h="293914">
                <a:tc>
                  <a:txBody>
                    <a:bodyPr/>
                    <a:lstStyle/>
                    <a:p>
                      <a:pPr>
                        <a:lnSpc>
                          <a:spcPct val="95000"/>
                        </a:lnSpc>
                      </a:pPr>
                      <a:r>
                        <a:rPr sz="1100" b="0">
                          <a:solidFill>
                            <a:srgbClr val="111827"/>
                          </a:solidFill>
                          <a:latin typeface="Segoe UI"/>
                        </a:rPr>
                        <a:t>Lãng phí</a:t>
                      </a:r>
                    </a:p>
                  </a:txBody>
                  <a:tcPr marL="54864" marR="54864" marT="18288" marB="18288">
                    <a:solidFill>
                      <a:srgbClr val="FFFFFF"/>
                    </a:solidFill>
                  </a:tcPr>
                </a:tc>
                <a:tc>
                  <a:txBody>
                    <a:bodyPr/>
                    <a:lstStyle/>
                    <a:p>
                      <a:pPr>
                        <a:lnSpc>
                          <a:spcPct val="95000"/>
                        </a:lnSpc>
                      </a:pPr>
                      <a:r>
                        <a:rPr sz="1100" b="0">
                          <a:solidFill>
                            <a:srgbClr val="111827"/>
                          </a:solidFill>
                          <a:latin typeface="Segoe UI"/>
                        </a:rPr>
                        <a:t>Thao tác phải loại bỏ (chờ·tìm·làm lại)</a:t>
                      </a:r>
                    </a:p>
                  </a:txBody>
                  <a:tcPr marL="54864" marR="54864" marT="18288" marB="18288">
                    <a:solidFill>
                      <a:srgbClr val="FFFFFF"/>
                    </a:solidFill>
                  </a:tcPr>
                </a:tc>
              </a:tr>
              <a:tr h="293914">
                <a:tc>
                  <a:txBody>
                    <a:bodyPr/>
                    <a:lstStyle/>
                    <a:p>
                      <a:pPr>
                        <a:lnSpc>
                          <a:spcPct val="95000"/>
                        </a:lnSpc>
                      </a:pPr>
                      <a:r>
                        <a:rPr sz="1100" b="0">
                          <a:solidFill>
                            <a:srgbClr val="111827"/>
                          </a:solidFill>
                          <a:latin typeface="Segoe UI"/>
                        </a:rPr>
                        <a:t>Tỷ lệ cân bằng</a:t>
                      </a:r>
                    </a:p>
                  </a:txBody>
                  <a:tcPr marL="54864" marR="54864" marT="18288" marB="18288">
                    <a:solidFill>
                      <a:srgbClr val="F1F5F9"/>
                    </a:solidFill>
                  </a:tcPr>
                </a:tc>
                <a:tc>
                  <a:txBody>
                    <a:bodyPr/>
                    <a:lstStyle/>
                    <a:p>
                      <a:pPr>
                        <a:lnSpc>
                          <a:spcPct val="95000"/>
                        </a:lnSpc>
                      </a:pPr>
                      <a:r>
                        <a:rPr sz="1100" b="0">
                          <a:solidFill>
                            <a:srgbClr val="111827"/>
                          </a:solidFill>
                          <a:latin typeface="Segoe UI"/>
                        </a:rPr>
                        <a:t>Công việc được chia đều đến mức nào. Càng cao càng tốt</a:t>
                      </a:r>
                    </a:p>
                  </a:txBody>
                  <a:tcPr marL="54864" marR="54864" marT="18288" marB="18288">
                    <a:solidFill>
                      <a:srgbClr val="F1F5F9"/>
                    </a:solidFill>
                  </a:tcPr>
                </a:tc>
              </a:tr>
              <a:tr h="293914">
                <a:tc>
                  <a:txBody>
                    <a:bodyPr/>
                    <a:lstStyle/>
                    <a:p>
                      <a:pPr>
                        <a:lnSpc>
                          <a:spcPct val="95000"/>
                        </a:lnSpc>
                      </a:pPr>
                      <a:r>
                        <a:rPr sz="1100" b="0">
                          <a:solidFill>
                            <a:srgbClr val="111827"/>
                          </a:solidFill>
                          <a:latin typeface="Segoe UI"/>
                        </a:rPr>
                        <a:t>Nút thắt</a:t>
                      </a:r>
                    </a:p>
                  </a:txBody>
                  <a:tcPr marL="54864" marR="54864" marT="18288" marB="18288">
                    <a:solidFill>
                      <a:srgbClr val="FFFFFF"/>
                    </a:solidFill>
                  </a:tcPr>
                </a:tc>
                <a:tc>
                  <a:txBody>
                    <a:bodyPr/>
                    <a:lstStyle/>
                    <a:p>
                      <a:pPr>
                        <a:lnSpc>
                          <a:spcPct val="95000"/>
                        </a:lnSpc>
                      </a:pPr>
                      <a:r>
                        <a:rPr sz="1100" b="0">
                          <a:solidFill>
                            <a:srgbClr val="111827"/>
                          </a:solidFill>
                          <a:latin typeface="Segoe UI"/>
                        </a:rPr>
                        <a:t>Điểm mất nhiều thời gian nhất, quyết định tốc độ chuyền</a:t>
                      </a:r>
                    </a:p>
                  </a:txBody>
                  <a:tcPr marL="54864" marR="54864" marT="18288" marB="18288">
                    <a:solidFill>
                      <a:srgbClr val="FFFFFF"/>
                    </a:solidFill>
                  </a:tcPr>
                </a:tc>
              </a:tr>
              <a:tr h="293914">
                <a:tc>
                  <a:txBody>
                    <a:bodyPr/>
                    <a:lstStyle/>
                    <a:p>
                      <a:pPr>
                        <a:lnSpc>
                          <a:spcPct val="95000"/>
                        </a:lnSpc>
                      </a:pPr>
                      <a:r>
                        <a:rPr sz="1100" b="0">
                          <a:solidFill>
                            <a:srgbClr val="111827"/>
                          </a:solidFill>
                          <a:latin typeface="Segoe UI"/>
                        </a:rPr>
                        <a:t>HBR (cân bằng hai tay)</a:t>
                      </a:r>
                    </a:p>
                  </a:txBody>
                  <a:tcPr marL="54864" marR="54864" marT="18288" marB="18288">
                    <a:solidFill>
                      <a:srgbClr val="F1F5F9"/>
                    </a:solidFill>
                  </a:tcPr>
                </a:tc>
                <a:tc>
                  <a:txBody>
                    <a:bodyPr/>
                    <a:lstStyle/>
                    <a:p>
                      <a:pPr>
                        <a:lnSpc>
                          <a:spcPct val="95000"/>
                        </a:lnSpc>
                      </a:pPr>
                      <a:r>
                        <a:rPr sz="1100" b="0">
                          <a:solidFill>
                            <a:srgbClr val="111827"/>
                          </a:solidFill>
                          <a:latin typeface="Segoe UI"/>
                        </a:rPr>
                        <a:t>Tay trái và tay phải làm việc đều đến mức nào</a:t>
                      </a:r>
                    </a:p>
                  </a:txBody>
                  <a:tcPr marL="54864" marR="54864" marT="18288" marB="18288">
                    <a:solidFill>
                      <a:srgbClr val="F1F5F9"/>
                    </a:solidFill>
                  </a:tcPr>
                </a:tc>
              </a:tr>
              <a:tr h="293914">
                <a:tc>
                  <a:txBody>
                    <a:bodyPr/>
                    <a:lstStyle/>
                    <a:p>
                      <a:pPr>
                        <a:lnSpc>
                          <a:spcPct val="95000"/>
                        </a:lnSpc>
                      </a:pPr>
                      <a:r>
                        <a:rPr sz="1100" b="0">
                          <a:solidFill>
                            <a:srgbClr val="111827"/>
                          </a:solidFill>
                          <a:latin typeface="Segoe UI"/>
                        </a:rPr>
                        <a:t>Công đoạn MI</a:t>
                      </a:r>
                    </a:p>
                  </a:txBody>
                  <a:tcPr marL="54864" marR="54864" marT="18288" marB="18288">
                    <a:solidFill>
                      <a:srgbClr val="FFFFFF"/>
                    </a:solidFill>
                  </a:tcPr>
                </a:tc>
                <a:tc>
                  <a:txBody>
                    <a:bodyPr/>
                    <a:lstStyle/>
                    <a:p>
                      <a:pPr>
                        <a:lnSpc>
                          <a:spcPct val="95000"/>
                        </a:lnSpc>
                      </a:pPr>
                      <a:r>
                        <a:rPr sz="1100" b="0">
                          <a:solidFill>
                            <a:srgbClr val="111827"/>
                          </a:solidFill>
                          <a:latin typeface="Segoe UI"/>
                        </a:rPr>
                        <a:t>Công đoạn người cắm linh kiện bằng tay</a:t>
                      </a:r>
                    </a:p>
                  </a:txBody>
                  <a:tcPr marL="54864" marR="54864" marT="18288" marB="18288">
                    <a:solidFill>
                      <a:srgbClr val="FFFFFF"/>
                    </a:solidFill>
                  </a:tcPr>
                </a:tc>
              </a:tr>
              <a:tr h="293918">
                <a:tc>
                  <a:txBody>
                    <a:bodyPr/>
                    <a:lstStyle/>
                    <a:p>
                      <a:pPr>
                        <a:lnSpc>
                          <a:spcPct val="95000"/>
                        </a:lnSpc>
                      </a:pPr>
                      <a:r>
                        <a:rPr sz="1100" b="0">
                          <a:solidFill>
                            <a:srgbClr val="111827"/>
                          </a:solidFill>
                          <a:latin typeface="Segoe UI"/>
                        </a:rPr>
                        <a:t>BOM</a:t>
                      </a:r>
                    </a:p>
                  </a:txBody>
                  <a:tcPr marL="54864" marR="54864" marT="18288" marB="18288">
                    <a:solidFill>
                      <a:srgbClr val="F1F5F9"/>
                    </a:solidFill>
                  </a:tcPr>
                </a:tc>
                <a:tc>
                  <a:txBody>
                    <a:bodyPr/>
                    <a:lstStyle/>
                    <a:p>
                      <a:pPr>
                        <a:lnSpc>
                          <a:spcPct val="95000"/>
                        </a:lnSpc>
                      </a:pPr>
                      <a:r>
                        <a:rPr sz="1100" b="0">
                          <a:solidFill>
                            <a:srgbClr val="111827"/>
                          </a:solidFill>
                          <a:latin typeface="Segoe UI"/>
                        </a:rPr>
                        <a:t>Bảng danh sách linh kiện của model đó</a:t>
                      </a:r>
                    </a:p>
                  </a:txBody>
                  <a:tcPr marL="54864" marR="54864" marT="18288" marB="18288">
                    <a:solidFill>
                      <a:srgbClr val="F1F5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