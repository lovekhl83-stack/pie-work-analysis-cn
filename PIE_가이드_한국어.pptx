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60A5FA"/>
                </a:solidFill>
                <a:latin typeface="맑은 고딕"/>
              </a:rPr>
              <a:t>PIE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PIE 작업분석 프로그램 사용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맑은 고딕"/>
              </a:rPr>
              <a:t>인터넷이 없어도 동작합니다. 이 문서 하나로 설치부터 분석까지 따라 할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PIE — Powernet Industrial Engineering · 문의: lovekhl83@gmail.com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🎯  1. 이 프로그램은 무엇인가요?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💾  2. 설치하기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▶️  3. 처음 실행하기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🗺️  4. 화면 둘러보기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🔧  5. 먼저 할 일 — 부품 등록하기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📹  6. 작업분석 — 영상으로 시간 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7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⏱  7. 레이팅과 여유율 — 표준시간의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📊  8. 차트 — 사이클마다 어떻게 달라졌나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📈  9. 분석결과 — 숫자로 정리해서 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3444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🎬  10. 영상비교 — 숙련자와 비숙련자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📊  11. 라인분석 — 작업자별 시간 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⚖  12. 작업배분 — 병목 찾고 고르게 나누기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🔀  13. 배치실험 — 바꾼 대로 돌려 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📈  14. 라인예측 — 신규 모델 미리 계산하기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3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💾  15. 저장하고 이어서 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2627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🩺  16. 문제가 생겼을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749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맑은 고딕"/>
              </a:rPr>
              <a:t>📖  17. 용어 사전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🎯  1. 이 프로그램은 무엇인가요?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작업 영상을 보면서 "어떤 동작이 몇 초 걸리는지"를 재고, 그 시간으로 라인을 설계하는 도구입니다.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맑은 고딕"/>
              </a:rPr>
              <a:t>스톱워치를 들고 현장에 서 있을 필요가 없습니다. 영상을 찍어 와서 컴퓨터로 천천히, 정확하게 재면 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09928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이걸로 할 수 있는 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부품별 표준시간 측정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 하나를 꽂는 데 몇 초 걸리는지 재서 저장합니다. 여러 PC가 같이 쌓을 수 있습니다.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왼손·오른손 분석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두 손이 고르게 일하는지, 한쪽이 놀고 있는지 봅니다.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숙련자 vs 비숙련자 비교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두 영상을 나란히 돌려 어디서 차이가 나는지 찾습니다. 교육 자료가 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라인 밸런싱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작업자별 시간을 재서 병목을 찾고, 부품을 옮겨 고르게 만듭니다.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신규 모델 예측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쌓아 둔 부품 표준시간으로 새 모델의 택트타임과 인원을 미리 계산합니다.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71246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12464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ℹ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중요한 순서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— ① 부품을 등록하고 → ② 영상으로 시간을 재서 → ③ 표준시간을 저장하면 → ④ 라인 설계·예측에 자동으로 쓰입니다. 이 순서만 지키면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💾  2. 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복잡한 설치 프로그램이 없습니다. 폴더를 복사하고 바로가기를 만드는 게 전부입니다.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준비물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62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컴퓨터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윈도우 10 또는 11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브라우저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Chrome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또는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Edge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(인터넷 익스플로러는 안 됩니다)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인터넷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필요 없습니다.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중국 등 인터넷이 막힌 곳에서도 그대로 동작합니다.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라이선스 키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첫 실행 때 한 번 입력합니다. 담당자에게 받으세요.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방법 A — 설치 파일로 (권장)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7947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PIE 폴더를 통째로 USB나 네트워크 드라이브에서 복사해 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12394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239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96512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폴더 안의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PIE_설치.bat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를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더블클릭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4531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25696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검은 창이 뜨고 자동으로 설치됩니다. 바탕화면과 시작 메뉴에 바로가기가 만들어집니다.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78231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823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이제 바탕화면의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PIE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아이콘으로 실행하면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21224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방법 B — 그냥 폴더만 복사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💾  2. 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2/17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PIE 폴더 전체를 원하는 위치(예: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D:\PIE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)에 복사합니다.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폴더 안의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PIE 실행.bat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를 더블클릭하면 바로 실행됩니다.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맑은 고딕"/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맑은 고딕"/>
              </a:rPr>
              <a:t>PIE 폴더 복사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맑은 고딕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맑은 고딕"/>
              </a:rPr>
              <a:t>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맑은 고딕"/>
              </a:rPr>
              <a:t>PIE 실행.bat 더블클릭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71576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9944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맑은 고딕"/>
              </a:rPr>
              <a:t>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맑은 고딕"/>
              </a:rPr>
              <a:t>검은 창이 뜬다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71576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맑은 고딕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맑은 고딕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맑은 고딕"/>
              </a:rPr>
              <a:t>브라우저 자동 열림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67327"/>
            <a:ext cx="107899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DC2626"/>
                </a:solidFill>
                <a:latin typeface="맑은 고딕"/>
              </a:rPr>
              <a:t>⚠ 검은 창을 끄면 프로그램이 종료됩니다 — 그냥 두세요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24527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설치부터 첫 실행까지의 흐름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81727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81727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⚠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폴더 안의 파일을 빼놓지 마세요.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</a:t>
            </a:r>
            <a:r>
              <a:rPr sz="1250" b="1">
                <a:solidFill>
                  <a:srgbClr val="2563EB"/>
                </a:solidFill>
                <a:latin typeface="맑은 고딕"/>
              </a:rPr>
              <a:t>mediapipe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폴더가 빠지면 자세(Pose) 비교 기능이 동작하지 않습니다.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폴더 통째로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복사해야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▶️  3. 처음 실행하기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검은 창이 뜨고, 곧 브라우저가 열립니다. 검은 창은 끄지 마세요.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3/17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바탕화면의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PIE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아이콘(또는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PIE 실행.bat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)을 더블클릭합니다.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검은 명령 창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이 뜹니다. 이 창이 프로그램의 심장입니다.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끄면 프로그램이 종료됩니다.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그냥 두세요.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잠시 후 브라우저가 자동으로 열리고 주소는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http://127.0.0.1:8791/PIE.html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입니다.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처음 한 번만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라이선스 키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를 입력하고 [활성화]를 누릅니다. (형식: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PIE-XXXX-XXXX-XXXX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)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시작 화면이 나오면 준비 끝입니다.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▶️  3. 처음 실행하기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3/17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3657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" y="1472184"/>
            <a:ext cx="1691640" cy="35478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1545336"/>
            <a:ext cx="1691640" cy="274320"/>
          </a:xfrm>
          <a:prstGeom prst="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" y="1545336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6362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작업분석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3055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차트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1401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분석결과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9748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영상비교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98094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라인분석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2644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작업배분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5478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배치실험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83133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부품관리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11480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라인예측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1874519"/>
            <a:ext cx="8503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맑은 고딕"/>
              </a:rPr>
              <a:t>PIE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423160"/>
            <a:ext cx="8503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Powernet Industrial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297180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297180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📹 영상 불러오기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88620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맑은 고딕"/>
              </a:rPr>
              <a:t>저장된 세션이 없습니다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84648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① 왼쪽이 메뉴    ② 여기서 영상을 불러옵니다    ③ 레이팅·여유율 (눌러서 설정)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시작 화면 — 왼쪽이 메뉴, 가운데에서 새로 시작하거나 저장한 작업을 불러옵니다.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▶️  3. 처음 실행하기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3/17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⚠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데이터는 “주소”별로 저장됩니다.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항상 </a:t>
            </a:r>
            <a:r>
              <a:rPr sz="1250" b="1">
                <a:solidFill>
                  <a:srgbClr val="2563EB"/>
                </a:solidFill>
                <a:latin typeface="맑은 고딕"/>
              </a:rPr>
              <a:t>127.0.0.1:8791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로 열어야 이전에 저장한 부품·표준시간이 보입니다. 다른 주소로 열리면 화면 맨 위에 빨간 경고 띠와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[표준 주소로 열기]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버튼이 뜨니 그걸 누르세요. (데이터가 지워진 게 아닙니다.)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5623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프로그램을 끝낼 때는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브라우저 탭을 닫고, 검은 창도 함께 닫으세요.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검은 창을 열어둔 채 다시 실행하면 주소가 밀릴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🗺️  4. 화면 둘러보기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왼쪽 세로 줄이 메뉴입니다. 위에서 아래로 순서대로 쓰면 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4/17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44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메뉴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언제 쓰나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한 줄 설명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🔧 부품관리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제일 먼저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 목록을 만들고, 부품별 표준시간을 모아 둡니다.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📹 작업분석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매번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영상을 보며 동작마다 시작·끝을 찍어 시간을 잽니다.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📊 차트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분석 후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사이클마다 시간이 어떻게 달라지는지 그림으로 봅니다.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📊 분석결과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분석 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평균·표준시간·양손 평가 등 숫자로 정리해 줍니다.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🎬 영상비교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교육용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숙련자와 비숙련자 영상을 나란히 비교합니다.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📊 라인분석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라인 볼 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작업자 여러 명의 부품별 시간을 잽니다.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⚖ 작업배분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라인 볼 때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누가 바쁘고 누가 노는지 보고 부품을 옮겨 균형을 맞춥니다.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🔀 배치실험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라인 볼 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바꾼 배분대로 돌리면 병목이 없는지 확인합니다.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📈 라인예측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신규 모델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모아 둔 표준시간으로 새 모델의 택트·인원을 예측합니다.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315968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ℹ 헤더 오른쪽 위의 </a:t>
            </a:r>
            <a:r>
              <a:rPr sz="1250" b="1">
                <a:solidFill>
                  <a:srgbClr val="2563EB"/>
                </a:solidFill>
                <a:latin typeface="맑은 고딕"/>
              </a:rPr>
              <a:t>레이팅 100% · 여유율 15%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칩을 누르면 설정이 열립니다. 이 두 값이 표준시간을 좌우합니다 (7번 항목 참고).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🔧  5. 먼저 할 일 — 부품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부품을 손으로 하나하나 치면 사람마다 다르게 적어서 데이터가 갈라집니다. BOM 엑셀에서 한 번에 가져오세요.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5/17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왼쪽 메뉴에서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🔧 부품관리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를 누릅니다.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위쪽의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[📋 BOM 가져오기]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를 누릅니다.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모델의 BOM 엑셀 파일을 고릅니다. (파일 이름 예: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모델명_BOM.xlsx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)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미리보기 창이 뜹니다.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MI 부품(단계 ....4)만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골라서 보여줍니다. 확인하고 [가져오기]를 누릅니다.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부품이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품번(품명)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형태로 목록에 들어갑니다.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🔧  5. 먼저 할 일 — 부품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5/17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" y="1472184"/>
            <a:ext cx="1691640" cy="3456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6362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47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작업분석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3055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차트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1401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분석결과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영상비교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8094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라인분석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2644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작업배분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5478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배치실험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3813048"/>
            <a:ext cx="1691640" cy="274320"/>
          </a:xfrm>
          <a:prstGeom prst="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3813048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83133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부품관리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11480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라인예측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154533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1545336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📋 BOM 가져오기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154533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545336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🧹 품명 없는 부품 정리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54533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545336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🗑 전체 초기화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1984248"/>
            <a:ext cx="2651760" cy="2852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16352" y="2093976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79" y="2121408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A-1001(CAP-ELEC)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79" y="2368296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400V,10uF,105C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2752344"/>
            <a:ext cx="246888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79" y="2779775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맑은 고딕"/>
              </a:rPr>
              <a:t>A-1002(CAP-ELEC)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79" y="3026663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400V,10uF,105C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16352" y="3410712"/>
            <a:ext cx="246888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3438144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맑은 고딕"/>
              </a:rPr>
              <a:t>A-1003(CAP-ELEC)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3685032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400V,10uF,105C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16352" y="4069080"/>
            <a:ext cx="246888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79" y="409651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맑은 고딕"/>
              </a:rPr>
              <a:t>A-1004(CAP-ELEC)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79" y="4343400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400V,10uF,105C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3831" y="1984248"/>
            <a:ext cx="5687568" cy="2852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210312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A-1001(CAP-ELEC)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59" y="2459736"/>
            <a:ext cx="5458968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42431" y="245973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맑은 고딕"/>
              </a:rPr>
              <a:t>품번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799" y="24597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A-1001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1" y="245973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맑은 고딕"/>
              </a:rPr>
              <a:t>품명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24597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CAP-ELEC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245973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맑은 고딕"/>
              </a:rPr>
              <a:t>규격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24597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400V,10uF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093208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① BOM 가져오기    ② 부품 목록    ③ BOM 정보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부품관리 화면 — 왼쪽이 부품 목록, 오른쪽이 선택한 부품의 상세입니다.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🔧  5. 먼저 할 일 — 부품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5/17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다른 모델 BOM도 그냥 가져오세요.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이미 있는 품번은 자동으로 건너뜁니다. 비어 있던 규격·Maker 정보가 있으면 채워 넣습니다.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맑은 고딕"/>
              </a:rPr>
              <a:t>부품을 클릭하면 그 부품의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BOM 정보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(품번·품명·규격·단위수량·Maker·거래처품번)와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영상분석 이력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,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표준시간 DB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를 볼 수 있습니다.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423160"/>
          <a:ext cx="1088136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62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버튼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📋 BOM 가져오기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BOM 엑셀에서 MI 부품만 뽑아 목록에 추가 (중복 자동 제외)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🧹 품명 없는 부품 정리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예전에 잘못 등록되어 품명이 빈 부품만 지웁니다. 측정 데이터가 있는 부품은 남깁니다.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🗑 전체 초기화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 목록과 표준시간을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모두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지웁니다. 되돌릴 수 없습니다.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⬆ 파일로 내보내기 / ⬇ 가져오기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다른 PC로 부품 DB를 통째로 옮길 때 씁니다.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📹  6. 작업분석 — 영상으로 시간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이 프로그램의 핵심입니다. 영상을 보며 동작이 시작될 때 한 번, 끝날 때 한 번 클릭하면 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6/17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📹 작업분석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메뉴를 누르고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[영상 불러오기]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로 작업 영상을 엽니다.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오른쪽 위에서 지금 재는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부품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을 고릅니다.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손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을 고릅니다 — 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🤚 LH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(왼손) / 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✋ RH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(오른손) / 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🖐 한손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(한 손으로만 하는 작업).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영상을 재생하다가 동작이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시작되는 순간 영상 위를 클릭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합니다. (시작 마커)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동작이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끝나는 순간 다시 클릭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합니다. 표에 한 줄이 추가됩니다. (종료 마커)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2816351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788919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작업 이름을 적고, 분류(정미/부수/낭비)를 고릅니다.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3145535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4553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118103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한 사이클이 끝나면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[다음 사이클]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로 넘어가 같은 방식으로 3~5회 반복합니다.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347471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747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4728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다 되면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[💾 부품 ST 저장]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을 눌러 표준시간을 부품관리에 저장합니다.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📹  6. 작업분석 — 영상으로 시간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6/17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E3A5F"/>
                </a:solidFill>
                <a:latin typeface="맑은 고딕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여기에 작업 영상이 보입니다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2286000"/>
            <a:ext cx="310896" cy="310896"/>
          </a:xfrm>
          <a:prstGeom prst="ellipse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59E4E"/>
                </a:solidFill>
                <a:latin typeface="맑은 고딕"/>
              </a:rPr>
              <a:t>① 시작할 때 클릭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3291839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29183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2907791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DC2626"/>
                </a:solidFill>
                <a:latin typeface="맑은 고딕"/>
              </a:rPr>
              <a:t>② 끝날 때 클릭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손: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270248"/>
            <a:ext cx="1481328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70248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🤚 LH 왼손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4270248"/>
            <a:ext cx="1481328" cy="32918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4270248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59E4E"/>
                </a:solidFill>
                <a:latin typeface="맑은 고딕"/>
              </a:rPr>
              <a:t>✋ RH 오른손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4270248"/>
            <a:ext cx="1481328" cy="32918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4270248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맑은 고딕"/>
              </a:rPr>
              <a:t>🖐 한손작업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417320"/>
            <a:ext cx="5669280" cy="3246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59" y="1508760"/>
            <a:ext cx="5486400" cy="29260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맑은 고딕"/>
              </a:rPr>
              <a:t>작업명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맑은 고딕"/>
              </a:rPr>
              <a:t>부품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맑은 고딕"/>
              </a:rPr>
              <a:t>분류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맑은 고딕"/>
              </a:rPr>
              <a:t>시작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74519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부품 집기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874519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맑은 고딕"/>
              </a:rPr>
              <a:t>A-1001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874519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DE80"/>
                </a:solidFill>
                <a:latin typeface="맑은 고딕"/>
              </a:rPr>
              <a:t>정미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1874519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00:01.2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221991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손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221991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맑은 고딕"/>
              </a:rPr>
              <a:t>A-1002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221991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DE80"/>
                </a:solidFill>
                <a:latin typeface="맑은 고딕"/>
              </a:rPr>
              <a:t>정미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221991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00:02.2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569463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삽입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2569463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맑은 고딕"/>
              </a:rPr>
              <a:t>A-1003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569463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DE80"/>
                </a:solidFill>
                <a:latin typeface="맑은 고딕"/>
              </a:rPr>
              <a:t>정미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2569463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00:03.2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2472" y="2990088"/>
            <a:ext cx="5522976" cy="27432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03580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맑은 고딕"/>
              </a:rPr>
              <a:t>✋ RH 오른손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3035808"/>
            <a:ext cx="37490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다른 손 기록 (참고용 — 지워지지 않습니다)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2472" y="3355848"/>
            <a:ext cx="5522976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374136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부품 집기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3374136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맑은 고딕"/>
              </a:rPr>
              <a:t>A-1004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2472" y="3703320"/>
            <a:ext cx="5522976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21608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체결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721608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맑은 고딕"/>
              </a:rPr>
              <a:t>A-1005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작업분석 화면 — 왼쪽에서 영상을 보며 찍고, 오른쪽 표에 기록이 쌓입니다.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왼손·오른손을 따로 재는 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맑은 고딕"/>
              </a:rPr>
              <a:t>손 버튼을 바꾸면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영상이 처음으로 되돌아가고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, 그 손의 기록만 이어서 하게 됩니다. 표 위쪽이 지금 재는 손, 그 아래 구분선부터는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다른 손의 기록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이 흐리게 참고용으로 남습니다. 지워지지 않으니 안심하세요.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📹  6. 작업분석 — 영상으로 시간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6/17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왜 손을 나눠 재나요?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두 손이 고르게 일해야 좋은 작업입니다. 한쪽만 바쁘면 그 손이 병목이고, 반대 손은 놀고 있다는 뜻입니다. 이 차이를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양손 균형도(HBR)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로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분류는 이렇게 고릅니다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313432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예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2C55E"/>
                          </a:solidFill>
                          <a:latin typeface="맑은 고딕"/>
                        </a:rPr>
                        <a:t>정미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제품 가치를 만드는 꼭 필요한 작업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 삽입, 나사 체결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F59E0B"/>
                          </a:solidFill>
                          <a:latin typeface="맑은 고딕"/>
                        </a:rPr>
                        <a:t>부수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당장은 필요하지만 없앨 수 있으면 좋은 작업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 집기, 손 이동, 자재 가지러 가기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EF4444"/>
                          </a:solidFill>
                          <a:latin typeface="맑은 고딕"/>
                        </a:rPr>
                        <a:t>낭비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없애야 할 작업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대기, 찾기, 재작업, 불필요한 이동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73075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30752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⚠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같은 동작은 이름을 똑같이 적으세요.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"부품집기"와 "부품 집기"는 다른 작업으로 집계됩니다. 사이클마다 이름이 같아야 비교가 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4398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43984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[⚡ 사이클 자동 분리]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를 누르면 가장 자주 나오는 작업 이름을 기준으로 사이클을 자동으로 나눠 줍니다. 손별로 따로 나눠지니 안심하세요.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⏱  7. 레이팅과 여유율 — 표준시간의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영상에서 잰 시간은 “그 사람이, 그날” 걸린 시간입니다. 이걸 누구에게나 통하는 기준으로 바꾸는 값입니다.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ℹ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표준시간 = 측정시간 × 레이팅 × (1 + 여유율)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56232"/>
          <a:ext cx="1088136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87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보통 얼마?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레이팅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찍힌 작업자의 속도가 보통 사람 대비 몇 %인가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보통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100%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· 빠른 사람 110~120% · 느린 사람 80~90%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여유율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피로·화장실·자재보충 등에 더해 주는 비율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앉아서 하는 경작업은 보통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10~15%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80944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맑은 고딕"/>
              </a:rPr>
              <a:t>예) 측정 5.0초, 레이팅 100%, 여유율 15% → 표준시간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5.75초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7530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753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47872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화면 오른쪽 위의 </a:t>
            </a:r>
            <a:r>
              <a:rPr sz="1300" b="1">
                <a:solidFill>
                  <a:srgbClr val="2563EB"/>
                </a:solidFill>
                <a:latin typeface="맑은 고딕"/>
              </a:rPr>
              <a:t>레이팅 100% · 여유율 15%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칩을 누릅니다.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0448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77056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설정 창 맨 위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⏱ 표준시간 산정 기준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에서 값을 바꿉니다.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23367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336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바꾼 값은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[표준시간 확정 저장]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을 누르는 시점에 적용됩니다.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⏱  7. 레이팅과 여유율 — 표준시간의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7/17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417320"/>
            <a:ext cx="594360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55448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⚙️ 설정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9659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5120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맑은 고딕"/>
              </a:rPr>
              <a:t>⏱ 표준시간 산정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377440"/>
            <a:ext cx="5120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측정시간 × 레이팅 × (1 + 여유율) = 표준시간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74320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레이팅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743200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43200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여유율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743200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108960"/>
            <a:ext cx="5120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맑은 고딕"/>
              </a:rPr>
              <a:t>예: 측정 5.0초 → 표준시간 5.75초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88620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45309"/>
                </a:solidFill>
                <a:latin typeface="맑은 고딕"/>
              </a:rPr>
              <a:t>① 공식과 권장값    ② 여기서 값을 바꿉니다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설정 화면 — 맨 위가 레이팅·여유율, 그 아래가 언어와 공유 저장소 설정입니다.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📊  8. 차트 — 사이클마다 어떻게 달라졌나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같은 작업인데 사이클마다 시간이 들쭉날쭉하면 그 작업이 불안정하다는 뜻입니다.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8/17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맑은 고딕"/>
              </a:rPr>
              <a:t>막대 하나가 한 사이클입니다. 색깔 한 칸이 작업 하나입니다.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같은 작업은 사이클끼리 띠로 이어져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 있어서, 띠가 점점 두꺼워지면 그 작업이 갈수록 느려지고 있다는 뜻입니다.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60520"/>
            <a:ext cx="1554480" cy="4480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6052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부품 집기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886200"/>
            <a:ext cx="1554480" cy="246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099816"/>
            <a:ext cx="1554480" cy="75895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099816"/>
            <a:ext cx="1554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0916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맑은 고딕"/>
              </a:rPr>
              <a:t>C1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79776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31.6s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103461"/>
            <a:ext cx="1554480" cy="50511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103461"/>
            <a:ext cx="1554480" cy="5325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부품 집기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796223"/>
            <a:ext cx="1554480" cy="2798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915472"/>
            <a:ext cx="1554480" cy="85331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915472"/>
            <a:ext cx="1554480" cy="880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삽입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0916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59E4E"/>
                </a:solidFill>
                <a:latin typeface="맑은 고딕"/>
              </a:rPr>
              <a:t>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95432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33.0s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46402"/>
            <a:ext cx="1554480" cy="56217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046402"/>
            <a:ext cx="1554480" cy="5896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부품 집기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706246"/>
            <a:ext cx="1554480" cy="312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706246"/>
            <a:ext cx="1554480" cy="340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손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731129"/>
            <a:ext cx="1554480" cy="94768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731129"/>
            <a:ext cx="1554480" cy="975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삽입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0916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맑은 고딕"/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11089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34.4s</a:t>
            </a:r>
          </a:p>
        </p:txBody>
      </p:sp>
      <p:sp>
        <p:nvSpPr>
          <p:cNvPr id="29" name="Freeform 28"/>
          <p:cNvSpPr/>
          <p:nvPr/>
        </p:nvSpPr>
        <p:spPr>
          <a:xfrm>
            <a:off x="3383280" y="4103461"/>
            <a:ext cx="1463040" cy="532547"/>
          </a:xfrm>
          <a:custGeom>
            <a:avLst/>
            <a:gdLst/>
            <a:ahLst/>
            <a:cxnLst/>
            <a:rect l="l" t="t" r="r" b="b"/>
            <a:pathLst>
              <a:path w="1463040" h="532547">
                <a:moveTo>
                  <a:pt x="0" y="57059"/>
                </a:moveTo>
                <a:lnTo>
                  <a:pt x="1463040" y="0"/>
                </a:lnTo>
                <a:lnTo>
                  <a:pt x="1463040" y="532547"/>
                </a:lnTo>
                <a:lnTo>
                  <a:pt x="0" y="532547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383280" y="3796223"/>
            <a:ext cx="1463040" cy="364297"/>
          </a:xfrm>
          <a:custGeom>
            <a:avLst/>
            <a:gdLst/>
            <a:ahLst/>
            <a:cxnLst/>
            <a:rect l="l" t="t" r="r" b="b"/>
            <a:pathLst>
              <a:path w="1463040" h="364297">
                <a:moveTo>
                  <a:pt x="0" y="89977"/>
                </a:moveTo>
                <a:lnTo>
                  <a:pt x="1463040" y="0"/>
                </a:lnTo>
                <a:lnTo>
                  <a:pt x="1463040" y="307238"/>
                </a:lnTo>
                <a:lnTo>
                  <a:pt x="0" y="364297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383280" y="2915472"/>
            <a:ext cx="1463040" cy="970728"/>
          </a:xfrm>
          <a:custGeom>
            <a:avLst/>
            <a:gdLst/>
            <a:ahLst/>
            <a:cxnLst/>
            <a:rect l="l" t="t" r="r" b="b"/>
            <a:pathLst>
              <a:path w="1463040" h="970728">
                <a:moveTo>
                  <a:pt x="0" y="184344"/>
                </a:moveTo>
                <a:lnTo>
                  <a:pt x="1463040" y="0"/>
                </a:lnTo>
                <a:lnTo>
                  <a:pt x="1463040" y="880751"/>
                </a:lnTo>
                <a:lnTo>
                  <a:pt x="0" y="970728"/>
                </a:lnTo>
                <a:close/>
              </a:path>
            </a:pathLst>
          </a:cu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400800" y="4046402"/>
            <a:ext cx="1463040" cy="589606"/>
          </a:xfrm>
          <a:custGeom>
            <a:avLst/>
            <a:gdLst/>
            <a:ahLst/>
            <a:cxnLst/>
            <a:rect l="l" t="t" r="r" b="b"/>
            <a:pathLst>
              <a:path w="1463040" h="589606">
                <a:moveTo>
                  <a:pt x="0" y="57059"/>
                </a:moveTo>
                <a:lnTo>
                  <a:pt x="1463040" y="0"/>
                </a:lnTo>
                <a:lnTo>
                  <a:pt x="1463040" y="589606"/>
                </a:lnTo>
                <a:lnTo>
                  <a:pt x="0" y="589606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400800" y="3706246"/>
            <a:ext cx="1463040" cy="397215"/>
          </a:xfrm>
          <a:custGeom>
            <a:avLst/>
            <a:gdLst/>
            <a:ahLst/>
            <a:cxnLst/>
            <a:rect l="l" t="t" r="r" b="b"/>
            <a:pathLst>
              <a:path w="1463040" h="397215">
                <a:moveTo>
                  <a:pt x="0" y="89977"/>
                </a:moveTo>
                <a:lnTo>
                  <a:pt x="1463040" y="0"/>
                </a:lnTo>
                <a:lnTo>
                  <a:pt x="1463040" y="340156"/>
                </a:lnTo>
                <a:lnTo>
                  <a:pt x="0" y="397215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400800" y="2731129"/>
            <a:ext cx="1463040" cy="1065094"/>
          </a:xfrm>
          <a:custGeom>
            <a:avLst/>
            <a:gdLst/>
            <a:ahLst/>
            <a:cxnLst/>
            <a:rect l="l" t="t" r="r" b="b"/>
            <a:pathLst>
              <a:path w="1463040" h="1065094">
                <a:moveTo>
                  <a:pt x="0" y="184343"/>
                </a:moveTo>
                <a:lnTo>
                  <a:pt x="1463040" y="0"/>
                </a:lnTo>
                <a:lnTo>
                  <a:pt x="1463040" y="975117"/>
                </a:lnTo>
                <a:lnTo>
                  <a:pt x="0" y="1065094"/>
                </a:lnTo>
                <a:close/>
              </a:path>
            </a:pathLst>
          </a:cu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93208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① 띠가 위로 벌어지면 그 작업이 사이클마다 길어지고 있다는 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76088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차트 화면 — 위쪽에 양손 균형도, 아래에 사이클별 누적 막대와 연결 띠.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📊  8. 차트 — 사이클마다 어떻게 달라졌나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8/17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조작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효과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막대에 마우스 올리기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같은 작업이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모든 사이클에서 강조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되고 나머지는 흐려집니다.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[같은 작업 연장선] 버튼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작업을 잇는 띠를 켜고 끕니다.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[세로 확대] 1x/1.5x/2x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구간이 촘촘해서 안 보일 때 세로로 늘립니다.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📈  9. 분석결과 — 숫자로 정리해서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평균, 편차, 표준시간, 필요 인원, 그리고 양손 평가를 한 화면에 모아 줍니다.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9/17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⚖ 양손 작업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960120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균형도(HBR)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914400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5309"/>
                </a:solidFill>
                <a:latin typeface="맑은 고딕"/>
              </a:rPr>
              <a:t>74%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960120"/>
            <a:ext cx="5120640" cy="34747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960120"/>
            <a:ext cx="4846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DC2626"/>
                </a:solidFill>
                <a:latin typeface="맑은 고딕"/>
              </a:rPr>
              <a:t>⚠ RH 오른손이 놀고 있습니다 → 재배분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맑은 고딕"/>
              </a:rPr>
              <a:t>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맑은 고딕"/>
              </a:rPr>
              <a:t>총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맑은 고딕"/>
              </a:rPr>
              <a:t>비중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맑은 고딕"/>
              </a:rPr>
              <a:t>정미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맑은 고딕"/>
              </a:rPr>
              <a:t>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맑은 고딕"/>
              </a:rPr>
              <a:t>낭비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0136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맑은 고딕"/>
              </a:rPr>
              <a:t>🤚 LH 왼손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맑은 고딕"/>
              </a:rPr>
              <a:t>3.4s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9E4E"/>
                </a:solidFill>
                <a:latin typeface="맑은 고딕"/>
              </a:rPr>
              <a:t>3.4s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맑은 고딕"/>
              </a:rPr>
              <a:t>0.0s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0.0s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874519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1874519"/>
            <a:ext cx="3791414" cy="1828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25856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9E4E"/>
                </a:solidFill>
                <a:latin typeface="맑은 고딕"/>
              </a:rPr>
              <a:t>✋ RH 오른손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맑은 고딕"/>
              </a:rPr>
              <a:t>2.5s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9E4E"/>
                </a:solidFill>
                <a:latin typeface="맑은 고딕"/>
              </a:rPr>
              <a:t>2.5s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맑은 고딕"/>
              </a:rPr>
              <a:t>0.0s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0.0s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331720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0" y="2331720"/>
            <a:ext cx="2787804" cy="182880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71576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맑은 고딕"/>
              </a:rPr>
              <a:t>🖐 한손작업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맑은 고딕"/>
              </a:rPr>
              <a:t>4.1s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41%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9E4E"/>
                </a:solidFill>
                <a:latin typeface="맑은 고딕"/>
              </a:rPr>
              <a:t>4.1s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맑은 고딕"/>
              </a:rPr>
              <a:t>0.0s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0.0s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2788920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49440" y="2788920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310127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① 왼손·오른손·한손의 시간 구성과 균형도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77639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분석결과 화면 — 위쪽 카드가 핵심 숫자, 아래에 양손 평가와 사이클별 표.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📈  9. 분석결과 — 숫자로 정리해서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9/17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5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읽는 법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평균 관측시간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사이클들의 평균. σ(시그마)가 크면 들쭉날쭉하다는 뜻.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CV(변동계수)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10% 이하면 안정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, 20% 넘으면 작업이 불안정하니 표준화가 필요합니다.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표준시간(대표)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레이팅·여유율을 적용한 값. 이걸 라인 설계에 씁니다.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필요 작업자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표준시간 ÷ 택트타임. 몇 명이 필요한지.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관측 충분성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몇 번 더 재야 통계적으로 믿을 만한지 알려줍니다.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223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⚖ 양손 작업 평가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왼손·오른손·한손의 시간 구성과 균형도(HBR).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43814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38144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ℹ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양손 균형도(HBR)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— 100%에 가까울수록 두 손이 고르게 일한다는 뜻입니다.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80% 미만이면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한쪽 손이 그만큼 놀고 있으니 작업을 나눠 주는 것을 검토하세요. (한손작업은 계산에서 빠집니다.)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🎬  10. 영상비교 — 숙련자와 비숙련자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두 영상을 나란히 돌려 “어디서 시간이 벌어지는지”를 눈으로 보여 줍니다. 교육 자료로 쓰기 좋습니다.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10/17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🎬 영상비교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메뉴를 엽니다.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왼쪽에 숙련자 영상, 오른쪽에 비숙련자 영상을 불러옵니다.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재생하면 두 영상이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같이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움직입니다. 느리게(0.5배) 돌려 보면 차이가 잘 보입니다.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이미 분석한 세션을 연결하면 작업 목록에서 원하는 동작으로 바로 점프할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96895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96895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차이가 큰 동작 3개만 뽑아 교육하면 효과가 가장 큽니다. 전부 고치려 하지 마세요.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📊  11. 라인분석 — 작업자별 시간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작업분석이 “부품 하나의 표준시간”이라면, 라인분석은 “이 라인에서 이 사람이 실제로 몇 초 쓰나”입니다.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11/17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📊 라인분석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에서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[+ 작업자 추가]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로 작업자를 만듭니다.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그 작업자의 영상을 불러옵니다.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[⏺ 시작 마크]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 → 동작이 끝나면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[⏹ 종료 마크]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. 표에 한 줄이 생깁니다.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표에서 그 줄의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부품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을 고릅니다.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[다음 사이클 +]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로 넘어가 반복합니다.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2사이클부터는 부품이 자동으로 따라옵니다.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2816351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788919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작업자를 바꿔 가며 라인 전체를 잽니다.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📊  11. 라인분석 — 작업자별 시간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11/17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93776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맑은 고딕"/>
              </a:rPr>
              <a:t>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4937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이 작업자의 영상을 고르세요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572768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59E4E"/>
                </a:solidFill>
                <a:latin typeface="맑은 고딕"/>
              </a:rPr>
              <a:t>시작 마크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40480"/>
            <a:ext cx="1572768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840480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맑은 고딕"/>
              </a:rPr>
              <a:t>종료 마크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840480"/>
            <a:ext cx="1572768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840480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맑은 고딕"/>
              </a:rPr>
              <a:t>다음 사이클 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17320"/>
            <a:ext cx="5715000" cy="2788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맑은 고딕"/>
              </a:rPr>
              <a:t>마크 목록  🤚 LH 왼손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920240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맑은 고딕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20240"/>
            <a:ext cx="2743200" cy="310896"/>
          </a:xfrm>
          <a:prstGeom prst="rect">
            <a:avLst/>
          </a:prstGeom>
          <a:solidFill>
            <a:srgbClr val="0B1220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맑은 고딕"/>
              </a:rPr>
              <a:t>A-1001(CAP-ELEC)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92024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0A5FA"/>
                </a:solidFill>
                <a:latin typeface="맑은 고딕"/>
              </a:rPr>
              <a:t>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92024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맑은 고딕"/>
              </a:rPr>
              <a:t>LH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30428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맑은 고딕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304288"/>
            <a:ext cx="2743200" cy="310896"/>
          </a:xfrm>
          <a:prstGeom prst="rect">
            <a:avLst/>
          </a:prstGeom>
          <a:solidFill>
            <a:srgbClr val="0B1220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04288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맑은 고딕"/>
              </a:rPr>
              <a:t>A-1002(CAP-ELEC) 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04288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0A5FA"/>
                </a:solidFill>
                <a:latin typeface="맑은 고딕"/>
              </a:rPr>
              <a:t>C1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304288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맑은 고딕"/>
              </a:rPr>
              <a:t>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68833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맑은 고딕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688336"/>
            <a:ext cx="2743200" cy="310896"/>
          </a:xfrm>
          <a:prstGeom prst="rect">
            <a:avLst/>
          </a:prstGeom>
          <a:solidFill>
            <a:srgbClr val="0B1220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688336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맑은 고딕"/>
              </a:rPr>
              <a:t>A-1003(CAP-ELEC) 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88336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0A5FA"/>
                </a:solidFill>
                <a:latin typeface="맑은 고딕"/>
              </a:rPr>
              <a:t>C1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688336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맑은 고딕"/>
              </a:rPr>
              <a:t>LH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3154680"/>
            <a:ext cx="5486400" cy="27432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209544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맑은 고딕"/>
              </a:rPr>
              <a:t>✋ RH 오른손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209544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다른 손 기록 (참고용 — 지워지지 않습니다)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3538728"/>
            <a:ext cx="5486400" cy="3474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557016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맑은 고딕"/>
              </a:rPr>
              <a:t>A-1004(FUSE) 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1888" y="3904488"/>
            <a:ext cx="5486400" cy="3474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22776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맑은 고딕"/>
              </a:rPr>
              <a:t>A-1005(FUSE) 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8912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① 표에서 부품을 고릅니다    ② 2사이클부터 부품이 자동으로 따라옵니다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9204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라인분석 화면 — 왼쪽에서 마크를 찍고, 오른쪽 표에 부품별로 쌓입니다.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4924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ℹ 여기서도 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🤚 LH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/ 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✋ RH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/ 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🖐 한손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을 나눠 잴 수 있습니다. 손을 바꾸면 영상이 처음으로 돌아가고, 다른 손 기록은 아래에 참고용으로 남습니다.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⚖  12. 작업배분 — 병목 찾고 고르게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누가 바쁘고 누가 노는지 한눈에 보고, 부품을 끌어다 옮겨 균형을 맞춥니다.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📏 피치 다이어그램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작업자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472184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0" y="1472184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7979" y="1472184"/>
            <a:ext cx="2811779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19" y="147218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맑은 고딕"/>
              </a:rPr>
              <a:t>160%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작업자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130552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2130552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97979" y="2130552"/>
            <a:ext cx="1124712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13055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맑은 고딕"/>
              </a:rPr>
              <a:t>124%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3405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작업자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2788920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80" y="2788920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97979" y="2788920"/>
            <a:ext cx="843534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78892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맑은 고딕"/>
              </a:rPr>
              <a:t>118%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</a:rPr>
              <a:t>작업자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447288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11680" y="3447288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97979" y="3447288"/>
            <a:ext cx="187452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3447288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맑은 고딕"/>
              </a:rPr>
              <a:t>104%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7979" y="1371600"/>
            <a:ext cx="13716" cy="2679191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79" y="103327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맑은 고딕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87952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① 빨간 점선 = 택트타임    ② 100% 넘은 빗금 = 택트 초과 (병목)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작업배분 화면 — 야마즈미 막대와 피치 다이어그램.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피치 다이어그램 읽는 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맑은 고딕"/>
              </a:rPr>
              <a:t>막대 하나가 작업자 한 명이고, 값은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그 사람의 표준시간 ÷ 택트타임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입니다. 가운데 흰 세로선이 </a:t>
            </a:r>
            <a:r>
              <a:rPr sz="1350" b="1">
                <a:solidFill>
                  <a:srgbClr val="111827"/>
                </a:solidFill>
                <a:latin typeface="맑은 고딕"/>
              </a:rPr>
              <a:t>100%(택트)</a:t>
            </a:r>
            <a:r>
              <a:rPr sz="1350" b="0">
                <a:solidFill>
                  <a:srgbClr val="111827"/>
                </a:solidFill>
                <a:latin typeface="맑은 고딕"/>
              </a:rPr>
              <a:t>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⚖  12. 작업배분 — 병목 찾고 고르게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12/17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해야 할 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2C55E"/>
                          </a:solidFill>
                          <a:latin typeface="맑은 고딕"/>
                        </a:rPr>
                        <a:t>100% 미만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시간이 남음 (유휴)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다른 사람 일을 받아올 수 있습니다.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F59E0B"/>
                          </a:solidFill>
                          <a:latin typeface="맑은 고딕"/>
                        </a:rPr>
                        <a:t>90~100%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거의 꽉 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더 주면 위험합니다.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EF4444"/>
                          </a:solidFill>
                          <a:latin typeface="맑은 고딕"/>
                        </a:rPr>
                        <a:t>100% 초과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택트 안에 못 끝냄 = 병목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빗금 친 부분이 초과분입니다. 일을 덜어 주세요.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25603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목표는 모든 막대를 택트선 바로 아래에서 고르게 만드는 것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입니다. 그래야 편성효율(밸런스율)이 올라갑니다.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맑은 고딕"/>
              </a:rPr>
              <a:t>부품 옮기기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75818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581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30752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바쁜 작업자의 부품 블록을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마우스로 끌어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서 여유 있는 작업자에게 놓습니다.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873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9936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빈 공간에 놓으면 새 작업자가 추가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됩니다. 인원을 늘려 보고 싶을 때 쓰세요.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41655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165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마음에 들면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[📥 편성안 내보내기]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로 엑셀로 뽑습니다.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🔀  13. 배치실험 — 바꾼 대로 돌려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작업배분에서 바꾼 편성으로 라인을 돌리면 정말 병목이 없는지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사이클타임(CT)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맑은 고딕"/>
              </a:rPr>
              <a:t>16.7s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병목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맑은 고딕"/>
              </a:rPr>
              <a:t>작업자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밸런스율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맑은 고딕"/>
              </a:rPr>
              <a:t>79%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시간당 생산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59E4E"/>
                </a:solidFill>
                <a:latin typeface="맑은 고딕"/>
              </a:rPr>
              <a:t>215개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017520"/>
            <a:ext cx="1737360" cy="1417320"/>
          </a:xfrm>
          <a:prstGeom prst="rect">
            <a:avLst/>
          </a:prstGeom>
          <a:solidFill>
            <a:srgbClr val="DC2626"/>
          </a:solidFill>
          <a:ln w="2540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67004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맑은 고딕"/>
              </a:rPr>
              <a:t>⚠ 병목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맑은 고딕"/>
              </a:rPr>
              <a:t>작업자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01752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0175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맑은 고딕"/>
              </a:rPr>
              <a:t>유휴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520439"/>
            <a:ext cx="1737360" cy="914400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맑은 고딕"/>
              </a:rPr>
              <a:t>작업자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1737360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0175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맑은 고딕"/>
              </a:rPr>
              <a:t>유휴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566159"/>
            <a:ext cx="1737360" cy="868680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맑은 고딕"/>
              </a:rPr>
              <a:t>작업자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017520"/>
            <a:ext cx="1737360" cy="66751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017520"/>
            <a:ext cx="1737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맑은 고딕"/>
              </a:rPr>
              <a:t>유휴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3685031"/>
            <a:ext cx="1737360" cy="749808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맑은 고딕"/>
              </a:rPr>
              <a:t>작업자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37759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※ 회색이 유휴 — 병목(빨강)의 일을 덜어 주면 전체가 빨라집니다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7492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배치실험 화면 — 병목 작업자와 유휴시간이 표시됩니다.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🔀  13. 배치실험 — 바꾼 대로 돌려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13/17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보이는 것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사이클타임(CT)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라인이 제품 하나를 내는 데 걸리는 시간.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가장 느린 사람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이 결정합니다.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병목 표시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CT를 결정하는 사람. 여기를 줄여야 라인이 빨라집니다.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유휴시간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각 사람이 기다리는 시간의 합.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밸런스율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전체 작업량 ÷ (CT × 인원). 높을수록 고르게 나뉘었다는 뜻.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시간당 생산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3600 ÷ CT.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📈  14. 라인예측 — 신규 모델 미리 계산하기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AI·SMT는 부품 수로 택트가 나오지만 MI는 안 나옵니다. 그래서 쌓아 둔 표준시간으로 계산합니다.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14/17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📈 라인예측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을 엽니다.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신규 모델의 부품과 수량을 넣습니다. (부품 목록에서 고르고 수량 입력)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가동시간과 일 생산목표를 넣으면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목표 택트타임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이 역산됩니다.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결과로 </a:t>
            </a:r>
            <a:r>
              <a:rPr sz="1300" b="1">
                <a:solidFill>
                  <a:srgbClr val="111827"/>
                </a:solidFill>
                <a:latin typeface="맑은 고딕"/>
              </a:rPr>
              <a:t>예상 사이클타임 · 필요 인원 · 밸런스율 · 공정별 작업 순서</a:t>
            </a:r>
            <a:r>
              <a:rPr sz="1300" b="0">
                <a:solidFill>
                  <a:srgbClr val="111827"/>
                </a:solidFill>
                <a:latin typeface="맑은 고딕"/>
              </a:rPr>
              <a:t>가 나옵니다.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맑은 고딕"/>
              </a:rPr>
              <a:t>구성을 저장해 두면 다음에 다시 불러올 수 있고, 엑셀로도 뽑힙니다.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399"/>
            <a:ext cx="3931920" cy="2651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10127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맑은 고딕"/>
              </a:rPr>
              <a:t>부품 구성 (BOM) 입력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703319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1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맑은 고딕"/>
              </a:rPr>
              <a:t>부품 선택...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19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맑은 고딕"/>
              </a:rPr>
              <a:t>수량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160519"/>
            <a:ext cx="640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160519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4160519"/>
            <a:ext cx="91440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160519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+ 추가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663440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66344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맑은 고딕"/>
              </a:rPr>
              <a:t>A-1001(CAP-ELEC)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663440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×1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6634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맑은 고딕"/>
              </a:rPr>
              <a:t>4.2s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047488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047488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맑은 고딕"/>
              </a:rPr>
              <a:t>A-1002(CAP-ELEC)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0474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×2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047488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맑은 고딕"/>
              </a:rPr>
              <a:t>5.2s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431536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43153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맑은 고딕"/>
              </a:rPr>
              <a:t>A-1003(CAP-ELEC)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31536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×3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431536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맑은 고딕"/>
              </a:rPr>
              <a:t>6.2s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32003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6631" y="329183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예상 사이클타임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56631" y="3584447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맑은 고딕"/>
              </a:rPr>
              <a:t>22.4s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32003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2631" y="329183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필요 인원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3584447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맑은 고딕"/>
              </a:rPr>
              <a:t>5명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32003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28632" y="329183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맑은 고딕"/>
              </a:rPr>
              <a:t>밸런스율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8632" y="3584447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59E4E"/>
                </a:solidFill>
                <a:latin typeface="맑은 고딕"/>
              </a:rPr>
              <a:t>86%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4251959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맑은 고딕"/>
              </a:rPr>
              <a:t>예상 공정 편성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4617719"/>
            <a:ext cx="6675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617719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맑은 고딕"/>
              </a:rPr>
              <a:t>공정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663439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617719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A-1001 → A-1002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92040" y="5029199"/>
            <a:ext cx="6675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5029199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맑은 고딕"/>
              </a:rPr>
              <a:t>공정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5074919"/>
            <a:ext cx="2377440" cy="256032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029199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A-1002 → A-1003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5440679"/>
            <a:ext cx="6675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5440679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맑은 고딕"/>
              </a:rPr>
              <a:t>공정 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63640" y="5486399"/>
            <a:ext cx="2926080" cy="256032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440679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A-1003 → A-1004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126479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라인예측 화면 — 부품 구성을 넣으면 택트와 인원, 공정 편성이 나옵니다.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📈  14. 라인예측 — 신규 모델 미리 계산하기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14/17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⚠ 표준시간이 저장된 부품만 계산됩니다. 빠진 부품은 화면에 따로 표시되니, 그 부품은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작업분석으로 먼저 재서 저장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하세요.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💾  15. 저장하고 이어서 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작업 도중에 저장해 두면 나중에 그대로 이어서 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15/17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저장되는 곳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언제 쓰나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💾 분석 내용 저장 (세션)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이 컴퓨터 브라우저 안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같은 PC에서 이어서 할 때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↑ 파일 내보내기 (.wvas)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원하는 폴더의 파일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다른 PC로 옮기거나 백업할 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 ST 저장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부품관리 DB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부품별 표준시간을 쌓을 때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설정 &gt; 공유 저장소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네트워크 폴더 또는 사내 서버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같은 공장 안에서 함께 쌓을 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설정 &gt; 공유 저장소 &gt; 📊 구글 시트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구글 스프레드시트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떨어진 지역끼리 나눠 쌓을 때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(인터넷 필요)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145536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💡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여러 사람이 나눠서 측정할 때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는 설정에서 공유 폴더(또는 서버)를 등록해 두세요. 프로그램을 켤 때마다 자동으로 서로의 데이터를 합칩니다. 심양·비나처럼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멀리 떨어진 곳끼리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 나눌 때만 구글 시트를 쓰며, 구글이 막힌 곳에서는 프로그램이 알아서 건너뜁니다.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🩺  16. 문제가 생겼을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거의 모든 문제는 아래 네 가지 중 하나입니다.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16/17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증상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부품·표준시간이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싹 없어졌다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주소(포트)가 밀렸습니다. 데이터는 지워지지 않았습니다.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검은 창과 PIE 창을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전부 닫고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다시 실행하세요. 빨간 경고 띠의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[표준 주소로 열기]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를 눌러도 됩니다.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실행했는데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화면이 안 뜬다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브라우저 창이 뒤에 숨었습니다.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브라우저에서 </a:t>
                      </a:r>
                      <a:r>
                        <a:rPr sz="1100" b="1">
                          <a:solidFill>
                            <a:srgbClr val="2563EB"/>
                          </a:solidFill>
                          <a:latin typeface="맑은 고딕"/>
                        </a:rPr>
                        <a:t>http://127.0.0.1:8791/PIE.html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을 직접 열어 보세요.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자세(Pose) 비교가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안 된다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맑은 고딕"/>
                        </a:rPr>
                        <a:t>mediapipe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 폴더가 빠졌거나, 파일을 더블클릭해서 열었습니다.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반드시 </a:t>
                      </a:r>
                      <a:r>
                        <a:rPr sz="1100" b="1">
                          <a:solidFill>
                            <a:srgbClr val="2563EB"/>
                          </a:solidFill>
                          <a:latin typeface="맑은 고딕"/>
                        </a:rPr>
                        <a:t>PIE 실행.bat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로 실행하고, 폴더를 통째로 복사했는지 확인하세요.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영상이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안 열린다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브라우저가 지원하지 않는 코덱입니다.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MP4(H.264) 형식으로 변환해 보세요.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저장·불러오기 버튼이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안 보인다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Chrome/Edge가 아닙니다.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Chrome 또는 Edge로 여세요.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419856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11296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EE2E2"/>
                </a:solidFill>
                <a:latin typeface="맑은 고딕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29584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EE2E2"/>
                </a:solidFill>
                <a:latin typeface="맑은 고딕"/>
              </a:rPr>
              <a:t>평소와 다른 주소로 열렸습니다 — 저장된 부품·표준시간이 보이지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950208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FECACA"/>
                </a:solidFill>
                <a:latin typeface="맑은 고딕"/>
              </a:rPr>
              <a:t>브라우저는 데이터를 주소별로 따로 보관합니다. (데이터가 지워진 것은 아닙니다)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69417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3694176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표준 주소로 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54296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맑은 고딕"/>
              </a:rPr>
              <a:t>※ 이 띠가 보이면 버튼을 누르거나, 창을 모두 닫고 다시 실행하세요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48656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맑은 고딕"/>
              </a:rPr>
              <a:t>주소가 밀렸을 때 화면 맨 위에 뜨는 경고 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05856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05856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맑은 고딕"/>
              </a:rPr>
              <a:t>ℹ 그래도 안 되면 담당자에게 </a:t>
            </a:r>
            <a:r>
              <a:rPr sz="1250" b="1">
                <a:solidFill>
                  <a:srgbClr val="111827"/>
                </a:solidFill>
                <a:latin typeface="맑은 고딕"/>
              </a:rPr>
              <a:t>증상 + 화면 사진</a:t>
            </a:r>
            <a:r>
              <a:rPr sz="1250" b="0">
                <a:solidFill>
                  <a:srgbClr val="111827"/>
                </a:solidFill>
                <a:latin typeface="맑은 고딕"/>
              </a:rPr>
              <a:t>을 보내 주세요. lovekhl83@gmail.com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📖  17. 용어 사전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맑은 고딕"/>
              </a:rPr>
              <a:t>현장에서 자주 나오는 말만 모았습니다.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맑은 고딕"/>
              </a:rPr>
              <a:t>17/17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39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쉬운 설명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택트타임(T/T)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제품 하나를 몇 초마다 내야 하는지.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맑은 고딕"/>
                        </a:rPr>
                        <a:t>가동시간 ÷ 생산목표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사이클타임(CT)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실제로 하나를 내는 데 걸리는 시간. 가장 느린 사람이 결정합니다.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표준시간(ST)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누가 해도 이 정도 걸린다고 정한 시간. 측정시간 × 레이팅 × (1+여유율)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레이팅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찍힌 사람의 속도가 보통 대비 몇 %인가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여유율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피로·화장실 등으로 더해 주는 비율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정미작업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제품 가치를 만드는 꼭 필요한 작업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부수작업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당장 필요하지만 없애면 좋은 작업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낭비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없애야 할 작업 (대기·찾기·재작업)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밸런스율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작업이 얼마나 고르게 나뉘었는가. 높을수록 좋음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병목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가장 오래 걸려 라인 속도를 결정하는 지점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HBR(양손 균형도)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왼손과 오른손이 얼마나 고르게 일하는가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MI 공정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사람이 손으로 부품을 꽂는 공정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BOM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맑은 고딕"/>
                        </a:rPr>
                        <a:t>그 모델에 들어가는 부품 목록표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